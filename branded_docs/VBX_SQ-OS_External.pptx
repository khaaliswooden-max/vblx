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Buyer/partner-facing. Open on the mission-critical hook: no compliant PPAP, no purchase order.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pain, primary-sourced. Don't editorialize — the numbers do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consequences framed as if/then — the buyer feels both. Then the four failure surfaces.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Two-columns of 'half solutions' vs the navy 'whole job' card. The union is the wedge.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cards: two compliance (teal), two traceability spine (navy). Kept high-level — no mechanism detail (IP gate).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Rigor as the trust mechanism — this is what separates us from vendor claims. No mechanism detail exposed.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Forward-looking and confident, but no internal kill logic. The 2027 clock is the on-ramp.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three-beat tagline and a concrete, honest ask: design partners. No fabricated traction.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D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1417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ZUUP INNOVATION LAB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1153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compliance &amp; quality</a:t>
            </a:r>
            <a:endParaRPr lang="en-US" sz="4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system for</a:t>
            </a:r>
            <a:endParaRPr lang="en-US" sz="4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automotive's long tail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4343400"/>
            <a:ext cx="9265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every Tier 2–3 supplier proves quality — PPAP, FMEA, traceability — without the spreadsheets that get them rejected.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5486400"/>
            <a:ext cx="3108960" cy="548640"/>
          </a:xfrm>
          <a:prstGeom prst="roundRect">
            <a:avLst>
              <a:gd name="adj" fmla="val 50000"/>
            </a:avLst>
          </a:prstGeom>
          <a:solidFill>
            <a:srgbClr val="F7B801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54864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SQ-OS  ·  working name</a:t>
            </a:r>
            <a:endParaRPr lang="en-US" sz="1300" dirty="0"/>
          </a:p>
        </p:txBody>
      </p:sp>
      <p:pic>
        <p:nvPicPr>
          <p:cNvPr id="8" name="Picture 7" descr="visionblox-logo-knock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57200"/>
            <a:ext cx="2057400" cy="86648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8079" y="658368"/>
            <a:ext cx="40507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2EA891"/>
                </a:solidFill>
                <a:latin typeface="Arial"/>
              </a:rPr>
              <a:t>BUILD WHAT DOESN'T EXIST YET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suppliers are being squeezed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3423818" cy="2468880"/>
          </a:xfrm>
          <a:prstGeom prst="roundRect">
            <a:avLst>
              <a:gd name="adj" fmla="val 2963"/>
            </a:avLst>
          </a:prstGeom>
          <a:solidFill>
            <a:srgbClr val="232D5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2468880"/>
            <a:ext cx="29666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7B8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4.7%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68680" y="352044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supplier EBIT margin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406908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 from 5.3% a year earlier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83938" y="2057400"/>
            <a:ext cx="3423818" cy="2468880"/>
          </a:xfrm>
          <a:prstGeom prst="roundRect">
            <a:avLst>
              <a:gd name="adj" fmla="val 2963"/>
            </a:avLst>
          </a:prstGeom>
          <a:solidFill>
            <a:srgbClr val="232D5A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12538" y="2468880"/>
            <a:ext cx="29666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7B8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&gt;40%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4612538" y="352044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 25 largest suppliers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2538" y="406908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rated non-investment grade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27797" y="2057400"/>
            <a:ext cx="3423818" cy="2468880"/>
          </a:xfrm>
          <a:prstGeom prst="roundRect">
            <a:avLst>
              <a:gd name="adj" fmla="val 2963"/>
            </a:avLst>
          </a:prstGeom>
          <a:solidFill>
            <a:srgbClr val="232D5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56397" y="2468880"/>
            <a:ext cx="29666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7B8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2027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8356397" y="352044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battery passport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6397" y="406908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mandatory — a hard deadline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493776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Cash-starved and mandate-loaded at the same time. The suppliers who can't keep up don't get the next purchase order.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" y="60350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Roland Berger / Lazard, Global Automotive Supplier Study 2025; Regulation (EU) 2023/1542.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Rectangle 18"/>
          <p:cNvSpPr/>
          <p:nvPr/>
        </p:nvSpPr>
        <p:spPr>
          <a:xfrm>
            <a:off x="640080" y="6364224"/>
            <a:ext cx="10908792" cy="25603"/>
          </a:xfrm>
          <a:prstGeom prst="rect">
            <a:avLst/>
          </a:prstGeom>
          <a:solidFill>
            <a:srgbClr val="F7B8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visionblox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0"/>
            <a:ext cx="960120" cy="40436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DAILY REALITY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Mission-critical work, run on spreadsheets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compliant PPAP package  →  no purchase order.  </a:t>
            </a:r>
            <a:pPr indent="0" marL="0">
              <a:buNone/>
            </a:pPr>
            <a:r>
              <a:rPr lang="en-US" sz="18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part genealogy  →  a targeted recall becomes a total recall.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4688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Yet below the top tier, this is assembled by hand in spreadsheets — and decades of research show most operational spreadsheets carry at least one error, with humans poor at catching them.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3566160"/>
            <a:ext cx="2522144" cy="2011680"/>
          </a:xfrm>
          <a:prstGeom prst="roundRect">
            <a:avLst>
              <a:gd name="adj" fmla="val 3182"/>
            </a:avLst>
          </a:prstGeom>
          <a:solidFill>
            <a:srgbClr val="F0F0F0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41248" y="3767328"/>
            <a:ext cx="384048" cy="384048"/>
          </a:xfrm>
          <a:prstGeom prst="ellipse">
            <a:avLst/>
          </a:prstGeom>
          <a:solidFill>
            <a:srgbClr val="2EA891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224528"/>
            <a:ext cx="2156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PPAP &amp; FMEA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4736592"/>
            <a:ext cx="2156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18-element packages and 7-step FMEAs assembled and version-controlled by hand.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36544" y="3566160"/>
            <a:ext cx="2522144" cy="2011680"/>
          </a:xfrm>
          <a:prstGeom prst="roundRect">
            <a:avLst>
              <a:gd name="adj" fmla="val 3182"/>
            </a:avLst>
          </a:prstGeom>
          <a:solidFill>
            <a:srgbClr val="F0F0F0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637712" y="3767328"/>
            <a:ext cx="384048" cy="384048"/>
          </a:xfrm>
          <a:prstGeom prst="ellipse">
            <a:avLst/>
          </a:prstGeom>
          <a:solidFill>
            <a:srgbClr val="2EA891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619424" y="4224528"/>
            <a:ext cx="2156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Cross-document drift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19424" y="4736592"/>
            <a:ext cx="2156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numbers and revisions that silently disagree across the binder.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33008" y="3566160"/>
            <a:ext cx="2522144" cy="2011680"/>
          </a:xfrm>
          <a:prstGeom prst="roundRect">
            <a:avLst>
              <a:gd name="adj" fmla="val 3182"/>
            </a:avLst>
          </a:prstGeom>
          <a:solidFill>
            <a:srgbClr val="F0F0F0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434176" y="3767328"/>
            <a:ext cx="384048" cy="384048"/>
          </a:xfrm>
          <a:prstGeom prst="ellipse">
            <a:avLst/>
          </a:prstGeom>
          <a:solidFill>
            <a:srgbClr val="2EA89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415888" y="4224528"/>
            <a:ext cx="2156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 exposure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15888" y="4736592"/>
            <a:ext cx="2156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 lot goes bad, no fast way to isolate exactly which parts shipped.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029471" y="3566160"/>
            <a:ext cx="2522144" cy="2011680"/>
          </a:xfrm>
          <a:prstGeom prst="roundRect">
            <a:avLst>
              <a:gd name="adj" fmla="val 3182"/>
            </a:avLst>
          </a:prstGeom>
          <a:solidFill>
            <a:srgbClr val="F0F0F0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230639" y="3767328"/>
            <a:ext cx="384048" cy="384048"/>
          </a:xfrm>
          <a:prstGeom prst="ellipse">
            <a:avLst/>
          </a:prstGeom>
          <a:solidFill>
            <a:srgbClr val="2EA891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212351" y="4224528"/>
            <a:ext cx="2156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fragility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212351" y="4736592"/>
            <a:ext cx="2156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 that can be edited after the fact, with no tamper-evidence.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Rectangle 22"/>
          <p:cNvSpPr/>
          <p:nvPr/>
        </p:nvSpPr>
        <p:spPr>
          <a:xfrm>
            <a:off x="640080" y="6364224"/>
            <a:ext cx="10908792" cy="25603"/>
          </a:xfrm>
          <a:prstGeom prst="rect">
            <a:avLst/>
          </a:prstGeom>
          <a:solidFill>
            <a:srgbClr val="F7B8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visionblox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0"/>
            <a:ext cx="960120" cy="40436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tools solve half the problem — each a different half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246120" cy="2743200"/>
          </a:xfrm>
          <a:prstGeom prst="roundRect">
            <a:avLst>
              <a:gd name="adj" fmla="val 2667"/>
            </a:avLst>
          </a:prstGeom>
          <a:solidFill>
            <a:srgbClr val="F0F0F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21945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Spreadsheets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6060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B8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 but unguarded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Touch every document, but passively accept whatever is typed. No engine to catch what's wrong.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51960" y="1965960"/>
            <a:ext cx="3246120" cy="2743200"/>
          </a:xfrm>
          <a:prstGeom prst="roundRect">
            <a:avLst>
              <a:gd name="adj" fmla="val 2667"/>
            </a:avLst>
          </a:prstGeom>
          <a:solidFill>
            <a:srgbClr val="F0F0F0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80560" y="21945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solutions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480560" y="26060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but narrow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480560" y="306324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Nail one task — statistics, say — and leave everything else back in the spreadsheet.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680960" y="1965960"/>
            <a:ext cx="3870655" cy="3977640"/>
          </a:xfrm>
          <a:prstGeom prst="roundRect">
            <a:avLst>
              <a:gd name="adj" fmla="val 1890"/>
            </a:avLst>
          </a:prstGeom>
          <a:solidFill>
            <a:srgbClr val="232D5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909560" y="2194560"/>
            <a:ext cx="364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B8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job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909560" y="265176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 neither covers: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01000" y="3063240"/>
            <a:ext cx="33220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Cross-document integrity</a:t>
            </a:r>
            <a:endParaRPr lang="en-US" sz="135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Quality-plan coherence</a:t>
            </a:r>
            <a:endParaRPr lang="en-US" sz="135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 genealogy</a:t>
            </a:r>
            <a:endParaRPr lang="en-US" sz="135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Tamper-evident records</a:t>
            </a:r>
            <a:endParaRPr lang="en-US" sz="135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guardrails on bad data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5074920"/>
            <a:ext cx="649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Covering that union is an architecture-level job — not a feature either incumbent can bolt on. That is the opening SQ-OS is built for.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8" name="Rectangle 17"/>
          <p:cNvSpPr/>
          <p:nvPr/>
        </p:nvSpPr>
        <p:spPr>
          <a:xfrm>
            <a:off x="640080" y="6364224"/>
            <a:ext cx="10908792" cy="25603"/>
          </a:xfrm>
          <a:prstGeom prst="rect">
            <a:avLst/>
          </a:prstGeom>
          <a:solidFill>
            <a:srgbClr val="F7B8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visionblox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0"/>
            <a:ext cx="960120" cy="40436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OFFERING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system of record for the whole job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18608" cy="1783080"/>
          </a:xfrm>
          <a:prstGeom prst="roundRect">
            <a:avLst>
              <a:gd name="adj" fmla="val 4103"/>
            </a:avLst>
          </a:prstGeom>
          <a:solidFill>
            <a:srgbClr val="2EA891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21488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core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2651760"/>
            <a:ext cx="47699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AFB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PPAP, APQP, FMEA, control plans, SPC — assembled, cross-checked, and kept consistent, priced for single-digit-margin shops.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33008" y="1920240"/>
            <a:ext cx="5318608" cy="1783080"/>
          </a:xfrm>
          <a:prstGeom prst="roundRect">
            <a:avLst>
              <a:gd name="adj" fmla="val 4103"/>
            </a:avLst>
          </a:prstGeom>
          <a:solidFill>
            <a:srgbClr val="2EA891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07328" y="21488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guardrails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507328" y="2651760"/>
            <a:ext cx="47699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AFB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Catches the errors a spreadsheet waves through — stale revisions, mis-used risk scores, out-of-spec capability claims.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3886200"/>
            <a:ext cx="5318608" cy="1783080"/>
          </a:xfrm>
          <a:prstGeom prst="roundRect">
            <a:avLst>
              <a:gd name="adj" fmla="val 4103"/>
            </a:avLst>
          </a:prstGeom>
          <a:solidFill>
            <a:srgbClr val="232D5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14400" y="411480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7B8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Traceability spine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914400" y="4617720"/>
            <a:ext cx="47699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Part-level serialization and genealogy: turn a total recall into a targeted one, from raw lot to finished serial.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33008" y="3886200"/>
            <a:ext cx="5318608" cy="1783080"/>
          </a:xfrm>
          <a:prstGeom prst="roundRect">
            <a:avLst>
              <a:gd name="adj" fmla="val 4103"/>
            </a:avLst>
          </a:prstGeom>
          <a:solidFill>
            <a:srgbClr val="232D5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507328" y="411480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7B8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Battery passport ready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507328" y="4617720"/>
            <a:ext cx="47699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data spine produces the EU digital battery passport every EV supplier needs by February 2027.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7" name="Rectangle 16"/>
          <p:cNvSpPr/>
          <p:nvPr/>
        </p:nvSpPr>
        <p:spPr>
          <a:xfrm>
            <a:off x="640080" y="6364224"/>
            <a:ext cx="10908792" cy="25603"/>
          </a:xfrm>
          <a:prstGeom prst="rect">
            <a:avLst/>
          </a:prstGeom>
          <a:solidFill>
            <a:srgbClr val="F7B8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visionblox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0"/>
            <a:ext cx="960120" cy="40436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D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BELIEVE 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define the bar, then measure the gap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compliance software asks you to trust a claim. We built a testable benchmark of what “correct” means for automotive compliance — grounded in the AIAG / IATF standards and the EU battery regulation — before building the product.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971800"/>
            <a:ext cx="3454298" cy="2468880"/>
          </a:xfrm>
          <a:prstGeom prst="roundRect">
            <a:avLst>
              <a:gd name="adj" fmla="val 2963"/>
            </a:avLst>
          </a:prstGeom>
          <a:solidFill>
            <a:srgbClr val="1A2140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68680" y="3200400"/>
            <a:ext cx="411480" cy="411480"/>
          </a:xfrm>
          <a:prstGeom prst="ellipse">
            <a:avLst/>
          </a:prstGeom>
          <a:solidFill>
            <a:srgbClr val="2EA891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3703320"/>
            <a:ext cx="29970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Standards-grounded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4206240"/>
            <a:ext cx="29970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check traces to a published standard — PPAP, AIAG-VDA FMEA, IATF 16949, EU 2023/1542.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68698" y="2971800"/>
            <a:ext cx="3454298" cy="2468880"/>
          </a:xfrm>
          <a:prstGeom prst="roundRect">
            <a:avLst>
              <a:gd name="adj" fmla="val 2963"/>
            </a:avLst>
          </a:prstGeom>
          <a:solidFill>
            <a:srgbClr val="1A2140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597298" y="3200400"/>
            <a:ext cx="411480" cy="411480"/>
          </a:xfrm>
          <a:prstGeom prst="ellipse">
            <a:avLst/>
          </a:prstGeom>
          <a:solidFill>
            <a:srgbClr val="2EA891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597298" y="3703320"/>
            <a:ext cx="29970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Measured, not asserted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97298" y="4206240"/>
            <a:ext cx="29970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ran the incumbent workflows against that bar and quantified exactly where they fall short.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7317" y="2971800"/>
            <a:ext cx="3454298" cy="2468880"/>
          </a:xfrm>
          <a:prstGeom prst="roundRect">
            <a:avLst>
              <a:gd name="adj" fmla="val 2963"/>
            </a:avLst>
          </a:prstGeom>
          <a:solidFill>
            <a:srgbClr val="1A2140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325917" y="3200400"/>
            <a:ext cx="411480" cy="411480"/>
          </a:xfrm>
          <a:prstGeom prst="ellipse">
            <a:avLst/>
          </a:prstGeom>
          <a:solidFill>
            <a:srgbClr val="2EA891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325917" y="3703320"/>
            <a:ext cx="29970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by construction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25917" y="4206240"/>
            <a:ext cx="29970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a number can't be verified, we don't publish one. The rigor is the differentiator.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57150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companion IEEE whitepaper documents the benchmark and the measured incumbent gap.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9" name="Rectangle 18"/>
          <p:cNvSpPr/>
          <p:nvPr/>
        </p:nvSpPr>
        <p:spPr>
          <a:xfrm>
            <a:off x="640080" y="6364224"/>
            <a:ext cx="10908792" cy="25603"/>
          </a:xfrm>
          <a:prstGeom prst="rect">
            <a:avLst/>
          </a:prstGeom>
          <a:solidFill>
            <a:srgbClr val="F7B8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visionblox-logo-knock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0"/>
            <a:ext cx="960120" cy="40436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START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on the pain, then own the data spine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423818" cy="3200400"/>
          </a:xfrm>
          <a:prstGeom prst="roundRect">
            <a:avLst>
              <a:gd name="adj" fmla="val 2286"/>
            </a:avLst>
          </a:prstGeom>
          <a:solidFill>
            <a:srgbClr val="2EA891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233172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74320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compliance wedge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3657600"/>
            <a:ext cx="296661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AE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the PPAP / FMEA paperwork every supplier is forced to produce — the most painful, most universal artifact.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18178" y="338328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A9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383938" y="2103120"/>
            <a:ext cx="3423818" cy="3200400"/>
          </a:xfrm>
          <a:prstGeom prst="roundRect">
            <a:avLst>
              <a:gd name="adj" fmla="val 2286"/>
            </a:avLst>
          </a:prstGeom>
          <a:solidFill>
            <a:srgbClr val="232D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612538" y="233172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12538" y="274320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traceability spine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12538" y="3657600"/>
            <a:ext cx="296661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AE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we hold the quality record, add serialization and genealogy — and the battery passport, ahead of the 2027 deadline.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62037" y="338328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A9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8127797" y="2103120"/>
            <a:ext cx="3423818" cy="3200400"/>
          </a:xfrm>
          <a:prstGeom prst="roundRect">
            <a:avLst>
              <a:gd name="adj" fmla="val 2286"/>
            </a:avLst>
          </a:prstGeom>
          <a:solidFill>
            <a:srgbClr val="F7B801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356397" y="233172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356397" y="274320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20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of record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356397" y="3657600"/>
            <a:ext cx="296661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compliance backbone the whole supply base runs on — where every new mandate deepens the value.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56692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February 2027 battery-passport deadline is a fixed clock the whole industry is racing — and a natural on-ramp.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20" name="Rectangle 19"/>
          <p:cNvSpPr/>
          <p:nvPr/>
        </p:nvSpPr>
        <p:spPr>
          <a:xfrm>
            <a:off x="640080" y="6364224"/>
            <a:ext cx="10908792" cy="25603"/>
          </a:xfrm>
          <a:prstGeom prst="rect">
            <a:avLst/>
          </a:prstGeom>
          <a:solidFill>
            <a:srgbClr val="F7B8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visionblox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0"/>
            <a:ext cx="960120" cy="40436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32D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17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TALK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1091153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bar is defined.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 is measured.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clock is running.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977640"/>
            <a:ext cx="8991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We're selecting design partners — mid-tier suppliers with acute, mandated compliance pain — to prove the wedge together.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5212080"/>
            <a:ext cx="5120640" cy="777240"/>
          </a:xfrm>
          <a:prstGeom prst="roundRect">
            <a:avLst>
              <a:gd name="adj" fmla="val 11765"/>
            </a:avLst>
          </a:prstGeom>
          <a:solidFill>
            <a:srgbClr val="2EA891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521208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Khaalis Wooden, Sr.  ·  Visionblox / Zuup Innovation Lab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6126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khaalis.wooden@visionblox.com</a:t>
            </a:r>
            <a:endParaRPr lang="en-US" sz="1300" dirty="0"/>
          </a:p>
        </p:txBody>
      </p:sp>
      <p:pic>
        <p:nvPicPr>
          <p:cNvPr id="8" name="Picture 7" descr="visionblox-logo-knock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57200"/>
            <a:ext cx="2057400" cy="86648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8079" y="658368"/>
            <a:ext cx="40507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2EA891"/>
                </a:solidFill>
                <a:latin typeface="Arial"/>
              </a:rPr>
              <a:t>BUILD WHAT DOESN'T EXIST YET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Visionblox LLC / Zuup Innovation Lab</dc:creator>
  <cp:lastModifiedBy>Visionblox LLC / Zuup Innovation Lab</cp:lastModifiedBy>
  <cp:revision>1</cp:revision>
  <dcterms:created xsi:type="dcterms:W3CDTF">2026-07-14T07:23:26Z</dcterms:created>
  <dcterms:modified xsi:type="dcterms:W3CDTF">2026-07-14T07:23:26Z</dcterms:modified>
</cp:coreProperties>
</file>