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briefing. We keep calling Relian a "platform," and that word quietly imports the SaaS mental model — a website customers log into, that we host and operate. If we build to that model and sell to that model, we build the wrong thing and we leave the real advantage on the table.
The correct model is a SUBSTRATE. A substrate is a foundation layer that other things are built and verified on. Relian's value is not "we run a migration service for you." It is: we produce independent, portable PROOF that modernized code behaves identically to the original.
Three things I want you to leave with: (1) the one-sentence difference between SaaS and substrate; (2) why Relian is technically able to be a substrate (determinism + attestation); (3) how the $8K and $12K assessments are just thin slices of that substrate, sold as cheap diagnostics that two very different buyers — a school district and a Department of Labor — use to make a funding decision. Everything you build should serve those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idea, at three depths.
6th-grade version: SaaS is like a vending machine — you keep feeding it coins to get a snack, and you trust that the machine works. A substrate is like being handed the recipe AND a sealed receipt that proves the cake actually matches the recipe — a receipt anyone can check, even years later, without asking the baker.
Undergrad version: SaaS is a multi-tenant hosted application; you consume its output and your assurance is an SLA and the vendor's reputation. A substrate is a verification primitive: it emits an artifact whose correctness you can check yourself, independent of the vendor's uptime or honesty.
PhD version: the locus of value moves from the service boundary (availability, latency, tenancy) to the artifact — a non-repudiable equivalence attestation under a public-key signature scheme. Assurance becomes a property of the object, not of the relationship. That is why the substrate framing is not marketing: it changes what we build (an engine + evidence, not a hosted portal) and what the buyer can do with the output (audit it, keep it, outlive us with it).
Use the verbatim one-liner at the top with any buyer — it is the kickoff positioning.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engineering "why." Read it top to bottom as a chain of logic.
1) Determinism first. Because C1 is deterministic and rule-based, the same input always yields the same output. That is what makes attestation POSSIBLE — you cannot cryptographically vouch for the output of a stochastic process the way you can for a reproducible one. This is also our biggest compliance advantage: no customer source code enters any generative-AI query during transformation (Exhibit C generative-AI clause).
2) The benchmark is the ground truth the proof points at. RELIAN-BENCH was cryptographically committed BEFORE the transpiler existed (the ZCS-6 sequence). That ordering is what prevents "teaching to the test" / bench-maxing. BER 1.0000, build 1.00, branch coverage 0.8824 are MEASURED on the supported-construct scope — and only there. Unsupported COBOL fails honestly with a no-attestation result and the construct inventory attached. Never silently pass.
3) The ledger is the durable, portable proof. Ed25519 signatures (FIPS 186-5 EdDSA) plus a hash-chained record give non-repudiation and third-party verifiability. HONEST STATE: on-chain anchoring is not built yet. Exhibit D says "Solana"; today we have a local re-derivable ledger, which is actually stronger evidence than a bare chain write. Phase 3 anchors the ledger root hash to Solana and ships a public verifier — that upgrades the claim, it does not replace what exists.
Ladder: 6th grade — a calculator that always gives the same answer lets you prove you did the math right; determinism is that calculator. Undergrad — reproducibility is the precondition for a verifiable build (cf. reproducible builds: bit-for-bit identical output). PhD — we bind a Merkle-chained evidence record to an EdDSA signature, yielding a non-repudiable, infrastructure-independent equivalence attestation.
Rule for the build: a metric is measured or None — never a constant, never a default. Relian already failed its own thesis once with hardcoded constants; that is remediated and it never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operational payoff of the substrate model, and the reason regulated buyers pick us.
A SaaS migration tool wants your legacy source in its cloud to process it. For a state unemployment system or a school district's student records, that is a non-starter — FERPA, PII, CJIS, or HIPAA depending on the shop. Relian inverts it: the engine runs inside the customer's perimeter, the sensitive source stays put, and the only thing that crosses the boundary is the signed attestation artifact — the proof, the measured metrics, and the inventory of what was and wasn't transformed.
Two structural advantages fall out of this. (1) Data posture is solved by design — US-only, no offshore, no source to any generative model. (2) Durability: the proof is signed with public-key cryptography, so it remains independently verifiable even if we disappear. That durability is both the audit story and the renewal-defense story — every year we have to re-earn the contract, and "our evidence outlives us" is the argument.
Tie-in for the build team: this is why deployment is on-prem / customer-tenant first, and why the report/ledger is the deliverable, not a portal. The four-tier data classification (PUBLIC / INTERNAL / CONFIDENTIAL / REGULATED) works here because the regulated bytes never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assessments are the SAME substrate, sliced thin and sold as cheap, fast, standalone diagnostics. There is one engine; these are two report modes over it.
The $8K Legacy Code Assessment looks at the CODE: how much COBOL, which dialect constructs, what C1 can transform today, complexity, risk, and a scoped recommendation. Under a day of operator time, fully reproducible, one ledger entry.
The $12K Data Discovery looks at the DATA: it parses copybooks (PIC semantics, COMP/COMP-3, REDEFINES, OCCURS, 88-levels) into canonical record layouts, builds a field-level dictionary, inventories files from JCL, maps which programs read/write which files, and drafts a relational target schema. The schema recommendation is graded PLAUSIBLE — it is a recommendation, not a measurement.
Why this matters commercially: the report is the input to the Tier Two migration quote. LOC inventory + construct coverage + complexity =&gt; scope and price. We do not guess the migration; the assessment measures it.
HONEST PROCUREMENT FLAG — please confirm with Grace Waring. The contract's selection bands are: ≤ $10,000 = direct select (agency simply picks us, no competition); $10,001–$100,000 = agency solicits at least three qualified contractors. The $8K sits cleanly in the direct-select lane. The $12K is $2K OVER that line, so strictly it falls in the three-quote band even though our internal notes have called it a "direct-select" companion. Two clean options: (a) confirm whether a schedule-listed fixed-price deliverable can be direct-purchased off the price list above $10K, or (b) treat the $12K as a light three-quote item, or (c) consider pricing/packaging so the entry engagement lands ≤ $10K. Do not tell a buyer the $12K is "no competition" until the CO confirms the mechanism.
Build rule that protects all of this: measured or None. A fabricated number in an assessment report is exactly the failure mode we already remediated, and Exhibit A §3.1 gives the State auditor access to the records that would expose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for the build team: one assessment engine serves radically different buyers. Do not fork the build per buyer class — the differences are go-to-market, not architecture.
School district: the assessment converts an un-fundable "we should deal with the mainframe someday" into a board-ready, costed decision. It is cheap enough to buy on a card / direct-select, and the signed proof-of-concept answers the board's "can this even be done safely?" question. Data Discovery adds the FERPA/PII map so the data side is de-risked too.
Department of Labor (federal or a state DOL): same engine, scoped to a benefits-adjudication module. The differentiator here is the attestation — an IG or GAO auditor can independently verify the equivalence claim. The assessment is the wedge that opens a franchise relationship: the evidence package justifies the larger, attested migration under the same 10-year vehicle.
Grade discipline: the ENGINE capability is MEASURED on supported scope. The BUYER-ADOPTION behavior — that districts and DOLs will actually buy the assessment and expand — is PLAUSIBLE, a go-to-market hypothesis, not a measurement. Say it that way internally. GAO-19-471 is real supporting context for the DOL-type market: 10 critical federal legacy systems, 8–51 years old, ~$337M/yr to operate, several using COBOL.
Land-and-expand in one line: a cheap, honest assessment goes in; an attested migration under a decade-long franchise comes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to seed the discussion:
Q: Isn't the ledger just a blockchain? A: No. It is a hash-chained, Ed25519-signed evidence record that anyone can re-derive from the published data. That is stronger than a bare chain write. On-chain anchoring to Solana (Phase 3) is a cheap ADD that upgrades the claim; it is not the substance.
Q: If the transform is rule-based, where is the AI? A: The transform core is deterministic by design — that is a contractual advantage under the Exhibit C generative-AI clause. Any optional analysis can use a LOCAL open-weight model (Mistral-7B, Apache 2.0), disclosed and off by default. No customer source code ever goes to a generative model.
Q: What happens on COBOL we don't support? A: Honest failure — an explicit no-attestation result with the construct inventory attached. Unsupported constructs become scoped change-order items in the migration SOW, never surprises and never silent passes.
Q: Can we sell the $12K as no-competition? A: The $8K yes (≤ $10K direct-select). The $12K is just over the line — confirm the mechanism with the contracting officer before telling any buyer it is no-competition.
Q: Why would a buyer pay $8K for a report? A: Because it converts an un-fundable "someday" into a board-ready, costed, evidence-backed decision — and because the signed proof is something no migration vendor can produce about its own work. It also writes the follow-on migration SOW, so it pays for itself in the next order.
Close by assigning the three build decisions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 7th edition. All six scholarly / government sources were verified against their publishers (Springer JCEN, IEEE, NIST, GAO). The Montana contract is cited as gray literature (a government contract in Visionblox’s possession). Hanging-indent formatting is applied in the source document; PowerPoint text boxes render these left-aligned.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3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E1730"/>
          </a:solidFill>
          <a:ln/>
        </p:spPr>
      </p:sp>
      <p:sp>
        <p:nvSpPr>
          <p:cNvPr id="3" name="Shape 1"/>
          <p:cNvSpPr/>
          <p:nvPr/>
        </p:nvSpPr>
        <p:spPr>
          <a:xfrm>
            <a:off x="548640" y="1371600"/>
            <a:ext cx="1051560" cy="1051560"/>
          </a:xfrm>
          <a:prstGeom prst="ellipse">
            <a:avLst/>
          </a:prstGeom>
          <a:solidFill>
            <a:srgbClr val="0F8B8D"/>
          </a:solidFill>
          <a:ln/>
        </p:spPr>
      </p:sp>
      <p:pic>
        <p:nvPicPr>
          <p:cNvPr id="4" name="Image 0" descr="preencoded.png">    </p:cNvPr>
          <p:cNvPicPr>
            <a:picLocks noChangeAspect="1"/>
          </p:cNvPicPr>
          <p:nvPr/>
        </p:nvPicPr>
        <p:blipFill>
          <a:blip r:embed="rId1"/>
          <a:stretch>
            <a:fillRect/>
          </a:stretch>
        </p:blipFill>
        <p:spPr>
          <a:xfrm>
            <a:off x="822046" y="1645006"/>
            <a:ext cx="504749" cy="504749"/>
          </a:xfrm>
          <a:prstGeom prst="rect">
            <a:avLst/>
          </a:prstGeom>
        </p:spPr>
      </p:pic>
      <p:sp>
        <p:nvSpPr>
          <p:cNvPr id="5" name="Text 2"/>
          <p:cNvSpPr/>
          <p:nvPr/>
        </p:nvSpPr>
        <p:spPr>
          <a:xfrm>
            <a:off x="548640" y="2606040"/>
            <a:ext cx="11091672" cy="1005840"/>
          </a:xfrm>
          <a:prstGeom prst="rect">
            <a:avLst/>
          </a:prstGeom>
          <a:noFill/>
          <a:ln/>
        </p:spPr>
        <p:txBody>
          <a:bodyPr wrap="square"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Relian Is a Substrate — Not a SaaS</a:t>
            </a:r>
            <a:endParaRPr lang="en-US" sz="4000" dirty="0"/>
          </a:p>
        </p:txBody>
      </p:sp>
      <p:sp>
        <p:nvSpPr>
          <p:cNvPr id="6" name="Text 3"/>
          <p:cNvSpPr/>
          <p:nvPr/>
        </p:nvSpPr>
        <p:spPr>
          <a:xfrm>
            <a:off x="548640" y="3611880"/>
            <a:ext cx="11091672" cy="548640"/>
          </a:xfrm>
          <a:prstGeom prst="rect">
            <a:avLst/>
          </a:prstGeom>
          <a:noFill/>
          <a:ln/>
        </p:spPr>
        <p:txBody>
          <a:bodyPr wrap="square" rtlCol="0" anchor="ctr"/>
          <a:lstStyle/>
          <a:p>
            <a:pPr algn="l" indent="0" marL="0">
              <a:buNone/>
            </a:pPr>
            <a:r>
              <a:rPr lang="en-US" sz="1800" i="1" dirty="0">
                <a:solidFill>
                  <a:srgbClr val="D7E0F4"/>
                </a:solidFill>
                <a:latin typeface="Calibri" pitchFamily="34" charset="0"/>
                <a:ea typeface="Calibri" pitchFamily="34" charset="-122"/>
                <a:cs typeface="Calibri" pitchFamily="34" charset="-120"/>
              </a:rPr>
              <a:t>How Relian creates value — and how the $8K &amp; $12K assessments open the door</a:t>
            </a:r>
            <a:endParaRPr lang="en-US" sz="1800" dirty="0"/>
          </a:p>
        </p:txBody>
      </p:sp>
      <p:sp>
        <p:nvSpPr>
          <p:cNvPr id="7" name="Shape 4"/>
          <p:cNvSpPr/>
          <p:nvPr/>
        </p:nvSpPr>
        <p:spPr>
          <a:xfrm>
            <a:off x="548640" y="4434840"/>
            <a:ext cx="1737360" cy="457200"/>
          </a:xfrm>
          <a:prstGeom prst="roundRect">
            <a:avLst>
              <a:gd name="adj" fmla="val 50000"/>
            </a:avLst>
          </a:prstGeom>
          <a:solidFill>
            <a:srgbClr val="17264A"/>
          </a:solidFill>
          <a:ln w="15875">
            <a:solidFill>
              <a:srgbClr val="2FBF71"/>
            </a:solidFill>
            <a:prstDash val="solid"/>
          </a:ln>
        </p:spPr>
      </p:sp>
      <p:sp>
        <p:nvSpPr>
          <p:cNvPr id="8" name="Text 5"/>
          <p:cNvSpPr/>
          <p:nvPr/>
        </p:nvSpPr>
        <p:spPr>
          <a:xfrm>
            <a:off x="548640" y="4434840"/>
            <a:ext cx="1737360" cy="457200"/>
          </a:xfrm>
          <a:prstGeom prst="rect">
            <a:avLst/>
          </a:prstGeom>
          <a:noFill/>
          <a:ln/>
        </p:spPr>
        <p:txBody>
          <a:bodyPr wrap="square" lIns="0" tIns="0" rIns="0" bIns="0" rtlCol="0" anchor="ctr"/>
          <a:lstStyle/>
          <a:p>
            <a:pPr algn="ctr" indent="0" marL="0">
              <a:buNone/>
            </a:pPr>
            <a:r>
              <a:rPr lang="en-US" sz="1300" b="1" dirty="0">
                <a:solidFill>
                  <a:srgbClr val="2FBF71"/>
                </a:solidFill>
                <a:latin typeface="Calibri" pitchFamily="34" charset="0"/>
                <a:ea typeface="Calibri" pitchFamily="34" charset="-122"/>
                <a:cs typeface="Calibri" pitchFamily="34" charset="-120"/>
              </a:rPr>
              <a:t>Deterministic</a:t>
            </a:r>
            <a:endParaRPr lang="en-US" sz="1300" dirty="0"/>
          </a:p>
        </p:txBody>
      </p:sp>
      <p:sp>
        <p:nvSpPr>
          <p:cNvPr id="9" name="Shape 6"/>
          <p:cNvSpPr/>
          <p:nvPr/>
        </p:nvSpPr>
        <p:spPr>
          <a:xfrm>
            <a:off x="2468880" y="4434840"/>
            <a:ext cx="1737360" cy="457200"/>
          </a:xfrm>
          <a:prstGeom prst="roundRect">
            <a:avLst>
              <a:gd name="adj" fmla="val 50000"/>
            </a:avLst>
          </a:prstGeom>
          <a:solidFill>
            <a:srgbClr val="17264A"/>
          </a:solidFill>
          <a:ln w="15875">
            <a:solidFill>
              <a:srgbClr val="0F8B8D"/>
            </a:solidFill>
            <a:prstDash val="solid"/>
          </a:ln>
        </p:spPr>
      </p:sp>
      <p:sp>
        <p:nvSpPr>
          <p:cNvPr id="10" name="Text 7"/>
          <p:cNvSpPr/>
          <p:nvPr/>
        </p:nvSpPr>
        <p:spPr>
          <a:xfrm>
            <a:off x="2468880" y="4434840"/>
            <a:ext cx="1737360" cy="457200"/>
          </a:xfrm>
          <a:prstGeom prst="rect">
            <a:avLst/>
          </a:prstGeom>
          <a:noFill/>
          <a:ln/>
        </p:spPr>
        <p:txBody>
          <a:bodyPr wrap="square" lIns="0" tIns="0" rIns="0" bIns="0" rtlCol="0" anchor="ctr"/>
          <a:lstStyle/>
          <a:p>
            <a:pPr algn="ctr" indent="0" marL="0">
              <a:buNone/>
            </a:pPr>
            <a:r>
              <a:rPr lang="en-US" sz="1300" b="1" dirty="0">
                <a:solidFill>
                  <a:srgbClr val="0F8B8D"/>
                </a:solidFill>
                <a:latin typeface="Calibri" pitchFamily="34" charset="0"/>
                <a:ea typeface="Calibri" pitchFamily="34" charset="-122"/>
                <a:cs typeface="Calibri" pitchFamily="34" charset="-120"/>
              </a:rPr>
              <a:t>Attested</a:t>
            </a:r>
            <a:endParaRPr lang="en-US" sz="1300" dirty="0"/>
          </a:p>
        </p:txBody>
      </p:sp>
      <p:sp>
        <p:nvSpPr>
          <p:cNvPr id="11" name="Shape 8"/>
          <p:cNvSpPr/>
          <p:nvPr/>
        </p:nvSpPr>
        <p:spPr>
          <a:xfrm>
            <a:off x="4389120" y="4434840"/>
            <a:ext cx="1737360" cy="457200"/>
          </a:xfrm>
          <a:prstGeom prst="roundRect">
            <a:avLst>
              <a:gd name="adj" fmla="val 50000"/>
            </a:avLst>
          </a:prstGeom>
          <a:solidFill>
            <a:srgbClr val="17264A"/>
          </a:solidFill>
          <a:ln w="15875">
            <a:solidFill>
              <a:srgbClr val="E0912F"/>
            </a:solidFill>
            <a:prstDash val="solid"/>
          </a:ln>
        </p:spPr>
      </p:sp>
      <p:sp>
        <p:nvSpPr>
          <p:cNvPr id="12" name="Text 9"/>
          <p:cNvSpPr/>
          <p:nvPr/>
        </p:nvSpPr>
        <p:spPr>
          <a:xfrm>
            <a:off x="4389120" y="4434840"/>
            <a:ext cx="1737360" cy="457200"/>
          </a:xfrm>
          <a:prstGeom prst="rect">
            <a:avLst/>
          </a:prstGeom>
          <a:noFill/>
          <a:ln/>
        </p:spPr>
        <p:txBody>
          <a:bodyPr wrap="square" lIns="0" tIns="0" rIns="0" bIns="0" rtlCol="0" anchor="ctr"/>
          <a:lstStyle/>
          <a:p>
            <a:pPr algn="ctr" indent="0" marL="0">
              <a:buNone/>
            </a:pPr>
            <a:r>
              <a:rPr lang="en-US" sz="1300" b="1" dirty="0">
                <a:solidFill>
                  <a:srgbClr val="E0912F"/>
                </a:solidFill>
                <a:latin typeface="Calibri" pitchFamily="34" charset="0"/>
                <a:ea typeface="Calibri" pitchFamily="34" charset="-122"/>
                <a:cs typeface="Calibri" pitchFamily="34" charset="-120"/>
              </a:rPr>
              <a:t>On-prem</a:t>
            </a:r>
            <a:endParaRPr lang="en-US" sz="1300" dirty="0"/>
          </a:p>
        </p:txBody>
      </p:sp>
      <p:sp>
        <p:nvSpPr>
          <p:cNvPr id="13" name="Text 10"/>
          <p:cNvSpPr/>
          <p:nvPr/>
        </p:nvSpPr>
        <p:spPr>
          <a:xfrm>
            <a:off x="548640" y="6172200"/>
            <a:ext cx="11091672" cy="365760"/>
          </a:xfrm>
          <a:prstGeom prst="rect">
            <a:avLst/>
          </a:prstGeom>
          <a:noFill/>
          <a:ln/>
        </p:spPr>
        <p:txBody>
          <a:bodyPr wrap="square" rtlCol="0" anchor="ctr"/>
          <a:lstStyle/>
          <a:p>
            <a:pPr algn="l" indent="0" marL="0">
              <a:buNone/>
            </a:pPr>
            <a:r>
              <a:rPr lang="en-US" sz="1050" dirty="0">
                <a:solidFill>
                  <a:srgbClr val="8FA0C4"/>
                </a:solidFill>
                <a:latin typeface="Calibri" pitchFamily="34" charset="0"/>
                <a:ea typeface="Calibri" pitchFamily="34" charset="-122"/>
                <a:cs typeface="Calibri" pitchFamily="34" charset="-120"/>
              </a:rPr>
              <a:t>Internal technical briefing  ·  Prepared for Akil &amp; AJ  ·  A. K. Wooden, Sr.  ·  Visionblox LLC / Relian™  ·  Montana MAPS  SPB26-0608GW-VSNBLX</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82296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The One Difference: Trust vs. Proof</a:t>
            </a:r>
            <a:endParaRPr lang="en-US" sz="3000" dirty="0"/>
          </a:p>
        </p:txBody>
      </p:sp>
      <p:sp>
        <p:nvSpPr>
          <p:cNvPr id="3" name="Shape 1"/>
          <p:cNvSpPr/>
          <p:nvPr/>
        </p:nvSpPr>
        <p:spPr>
          <a:xfrm>
            <a:off x="548640" y="1234440"/>
            <a:ext cx="11091672" cy="868680"/>
          </a:xfrm>
          <a:prstGeom prst="roundRect">
            <a:avLst>
              <a:gd name="adj" fmla="val 6316"/>
            </a:avLst>
          </a:prstGeom>
          <a:solidFill>
            <a:srgbClr val="F3F6FC"/>
          </a:solidFill>
          <a:ln/>
          <a:effectLst>
            <a:outerShdw sx="100000" sy="100000" kx="0" ky="0" algn="bl" rotWithShape="0" blurRad="88900" dist="38100" dir="5400000">
              <a:srgbClr val="9AA6BE">
                <a:alpha val="28000"/>
              </a:srgbClr>
            </a:outerShdw>
          </a:effectLst>
        </p:spPr>
      </p:sp>
      <p:sp>
        <p:nvSpPr>
          <p:cNvPr id="4" name="Shape 2"/>
          <p:cNvSpPr/>
          <p:nvPr/>
        </p:nvSpPr>
        <p:spPr>
          <a:xfrm>
            <a:off x="749808" y="1417320"/>
            <a:ext cx="502920" cy="502920"/>
          </a:xfrm>
          <a:prstGeom prst="ellipse">
            <a:avLst/>
          </a:prstGeom>
          <a:solidFill>
            <a:srgbClr val="0F8B8D"/>
          </a:solidFill>
          <a:ln/>
        </p:spPr>
      </p:sp>
      <p:pic>
        <p:nvPicPr>
          <p:cNvPr id="5" name="Image 0" descr="preencoded.png">    </p:cNvPr>
          <p:cNvPicPr>
            <a:picLocks noChangeAspect="1"/>
          </p:cNvPicPr>
          <p:nvPr/>
        </p:nvPicPr>
        <p:blipFill>
          <a:blip r:embed="rId1"/>
          <a:stretch>
            <a:fillRect/>
          </a:stretch>
        </p:blipFill>
        <p:spPr>
          <a:xfrm>
            <a:off x="880567" y="1548079"/>
            <a:ext cx="241402" cy="241402"/>
          </a:xfrm>
          <a:prstGeom prst="rect">
            <a:avLst/>
          </a:prstGeom>
        </p:spPr>
      </p:pic>
      <p:sp>
        <p:nvSpPr>
          <p:cNvPr id="6" name="Text 3"/>
          <p:cNvSpPr/>
          <p:nvPr/>
        </p:nvSpPr>
        <p:spPr>
          <a:xfrm>
            <a:off x="1463040" y="1234440"/>
            <a:ext cx="9948672" cy="868680"/>
          </a:xfrm>
          <a:prstGeom prst="rect">
            <a:avLst/>
          </a:prstGeom>
          <a:noFill/>
          <a:ln/>
        </p:spPr>
        <p:txBody>
          <a:bodyPr wrap="square" rtlCol="0" anchor="ctr"/>
          <a:lstStyle/>
          <a:p>
            <a:pPr indent="0" marL="0">
              <a:buNone/>
            </a:pPr>
            <a:r>
              <a:rPr lang="en-US" sz="1500" i="1" dirty="0">
                <a:solidFill>
                  <a:srgbClr val="1F2A44"/>
                </a:solidFill>
                <a:latin typeface="Calibri" pitchFamily="34" charset="0"/>
                <a:ea typeface="Calibri" pitchFamily="34" charset="-122"/>
                <a:cs typeface="Calibri" pitchFamily="34" charset="-120"/>
              </a:rPr>
              <a:t>"Relian does one thing no migration vendor can do for themselves: </a:t>
            </a:r>
            <a:pPr indent="0" marL="0">
              <a:buNone/>
            </a:pPr>
            <a:r>
              <a:rPr lang="en-US" sz="1500" b="1" i="1" dirty="0">
                <a:solidFill>
                  <a:srgbClr val="1F2A44"/>
                </a:solidFill>
                <a:latin typeface="Calibri" pitchFamily="34" charset="0"/>
                <a:ea typeface="Calibri" pitchFamily="34" charset="-122"/>
                <a:cs typeface="Calibri" pitchFamily="34" charset="-120"/>
              </a:rPr>
              <a:t>independently prove that modernized code behaves identically to the original."</a:t>
            </a:r>
            <a:endParaRPr lang="en-US" sz="1500" dirty="0"/>
          </a:p>
        </p:txBody>
      </p:sp>
      <p:sp>
        <p:nvSpPr>
          <p:cNvPr id="7" name="Shape 4"/>
          <p:cNvSpPr/>
          <p:nvPr/>
        </p:nvSpPr>
        <p:spPr>
          <a:xfrm>
            <a:off x="548640" y="2377440"/>
            <a:ext cx="5317236" cy="3566160"/>
          </a:xfrm>
          <a:prstGeom prst="roundRect">
            <a:avLst>
              <a:gd name="adj" fmla="val 2051"/>
            </a:avLst>
          </a:prstGeom>
          <a:solidFill>
            <a:srgbClr val="FFFFFF"/>
          </a:solidFill>
          <a:ln w="12700">
            <a:solidFill>
              <a:srgbClr val="D9E0EC"/>
            </a:solidFill>
            <a:prstDash val="solid"/>
          </a:ln>
          <a:effectLst>
            <a:outerShdw sx="100000" sy="100000" kx="0" ky="0" algn="bl" rotWithShape="0" blurRad="88900" dist="38100" dir="5400000">
              <a:srgbClr val="9AA6BE">
                <a:alpha val="28000"/>
              </a:srgbClr>
            </a:outerShdw>
          </a:effectLst>
        </p:spPr>
      </p:sp>
      <p:sp>
        <p:nvSpPr>
          <p:cNvPr id="8" name="Shape 5"/>
          <p:cNvSpPr/>
          <p:nvPr/>
        </p:nvSpPr>
        <p:spPr>
          <a:xfrm>
            <a:off x="822960" y="2651760"/>
            <a:ext cx="640080" cy="640080"/>
          </a:xfrm>
          <a:prstGeom prst="ellipse">
            <a:avLst/>
          </a:prstGeom>
          <a:solidFill>
            <a:srgbClr val="5B6B85"/>
          </a:solidFill>
          <a:ln/>
        </p:spPr>
      </p:sp>
      <p:pic>
        <p:nvPicPr>
          <p:cNvPr id="9" name="Image 1" descr="preencoded.png">    </p:cNvPr>
          <p:cNvPicPr>
            <a:picLocks noChangeAspect="1"/>
          </p:cNvPicPr>
          <p:nvPr/>
        </p:nvPicPr>
        <p:blipFill>
          <a:blip r:embed="rId2"/>
          <a:stretch>
            <a:fillRect/>
          </a:stretch>
        </p:blipFill>
        <p:spPr>
          <a:xfrm>
            <a:off x="989381" y="2818181"/>
            <a:ext cx="307238" cy="307238"/>
          </a:xfrm>
          <a:prstGeom prst="rect">
            <a:avLst/>
          </a:prstGeom>
        </p:spPr>
      </p:pic>
      <p:sp>
        <p:nvSpPr>
          <p:cNvPr id="10" name="Text 6"/>
          <p:cNvSpPr/>
          <p:nvPr/>
        </p:nvSpPr>
        <p:spPr>
          <a:xfrm>
            <a:off x="1600200" y="2651760"/>
            <a:ext cx="4128516" cy="365760"/>
          </a:xfrm>
          <a:prstGeom prst="rect">
            <a:avLst/>
          </a:prstGeom>
          <a:noFill/>
          <a:ln/>
        </p:spPr>
        <p:txBody>
          <a:bodyPr wrap="square" rtlCol="0" anchor="ctr"/>
          <a:lstStyle/>
          <a:p>
            <a:pPr indent="0" marL="0">
              <a:buNone/>
            </a:pPr>
            <a:r>
              <a:rPr lang="en-US" sz="2000" b="1" dirty="0">
                <a:solidFill>
                  <a:srgbClr val="5B6B85"/>
                </a:solidFill>
                <a:latin typeface="Cambria" pitchFamily="34" charset="0"/>
                <a:ea typeface="Cambria" pitchFamily="34" charset="-122"/>
                <a:cs typeface="Cambria" pitchFamily="34" charset="-120"/>
              </a:rPr>
              <a:t>SaaS</a:t>
            </a:r>
            <a:endParaRPr lang="en-US" sz="2000" dirty="0"/>
          </a:p>
        </p:txBody>
      </p:sp>
      <p:sp>
        <p:nvSpPr>
          <p:cNvPr id="11" name="Text 7"/>
          <p:cNvSpPr/>
          <p:nvPr/>
        </p:nvSpPr>
        <p:spPr>
          <a:xfrm>
            <a:off x="1600200" y="2999232"/>
            <a:ext cx="4128516" cy="274320"/>
          </a:xfrm>
          <a:prstGeom prst="rect">
            <a:avLst/>
          </a:prstGeom>
          <a:noFill/>
          <a:ln/>
        </p:spPr>
        <p:txBody>
          <a:bodyPr wrap="square" rtlCol="0" anchor="ctr"/>
          <a:lstStyle/>
          <a:p>
            <a:pPr indent="0" marL="0">
              <a:buNone/>
            </a:pPr>
            <a:r>
              <a:rPr lang="en-US" sz="1200" i="1" dirty="0">
                <a:solidFill>
                  <a:srgbClr val="5B6B85"/>
                </a:solidFill>
                <a:latin typeface="Calibri" pitchFamily="34" charset="0"/>
                <a:ea typeface="Calibri" pitchFamily="34" charset="-122"/>
                <a:cs typeface="Calibri" pitchFamily="34" charset="-120"/>
              </a:rPr>
              <a:t>Rent a running service</a:t>
            </a:r>
            <a:endParaRPr lang="en-US" sz="1200" dirty="0"/>
          </a:p>
        </p:txBody>
      </p:sp>
      <p:sp>
        <p:nvSpPr>
          <p:cNvPr id="12" name="Text 8"/>
          <p:cNvSpPr/>
          <p:nvPr/>
        </p:nvSpPr>
        <p:spPr>
          <a:xfrm>
            <a:off x="868680" y="3474720"/>
            <a:ext cx="4677156" cy="2240280"/>
          </a:xfrm>
          <a:prstGeom prst="rect">
            <a:avLst/>
          </a:prstGeom>
          <a:noFill/>
          <a:ln/>
        </p:spPr>
        <p:txBody>
          <a:bodyPr wrap="square" rtlCol="0" anchor="t"/>
          <a:lstStyle/>
          <a:p>
            <a:pPr marL="342900" indent="-342900">
              <a:spcAft>
                <a:spcPts val="1000"/>
              </a:spcAft>
              <a:buSzPct val="100000"/>
              <a:buChar char="•"/>
            </a:pPr>
            <a:r>
              <a:rPr lang="en-US" sz="1350" dirty="0">
                <a:solidFill>
                  <a:srgbClr val="1F2A44"/>
                </a:solidFill>
                <a:latin typeface="Calibri" pitchFamily="34" charset="0"/>
                <a:ea typeface="Calibri" pitchFamily="34" charset="-122"/>
                <a:cs typeface="Calibri" pitchFamily="34" charset="-120"/>
              </a:rPr>
              <a:t>You log into the vendor's hosted app</a:t>
            </a:r>
            <a:endParaRPr lang="en-US" sz="1350" dirty="0"/>
          </a:p>
          <a:p>
            <a:pPr marL="342900" indent="-342900">
              <a:spcAft>
                <a:spcPts val="1000"/>
              </a:spcAft>
              <a:buSzPct val="100000"/>
              <a:buChar char="•"/>
            </a:pPr>
            <a:r>
              <a:rPr lang="en-US" sz="1350" dirty="0">
                <a:solidFill>
                  <a:srgbClr val="1F2A44"/>
                </a:solidFill>
                <a:latin typeface="Calibri" pitchFamily="34" charset="0"/>
                <a:ea typeface="Calibri" pitchFamily="34" charset="-122"/>
                <a:cs typeface="Calibri" pitchFamily="34" charset="-120"/>
              </a:rPr>
              <a:t>The vendor operates it and holds the keys</a:t>
            </a:r>
            <a:endParaRPr lang="en-US" sz="1350" dirty="0"/>
          </a:p>
          <a:p>
            <a:pPr marL="342900" indent="-342900">
              <a:spcAft>
                <a:spcPts val="1000"/>
              </a:spcAft>
              <a:buSzPct val="100000"/>
              <a:buChar char="•"/>
            </a:pPr>
            <a:r>
              <a:rPr lang="en-US" sz="1350" dirty="0">
                <a:solidFill>
                  <a:srgbClr val="1F2A44"/>
                </a:solidFill>
                <a:latin typeface="Calibri" pitchFamily="34" charset="0"/>
                <a:ea typeface="Calibri" pitchFamily="34" charset="-122"/>
                <a:cs typeface="Calibri" pitchFamily="34" charset="-120"/>
              </a:rPr>
              <a:t>Your data flows through their cloud</a:t>
            </a:r>
            <a:endParaRPr lang="en-US" sz="1350" dirty="0"/>
          </a:p>
          <a:p>
            <a:pPr marL="342900" indent="-342900">
              <a:spcAft>
                <a:spcPts val="1000"/>
              </a:spcAft>
              <a:buSzPct val="100000"/>
              <a:buChar char="•"/>
            </a:pPr>
            <a:r>
              <a:rPr lang="en-US" sz="1350" dirty="0">
                <a:solidFill>
                  <a:srgbClr val="1F2A44"/>
                </a:solidFill>
                <a:latin typeface="Calibri" pitchFamily="34" charset="0"/>
                <a:ea typeface="Calibri" pitchFamily="34" charset="-122"/>
                <a:cs typeface="Calibri" pitchFamily="34" charset="-120"/>
              </a:rPr>
              <a:t>The value is ongoing access to the service</a:t>
            </a:r>
            <a:endParaRPr lang="en-US" sz="1350" dirty="0"/>
          </a:p>
          <a:p>
            <a:pPr marL="342900" indent="-342900">
              <a:spcAft>
                <a:spcPts val="1000"/>
              </a:spcAft>
              <a:buSzPct val="100000"/>
              <a:buChar char="•"/>
            </a:pPr>
            <a:r>
              <a:rPr lang="en-US" sz="1350" dirty="0">
                <a:solidFill>
                  <a:srgbClr val="1F2A44"/>
                </a:solidFill>
                <a:latin typeface="Calibri" pitchFamily="34" charset="0"/>
                <a:ea typeface="Calibri" pitchFamily="34" charset="-122"/>
                <a:cs typeface="Calibri" pitchFamily="34" charset="-120"/>
              </a:rPr>
              <a:t>You have to trust the vendor's operation</a:t>
            </a:r>
            <a:endParaRPr lang="en-US" sz="1350" dirty="0"/>
          </a:p>
        </p:txBody>
      </p:sp>
      <p:sp>
        <p:nvSpPr>
          <p:cNvPr id="13" name="Shape 9"/>
          <p:cNvSpPr/>
          <p:nvPr/>
        </p:nvSpPr>
        <p:spPr>
          <a:xfrm>
            <a:off x="6323076" y="2377440"/>
            <a:ext cx="5317236" cy="3566160"/>
          </a:xfrm>
          <a:prstGeom prst="roundRect">
            <a:avLst>
              <a:gd name="adj" fmla="val 2051"/>
            </a:avLst>
          </a:prstGeom>
          <a:solidFill>
            <a:srgbClr val="E4F3F2"/>
          </a:solidFill>
          <a:ln w="15875">
            <a:solidFill>
              <a:srgbClr val="0F8B8D"/>
            </a:solidFill>
            <a:prstDash val="solid"/>
          </a:ln>
          <a:effectLst>
            <a:outerShdw sx="100000" sy="100000" kx="0" ky="0" algn="bl" rotWithShape="0" blurRad="88900" dist="38100" dir="5400000">
              <a:srgbClr val="9AA6BE">
                <a:alpha val="28000"/>
              </a:srgbClr>
            </a:outerShdw>
          </a:effectLst>
        </p:spPr>
      </p:sp>
      <p:sp>
        <p:nvSpPr>
          <p:cNvPr id="14" name="Shape 10"/>
          <p:cNvSpPr/>
          <p:nvPr/>
        </p:nvSpPr>
        <p:spPr>
          <a:xfrm>
            <a:off x="6597396" y="2651760"/>
            <a:ext cx="640080" cy="640080"/>
          </a:xfrm>
          <a:prstGeom prst="ellipse">
            <a:avLst/>
          </a:prstGeom>
          <a:solidFill>
            <a:srgbClr val="0F8B8D"/>
          </a:solidFill>
          <a:ln/>
        </p:spPr>
      </p:sp>
      <p:pic>
        <p:nvPicPr>
          <p:cNvPr id="15" name="Image 2" descr="preencoded.png">    </p:cNvPr>
          <p:cNvPicPr>
            <a:picLocks noChangeAspect="1"/>
          </p:cNvPicPr>
          <p:nvPr/>
        </p:nvPicPr>
        <p:blipFill>
          <a:blip r:embed="rId3"/>
          <a:stretch>
            <a:fillRect/>
          </a:stretch>
        </p:blipFill>
        <p:spPr>
          <a:xfrm>
            <a:off x="6763817" y="2818181"/>
            <a:ext cx="307238" cy="307238"/>
          </a:xfrm>
          <a:prstGeom prst="rect">
            <a:avLst/>
          </a:prstGeom>
        </p:spPr>
      </p:pic>
      <p:sp>
        <p:nvSpPr>
          <p:cNvPr id="16" name="Text 11"/>
          <p:cNvSpPr/>
          <p:nvPr/>
        </p:nvSpPr>
        <p:spPr>
          <a:xfrm>
            <a:off x="7374636" y="2651760"/>
            <a:ext cx="4128516" cy="365760"/>
          </a:xfrm>
          <a:prstGeom prst="rect">
            <a:avLst/>
          </a:prstGeom>
          <a:noFill/>
          <a:ln/>
        </p:spPr>
        <p:txBody>
          <a:bodyPr wrap="square"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Substrate</a:t>
            </a:r>
            <a:endParaRPr lang="en-US" sz="2000" dirty="0"/>
          </a:p>
        </p:txBody>
      </p:sp>
      <p:sp>
        <p:nvSpPr>
          <p:cNvPr id="17" name="Text 12"/>
          <p:cNvSpPr/>
          <p:nvPr/>
        </p:nvSpPr>
        <p:spPr>
          <a:xfrm>
            <a:off x="7374636" y="2999232"/>
            <a:ext cx="4128516" cy="274320"/>
          </a:xfrm>
          <a:prstGeom prst="rect">
            <a:avLst/>
          </a:prstGeom>
          <a:noFill/>
          <a:ln/>
        </p:spPr>
        <p:txBody>
          <a:bodyPr wrap="square" rtlCol="0" anchor="ctr"/>
          <a:lstStyle/>
          <a:p>
            <a:pPr indent="0" marL="0">
              <a:buNone/>
            </a:pPr>
            <a:r>
              <a:rPr lang="en-US" sz="1200" i="1" dirty="0">
                <a:solidFill>
                  <a:srgbClr val="0F8B8D"/>
                </a:solidFill>
                <a:latin typeface="Calibri" pitchFamily="34" charset="0"/>
                <a:ea typeface="Calibri" pitchFamily="34" charset="-122"/>
                <a:cs typeface="Calibri" pitchFamily="34" charset="-120"/>
              </a:rPr>
              <a:t>A proof you can verify</a:t>
            </a:r>
            <a:endParaRPr lang="en-US" sz="1200" dirty="0"/>
          </a:p>
        </p:txBody>
      </p:sp>
      <p:sp>
        <p:nvSpPr>
          <p:cNvPr id="18" name="Text 13"/>
          <p:cNvSpPr/>
          <p:nvPr/>
        </p:nvSpPr>
        <p:spPr>
          <a:xfrm>
            <a:off x="6643116" y="3474720"/>
            <a:ext cx="4677156" cy="2240280"/>
          </a:xfrm>
          <a:prstGeom prst="rect">
            <a:avLst/>
          </a:prstGeom>
          <a:noFill/>
          <a:ln/>
        </p:spPr>
        <p:txBody>
          <a:bodyPr wrap="square" rtlCol="0" anchor="t"/>
          <a:lstStyle/>
          <a:p>
            <a:pPr marL="342900" indent="-342900">
              <a:spcAft>
                <a:spcPts val="1000"/>
              </a:spcAft>
              <a:buSzPct val="100000"/>
              <a:buChar char="•"/>
            </a:pPr>
            <a:r>
              <a:rPr lang="en-US" sz="1350" dirty="0">
                <a:solidFill>
                  <a:srgbClr val="1F2A44"/>
                </a:solidFill>
                <a:latin typeface="Calibri" pitchFamily="34" charset="0"/>
                <a:ea typeface="Calibri" pitchFamily="34" charset="-122"/>
                <a:cs typeface="Calibri" pitchFamily="34" charset="-120"/>
              </a:rPr>
              <a:t>A deterministic engine plus a signed proof</a:t>
            </a:r>
            <a:endParaRPr lang="en-US" sz="1350" dirty="0"/>
          </a:p>
          <a:p>
            <a:pPr marL="342900" indent="-342900">
              <a:spcAft>
                <a:spcPts val="1000"/>
              </a:spcAft>
              <a:buSzPct val="100000"/>
              <a:buChar char="•"/>
            </a:pPr>
            <a:r>
              <a:rPr lang="en-US" sz="1350" dirty="0">
                <a:solidFill>
                  <a:srgbClr val="1F2A44"/>
                </a:solidFill>
                <a:latin typeface="Calibri" pitchFamily="34" charset="0"/>
                <a:ea typeface="Calibri" pitchFamily="34" charset="-122"/>
                <a:cs typeface="Calibri" pitchFamily="34" charset="-120"/>
              </a:rPr>
              <a:t>Runs inside your own environment</a:t>
            </a:r>
            <a:endParaRPr lang="en-US" sz="1350" dirty="0"/>
          </a:p>
          <a:p>
            <a:pPr marL="342900" indent="-342900">
              <a:spcAft>
                <a:spcPts val="1000"/>
              </a:spcAft>
              <a:buSzPct val="100000"/>
              <a:buChar char="•"/>
            </a:pPr>
            <a:r>
              <a:rPr lang="en-US" sz="1350" dirty="0">
                <a:solidFill>
                  <a:srgbClr val="1F2A44"/>
                </a:solidFill>
                <a:latin typeface="Calibri" pitchFamily="34" charset="0"/>
                <a:ea typeface="Calibri" pitchFamily="34" charset="-122"/>
                <a:cs typeface="Calibri" pitchFamily="34" charset="-120"/>
              </a:rPr>
              <a:t>You receive a portable, re-derivable artifact</a:t>
            </a:r>
            <a:endParaRPr lang="en-US" sz="1350" dirty="0"/>
          </a:p>
          <a:p>
            <a:pPr marL="342900" indent="-342900">
              <a:spcAft>
                <a:spcPts val="1000"/>
              </a:spcAft>
              <a:buSzPct val="100000"/>
              <a:buChar char="•"/>
            </a:pPr>
            <a:r>
              <a:rPr lang="en-US" sz="1350" dirty="0">
                <a:solidFill>
                  <a:srgbClr val="1F2A44"/>
                </a:solidFill>
                <a:latin typeface="Calibri" pitchFamily="34" charset="0"/>
                <a:ea typeface="Calibri" pitchFamily="34" charset="-122"/>
                <a:cs typeface="Calibri" pitchFamily="34" charset="-120"/>
              </a:rPr>
              <a:t>The value is the evidence itself</a:t>
            </a:r>
            <a:endParaRPr lang="en-US" sz="1350" dirty="0"/>
          </a:p>
          <a:p>
            <a:pPr marL="342900" indent="-342900">
              <a:spcAft>
                <a:spcPts val="1000"/>
              </a:spcAft>
              <a:buSzPct val="100000"/>
              <a:buChar char="•"/>
            </a:pPr>
            <a:r>
              <a:rPr lang="en-US" sz="1350" dirty="0">
                <a:solidFill>
                  <a:srgbClr val="1F2A44"/>
                </a:solidFill>
                <a:latin typeface="Calibri" pitchFamily="34" charset="0"/>
                <a:ea typeface="Calibri" pitchFamily="34" charset="-122"/>
                <a:cs typeface="Calibri" pitchFamily="34" charset="-120"/>
              </a:rPr>
              <a:t>You trust the math — not us</a:t>
            </a:r>
            <a:endParaRPr lang="en-US" sz="1350" dirty="0"/>
          </a:p>
        </p:txBody>
      </p:sp>
      <p:sp>
        <p:nvSpPr>
          <p:cNvPr id="19" name="Text 14"/>
          <p:cNvSpPr/>
          <p:nvPr/>
        </p:nvSpPr>
        <p:spPr>
          <a:xfrm>
            <a:off x="548640" y="6126480"/>
            <a:ext cx="11091672" cy="320040"/>
          </a:xfrm>
          <a:prstGeom prst="rect">
            <a:avLst/>
          </a:prstGeom>
          <a:noFill/>
          <a:ln/>
        </p:spPr>
        <p:txBody>
          <a:bodyPr wrap="square" rtlCol="0" anchor="ctr"/>
          <a:lstStyle/>
          <a:p>
            <a:pPr algn="ctr" indent="0" marL="0">
              <a:buNone/>
            </a:pPr>
            <a:r>
              <a:rPr lang="en-US" sz="1200" i="1" dirty="0">
                <a:solidFill>
                  <a:srgbClr val="5B6B85"/>
                </a:solidFill>
                <a:latin typeface="Calibri" pitchFamily="34" charset="0"/>
                <a:ea typeface="Calibri" pitchFamily="34" charset="-122"/>
                <a:cs typeface="Calibri" pitchFamily="34" charset="-120"/>
              </a:rPr>
              <a:t>Same migration outcome. What changes is where trust comes from.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82296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Why Relian Can Be a Substrate: Determinism → Attestation</a:t>
            </a:r>
            <a:endParaRPr lang="en-US" sz="3000" dirty="0"/>
          </a:p>
        </p:txBody>
      </p:sp>
      <p:sp>
        <p:nvSpPr>
          <p:cNvPr id="3" name="Shape 1"/>
          <p:cNvSpPr/>
          <p:nvPr/>
        </p:nvSpPr>
        <p:spPr>
          <a:xfrm>
            <a:off x="548640" y="1371600"/>
            <a:ext cx="11091672" cy="1371600"/>
          </a:xfrm>
          <a:prstGeom prst="roundRect">
            <a:avLst>
              <a:gd name="adj" fmla="val 4667"/>
            </a:avLst>
          </a:prstGeom>
          <a:solidFill>
            <a:srgbClr val="F3F6FC"/>
          </a:solidFill>
          <a:ln/>
          <a:effectLst>
            <a:outerShdw sx="100000" sy="100000" kx="0" ky="0" algn="bl" rotWithShape="0" blurRad="88900" dist="38100" dir="5400000">
              <a:srgbClr val="9AA6BE">
                <a:alpha val="28000"/>
              </a:srgbClr>
            </a:outerShdw>
          </a:effectLst>
        </p:spPr>
      </p:sp>
      <p:sp>
        <p:nvSpPr>
          <p:cNvPr id="4" name="Shape 2"/>
          <p:cNvSpPr/>
          <p:nvPr/>
        </p:nvSpPr>
        <p:spPr>
          <a:xfrm>
            <a:off x="804672" y="1668780"/>
            <a:ext cx="777240" cy="777240"/>
          </a:xfrm>
          <a:prstGeom prst="ellipse">
            <a:avLst/>
          </a:prstGeom>
          <a:solidFill>
            <a:srgbClr val="14213D"/>
          </a:solidFill>
          <a:ln/>
        </p:spPr>
      </p:sp>
      <p:pic>
        <p:nvPicPr>
          <p:cNvPr id="5" name="Image 0" descr="preencoded.png">    </p:cNvPr>
          <p:cNvPicPr>
            <a:picLocks noChangeAspect="1"/>
          </p:cNvPicPr>
          <p:nvPr/>
        </p:nvPicPr>
        <p:blipFill>
          <a:blip r:embed="rId1"/>
          <a:stretch>
            <a:fillRect/>
          </a:stretch>
        </p:blipFill>
        <p:spPr>
          <a:xfrm>
            <a:off x="1006754" y="1870862"/>
            <a:ext cx="373075" cy="373075"/>
          </a:xfrm>
          <a:prstGeom prst="rect">
            <a:avLst/>
          </a:prstGeom>
        </p:spPr>
      </p:pic>
      <p:sp>
        <p:nvSpPr>
          <p:cNvPr id="6" name="Text 3"/>
          <p:cNvSpPr/>
          <p:nvPr/>
        </p:nvSpPr>
        <p:spPr>
          <a:xfrm>
            <a:off x="1783080" y="1517904"/>
            <a:ext cx="9537192" cy="365760"/>
          </a:xfrm>
          <a:prstGeom prst="rect">
            <a:avLst/>
          </a:prstGeom>
          <a:noFill/>
          <a:ln/>
        </p:spPr>
        <p:txBody>
          <a:bodyPr wrap="square"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Deterministic transform (C1)</a:t>
            </a:r>
            <a:endParaRPr lang="en-US" sz="1700" dirty="0"/>
          </a:p>
        </p:txBody>
      </p:sp>
      <p:sp>
        <p:nvSpPr>
          <p:cNvPr id="7" name="Text 4"/>
          <p:cNvSpPr/>
          <p:nvPr/>
        </p:nvSpPr>
        <p:spPr>
          <a:xfrm>
            <a:off x="1783080" y="1883664"/>
            <a:ext cx="8348472" cy="749808"/>
          </a:xfrm>
          <a:prstGeom prst="rect">
            <a:avLst/>
          </a:prstGeom>
          <a:noFill/>
          <a:ln/>
        </p:spPr>
        <p:txBody>
          <a:bodyPr wrap="square" rtlCol="0" anchor="t"/>
          <a:lstStyle/>
          <a:p>
            <a:pPr indent="0" marL="0">
              <a:buNone/>
            </a:pPr>
            <a:r>
              <a:rPr lang="en-US" sz="1250" dirty="0">
                <a:solidFill>
                  <a:srgbClr val="1F2A44"/>
                </a:solidFill>
                <a:latin typeface="Calibri" pitchFamily="34" charset="0"/>
                <a:ea typeface="Calibri" pitchFamily="34" charset="-122"/>
                <a:cs typeface="Calibri" pitchFamily="34" charset="-120"/>
              </a:rPr>
              <a:t>Same COBOL in → same Java out, byte-for-byte. ~430 lines, rule-based. No LLM in the transform path — an AI transpiler is non-deterministic and cannot be attested.</a:t>
            </a:r>
            <a:endParaRPr lang="en-US" sz="1250" dirty="0"/>
          </a:p>
        </p:txBody>
      </p:sp>
      <p:sp>
        <p:nvSpPr>
          <p:cNvPr id="8" name="Shape 5"/>
          <p:cNvSpPr/>
          <p:nvPr/>
        </p:nvSpPr>
        <p:spPr>
          <a:xfrm>
            <a:off x="10442448" y="1517904"/>
            <a:ext cx="923544" cy="274320"/>
          </a:xfrm>
          <a:prstGeom prst="roundRect">
            <a:avLst>
              <a:gd name="adj" fmla="val 50000"/>
            </a:avLst>
          </a:prstGeom>
          <a:solidFill>
            <a:srgbClr val="E7F7EE"/>
          </a:solidFill>
          <a:ln w="12700">
            <a:solidFill>
              <a:srgbClr val="2FBF71"/>
            </a:solidFill>
            <a:prstDash val="solid"/>
          </a:ln>
        </p:spPr>
      </p:sp>
      <p:sp>
        <p:nvSpPr>
          <p:cNvPr id="9" name="Text 6"/>
          <p:cNvSpPr/>
          <p:nvPr/>
        </p:nvSpPr>
        <p:spPr>
          <a:xfrm>
            <a:off x="10442448" y="1517904"/>
            <a:ext cx="923544" cy="274320"/>
          </a:xfrm>
          <a:prstGeom prst="rect">
            <a:avLst/>
          </a:prstGeom>
          <a:noFill/>
          <a:ln/>
        </p:spPr>
        <p:txBody>
          <a:bodyPr wrap="square" lIns="0" tIns="0" rIns="0" bIns="0" rtlCol="0" anchor="ctr"/>
          <a:lstStyle/>
          <a:p>
            <a:pPr algn="ctr" indent="0" marL="0">
              <a:buNone/>
            </a:pPr>
            <a:r>
              <a:rPr lang="en-US" sz="1050" b="1" dirty="0">
                <a:solidFill>
                  <a:srgbClr val="2FBF71"/>
                </a:solidFill>
                <a:latin typeface="Calibri" pitchFamily="34" charset="0"/>
                <a:ea typeface="Calibri" pitchFamily="34" charset="-122"/>
                <a:cs typeface="Calibri" pitchFamily="34" charset="-120"/>
              </a:rPr>
              <a:t>● MEASURED</a:t>
            </a:r>
            <a:endParaRPr lang="en-US" sz="1050" dirty="0"/>
          </a:p>
        </p:txBody>
      </p:sp>
      <p:sp>
        <p:nvSpPr>
          <p:cNvPr id="10" name="Shape 7"/>
          <p:cNvSpPr/>
          <p:nvPr/>
        </p:nvSpPr>
        <p:spPr>
          <a:xfrm>
            <a:off x="548640" y="2889504"/>
            <a:ext cx="11091672" cy="1371600"/>
          </a:xfrm>
          <a:prstGeom prst="roundRect">
            <a:avLst>
              <a:gd name="adj" fmla="val 4667"/>
            </a:avLst>
          </a:prstGeom>
          <a:solidFill>
            <a:srgbClr val="F3F6FC"/>
          </a:solidFill>
          <a:ln/>
          <a:effectLst>
            <a:outerShdw sx="100000" sy="100000" kx="0" ky="0" algn="bl" rotWithShape="0" blurRad="88900" dist="38100" dir="5400000">
              <a:srgbClr val="9AA6BE">
                <a:alpha val="28000"/>
              </a:srgbClr>
            </a:outerShdw>
          </a:effectLst>
        </p:spPr>
      </p:sp>
      <p:sp>
        <p:nvSpPr>
          <p:cNvPr id="11" name="Shape 8"/>
          <p:cNvSpPr/>
          <p:nvPr/>
        </p:nvSpPr>
        <p:spPr>
          <a:xfrm>
            <a:off x="804672" y="3186684"/>
            <a:ext cx="777240" cy="777240"/>
          </a:xfrm>
          <a:prstGeom prst="ellipse">
            <a:avLst/>
          </a:prstGeom>
          <a:solidFill>
            <a:srgbClr val="0F8B8D"/>
          </a:solidFill>
          <a:ln/>
        </p:spPr>
      </p:sp>
      <p:pic>
        <p:nvPicPr>
          <p:cNvPr id="12" name="Image 1" descr="preencoded.png">    </p:cNvPr>
          <p:cNvPicPr>
            <a:picLocks noChangeAspect="1"/>
          </p:cNvPicPr>
          <p:nvPr/>
        </p:nvPicPr>
        <p:blipFill>
          <a:blip r:embed="rId2"/>
          <a:stretch>
            <a:fillRect/>
          </a:stretch>
        </p:blipFill>
        <p:spPr>
          <a:xfrm>
            <a:off x="1006754" y="3388766"/>
            <a:ext cx="373075" cy="373075"/>
          </a:xfrm>
          <a:prstGeom prst="rect">
            <a:avLst/>
          </a:prstGeom>
        </p:spPr>
      </p:pic>
      <p:sp>
        <p:nvSpPr>
          <p:cNvPr id="13" name="Text 9"/>
          <p:cNvSpPr/>
          <p:nvPr/>
        </p:nvSpPr>
        <p:spPr>
          <a:xfrm>
            <a:off x="1783080" y="3035808"/>
            <a:ext cx="9537192" cy="365760"/>
          </a:xfrm>
          <a:prstGeom prst="rect">
            <a:avLst/>
          </a:prstGeom>
          <a:noFill/>
          <a:ln/>
        </p:spPr>
        <p:txBody>
          <a:bodyPr wrap="square"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Committed benchmark (RELIAN-BENCH v1.1)</a:t>
            </a:r>
            <a:endParaRPr lang="en-US" sz="1700" dirty="0"/>
          </a:p>
        </p:txBody>
      </p:sp>
      <p:sp>
        <p:nvSpPr>
          <p:cNvPr id="14" name="Text 10"/>
          <p:cNvSpPr/>
          <p:nvPr/>
        </p:nvSpPr>
        <p:spPr>
          <a:xfrm>
            <a:off x="1783080" y="3401568"/>
            <a:ext cx="8348472" cy="749808"/>
          </a:xfrm>
          <a:prstGeom prst="rect">
            <a:avLst/>
          </a:prstGeom>
          <a:noFill/>
          <a:ln/>
        </p:spPr>
        <p:txBody>
          <a:bodyPr wrap="square" rtlCol="0" anchor="t"/>
          <a:lstStyle/>
          <a:p>
            <a:pPr indent="0" marL="0">
              <a:buNone/>
            </a:pPr>
            <a:r>
              <a:rPr lang="en-US" sz="1250" dirty="0">
                <a:solidFill>
                  <a:srgbClr val="1F2A44"/>
                </a:solidFill>
                <a:latin typeface="Calibri" pitchFamily="34" charset="0"/>
                <a:ea typeface="Calibri" pitchFamily="34" charset="-122"/>
                <a:cs typeface="Calibri" pitchFamily="34" charset="-120"/>
              </a:rPr>
              <a:t>Five oracle-compiled COBOL programs; 300 sealed held-out vectors; Ed25519-signed; committed before the solution existed. BER 1.0000  ·  build rate 1.00  ·  branch coverage 0.8824.</a:t>
            </a:r>
            <a:endParaRPr lang="en-US" sz="1250" dirty="0"/>
          </a:p>
        </p:txBody>
      </p:sp>
      <p:sp>
        <p:nvSpPr>
          <p:cNvPr id="15" name="Shape 11"/>
          <p:cNvSpPr/>
          <p:nvPr/>
        </p:nvSpPr>
        <p:spPr>
          <a:xfrm>
            <a:off x="10442448" y="3035808"/>
            <a:ext cx="923544" cy="274320"/>
          </a:xfrm>
          <a:prstGeom prst="roundRect">
            <a:avLst>
              <a:gd name="adj" fmla="val 50000"/>
            </a:avLst>
          </a:prstGeom>
          <a:solidFill>
            <a:srgbClr val="E7F7EE"/>
          </a:solidFill>
          <a:ln w="12700">
            <a:solidFill>
              <a:srgbClr val="2FBF71"/>
            </a:solidFill>
            <a:prstDash val="solid"/>
          </a:ln>
        </p:spPr>
      </p:sp>
      <p:sp>
        <p:nvSpPr>
          <p:cNvPr id="16" name="Text 12"/>
          <p:cNvSpPr/>
          <p:nvPr/>
        </p:nvSpPr>
        <p:spPr>
          <a:xfrm>
            <a:off x="10442448" y="3035808"/>
            <a:ext cx="923544" cy="274320"/>
          </a:xfrm>
          <a:prstGeom prst="rect">
            <a:avLst/>
          </a:prstGeom>
          <a:noFill/>
          <a:ln/>
        </p:spPr>
        <p:txBody>
          <a:bodyPr wrap="square" lIns="0" tIns="0" rIns="0" bIns="0" rtlCol="0" anchor="ctr"/>
          <a:lstStyle/>
          <a:p>
            <a:pPr algn="ctr" indent="0" marL="0">
              <a:buNone/>
            </a:pPr>
            <a:r>
              <a:rPr lang="en-US" sz="1050" b="1" dirty="0">
                <a:solidFill>
                  <a:srgbClr val="2FBF71"/>
                </a:solidFill>
                <a:latin typeface="Calibri" pitchFamily="34" charset="0"/>
                <a:ea typeface="Calibri" pitchFamily="34" charset="-122"/>
                <a:cs typeface="Calibri" pitchFamily="34" charset="-120"/>
              </a:rPr>
              <a:t>● MEASURED</a:t>
            </a:r>
            <a:endParaRPr lang="en-US" sz="1050" dirty="0"/>
          </a:p>
        </p:txBody>
      </p:sp>
      <p:sp>
        <p:nvSpPr>
          <p:cNvPr id="17" name="Shape 13"/>
          <p:cNvSpPr/>
          <p:nvPr/>
        </p:nvSpPr>
        <p:spPr>
          <a:xfrm>
            <a:off x="548640" y="4407408"/>
            <a:ext cx="11091672" cy="1371600"/>
          </a:xfrm>
          <a:prstGeom prst="roundRect">
            <a:avLst>
              <a:gd name="adj" fmla="val 4667"/>
            </a:avLst>
          </a:prstGeom>
          <a:solidFill>
            <a:srgbClr val="F3F6FC"/>
          </a:solidFill>
          <a:ln/>
          <a:effectLst>
            <a:outerShdw sx="100000" sy="100000" kx="0" ky="0" algn="bl" rotWithShape="0" blurRad="88900" dist="38100" dir="5400000">
              <a:srgbClr val="9AA6BE">
                <a:alpha val="28000"/>
              </a:srgbClr>
            </a:outerShdw>
          </a:effectLst>
        </p:spPr>
      </p:sp>
      <p:sp>
        <p:nvSpPr>
          <p:cNvPr id="18" name="Shape 14"/>
          <p:cNvSpPr/>
          <p:nvPr/>
        </p:nvSpPr>
        <p:spPr>
          <a:xfrm>
            <a:off x="804672" y="4704588"/>
            <a:ext cx="777240" cy="777240"/>
          </a:xfrm>
          <a:prstGeom prst="ellipse">
            <a:avLst/>
          </a:prstGeom>
          <a:solidFill>
            <a:srgbClr val="2FBF71"/>
          </a:solidFill>
          <a:ln/>
        </p:spPr>
      </p:sp>
      <p:pic>
        <p:nvPicPr>
          <p:cNvPr id="19" name="Image 2" descr="preencoded.png">    </p:cNvPr>
          <p:cNvPicPr>
            <a:picLocks noChangeAspect="1"/>
          </p:cNvPicPr>
          <p:nvPr/>
        </p:nvPicPr>
        <p:blipFill>
          <a:blip r:embed="rId3"/>
          <a:stretch>
            <a:fillRect/>
          </a:stretch>
        </p:blipFill>
        <p:spPr>
          <a:xfrm>
            <a:off x="1006754" y="4906670"/>
            <a:ext cx="373075" cy="373075"/>
          </a:xfrm>
          <a:prstGeom prst="rect">
            <a:avLst/>
          </a:prstGeom>
        </p:spPr>
      </p:pic>
      <p:sp>
        <p:nvSpPr>
          <p:cNvPr id="20" name="Text 15"/>
          <p:cNvSpPr/>
          <p:nvPr/>
        </p:nvSpPr>
        <p:spPr>
          <a:xfrm>
            <a:off x="1783080" y="4553712"/>
            <a:ext cx="9537192" cy="365760"/>
          </a:xfrm>
          <a:prstGeom prst="rect">
            <a:avLst/>
          </a:prstGeom>
          <a:noFill/>
          <a:ln/>
        </p:spPr>
        <p:txBody>
          <a:bodyPr wrap="square"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Signed ledger (Aletheia pattern)</a:t>
            </a:r>
            <a:endParaRPr lang="en-US" sz="1700" dirty="0"/>
          </a:p>
        </p:txBody>
      </p:sp>
      <p:sp>
        <p:nvSpPr>
          <p:cNvPr id="21" name="Text 16"/>
          <p:cNvSpPr/>
          <p:nvPr/>
        </p:nvSpPr>
        <p:spPr>
          <a:xfrm>
            <a:off x="1783080" y="4919472"/>
            <a:ext cx="8348472" cy="749808"/>
          </a:xfrm>
          <a:prstGeom prst="rect">
            <a:avLst/>
          </a:prstGeom>
          <a:noFill/>
          <a:ln/>
        </p:spPr>
        <p:txBody>
          <a:bodyPr wrap="square" rtlCol="0" anchor="t"/>
          <a:lstStyle/>
          <a:p>
            <a:pPr indent="0" marL="0">
              <a:buNone/>
            </a:pPr>
            <a:r>
              <a:rPr lang="en-US" sz="1250" dirty="0">
                <a:solidFill>
                  <a:srgbClr val="1F2A44"/>
                </a:solidFill>
                <a:latin typeface="Calibri" pitchFamily="34" charset="0"/>
                <a:ea typeface="Calibri" pitchFamily="34" charset="-122"/>
                <a:cs typeface="Calibri" pitchFamily="34" charset="-120"/>
              </a:rPr>
              <a:t>Ed25519-signed, hash-chained audit ledger any third party can independently re-derive — stronger evidence than a bare chain write. On-chain anchoring is a cheap Phase 3 add.</a:t>
            </a:r>
            <a:endParaRPr lang="en-US" sz="1250" dirty="0"/>
          </a:p>
        </p:txBody>
      </p:sp>
      <p:sp>
        <p:nvSpPr>
          <p:cNvPr id="22" name="Shape 17"/>
          <p:cNvSpPr/>
          <p:nvPr/>
        </p:nvSpPr>
        <p:spPr>
          <a:xfrm>
            <a:off x="10518343" y="4553712"/>
            <a:ext cx="847649" cy="274320"/>
          </a:xfrm>
          <a:prstGeom prst="roundRect">
            <a:avLst>
              <a:gd name="adj" fmla="val 50000"/>
            </a:avLst>
          </a:prstGeom>
          <a:solidFill>
            <a:srgbClr val="FBF0DF"/>
          </a:solidFill>
          <a:ln w="12700">
            <a:solidFill>
              <a:srgbClr val="E0912F"/>
            </a:solidFill>
            <a:prstDash val="solid"/>
          </a:ln>
        </p:spPr>
      </p:sp>
      <p:sp>
        <p:nvSpPr>
          <p:cNvPr id="23" name="Text 18"/>
          <p:cNvSpPr/>
          <p:nvPr/>
        </p:nvSpPr>
        <p:spPr>
          <a:xfrm>
            <a:off x="10518343" y="4553712"/>
            <a:ext cx="847649" cy="274320"/>
          </a:xfrm>
          <a:prstGeom prst="rect">
            <a:avLst/>
          </a:prstGeom>
          <a:noFill/>
          <a:ln/>
        </p:spPr>
        <p:txBody>
          <a:bodyPr wrap="square" lIns="0" tIns="0" rIns="0" bIns="0" rtlCol="0" anchor="ctr"/>
          <a:lstStyle/>
          <a:p>
            <a:pPr algn="ctr" indent="0" marL="0">
              <a:buNone/>
            </a:pPr>
            <a:r>
              <a:rPr lang="en-US" sz="1050" b="1" dirty="0">
                <a:solidFill>
                  <a:srgbClr val="E0912F"/>
                </a:solidFill>
                <a:latin typeface="Calibri" pitchFamily="34" charset="0"/>
                <a:ea typeface="Calibri" pitchFamily="34" charset="-122"/>
                <a:cs typeface="Calibri" pitchFamily="34" charset="-120"/>
              </a:rPr>
              <a:t>● PARTIAL</a:t>
            </a:r>
            <a:endParaRPr lang="en-US" sz="1050" dirty="0"/>
          </a:p>
        </p:txBody>
      </p:sp>
      <p:sp>
        <p:nvSpPr>
          <p:cNvPr id="24" name="Text 19"/>
          <p:cNvSpPr/>
          <p:nvPr/>
        </p:nvSpPr>
        <p:spPr>
          <a:xfrm>
            <a:off x="548640" y="6263640"/>
            <a:ext cx="11091672" cy="320040"/>
          </a:xfrm>
          <a:prstGeom prst="rect">
            <a:avLst/>
          </a:prstGeom>
          <a:noFill/>
          <a:ln/>
        </p:spPr>
        <p:txBody>
          <a:bodyPr wrap="square" rtlCol="0" anchor="ctr"/>
          <a:lstStyle/>
          <a:p>
            <a:pPr algn="ctr" indent="0" marL="0">
              <a:buNone/>
            </a:pPr>
            <a:r>
              <a:rPr lang="en-US" sz="1200" i="1" dirty="0">
                <a:solidFill>
                  <a:srgbClr val="5B6B85"/>
                </a:solidFill>
                <a:latin typeface="Calibri" pitchFamily="34" charset="0"/>
                <a:ea typeface="Calibri" pitchFamily="34" charset="-122"/>
                <a:cs typeface="Calibri" pitchFamily="34" charset="-120"/>
              </a:rPr>
              <a:t>Determinism is the precondition for proof: you can only sign what you can reproduce.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82296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Where Your Code Lives: Only the Proof Crosses the Line</a:t>
            </a:r>
            <a:endParaRPr lang="en-US" sz="3000" dirty="0"/>
          </a:p>
        </p:txBody>
      </p:sp>
      <p:sp>
        <p:nvSpPr>
          <p:cNvPr id="3" name="Shape 1"/>
          <p:cNvSpPr/>
          <p:nvPr/>
        </p:nvSpPr>
        <p:spPr>
          <a:xfrm>
            <a:off x="548640" y="1417320"/>
            <a:ext cx="6492240" cy="2468880"/>
          </a:xfrm>
          <a:prstGeom prst="roundRect">
            <a:avLst>
              <a:gd name="adj" fmla="val 2963"/>
            </a:avLst>
          </a:prstGeom>
          <a:solidFill>
            <a:srgbClr val="F3F6FC"/>
          </a:solidFill>
          <a:ln w="15875">
            <a:solidFill>
              <a:srgbClr val="14213D"/>
            </a:solidFill>
            <a:prstDash val="dash"/>
          </a:ln>
          <a:effectLst>
            <a:outerShdw sx="100000" sy="100000" kx="0" ky="0" algn="bl" rotWithShape="0" blurRad="88900" dist="38100" dir="5400000">
              <a:srgbClr val="9AA6BE">
                <a:alpha val="28000"/>
              </a:srgbClr>
            </a:outerShdw>
          </a:effectLst>
        </p:spPr>
      </p:sp>
      <p:sp>
        <p:nvSpPr>
          <p:cNvPr id="4" name="Shape 2"/>
          <p:cNvSpPr/>
          <p:nvPr/>
        </p:nvSpPr>
        <p:spPr>
          <a:xfrm>
            <a:off x="804672" y="1655064"/>
            <a:ext cx="640080" cy="640080"/>
          </a:xfrm>
          <a:prstGeom prst="ellipse">
            <a:avLst/>
          </a:prstGeom>
          <a:solidFill>
            <a:srgbClr val="14213D"/>
          </a:solidFill>
          <a:ln/>
        </p:spPr>
      </p:sp>
      <p:pic>
        <p:nvPicPr>
          <p:cNvPr id="5" name="Image 0" descr="preencoded.png">    </p:cNvPr>
          <p:cNvPicPr>
            <a:picLocks noChangeAspect="1"/>
          </p:cNvPicPr>
          <p:nvPr/>
        </p:nvPicPr>
        <p:blipFill>
          <a:blip r:embed="rId1"/>
          <a:stretch>
            <a:fillRect/>
          </a:stretch>
        </p:blipFill>
        <p:spPr>
          <a:xfrm>
            <a:off x="971093" y="1821485"/>
            <a:ext cx="307238" cy="307238"/>
          </a:xfrm>
          <a:prstGeom prst="rect">
            <a:avLst/>
          </a:prstGeom>
        </p:spPr>
      </p:pic>
      <p:sp>
        <p:nvSpPr>
          <p:cNvPr id="6" name="Text 3"/>
          <p:cNvSpPr/>
          <p:nvPr/>
        </p:nvSpPr>
        <p:spPr>
          <a:xfrm>
            <a:off x="1554480" y="1673352"/>
            <a:ext cx="5303520" cy="320040"/>
          </a:xfrm>
          <a:prstGeom prst="rect">
            <a:avLst/>
          </a:prstGeom>
          <a:noFill/>
          <a:ln/>
        </p:spPr>
        <p:txBody>
          <a:bodyPr wrap="square"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CUSTOMER PERIMETER</a:t>
            </a:r>
            <a:endParaRPr lang="en-US" sz="1600" dirty="0"/>
          </a:p>
        </p:txBody>
      </p:sp>
      <p:sp>
        <p:nvSpPr>
          <p:cNvPr id="7" name="Text 4"/>
          <p:cNvSpPr/>
          <p:nvPr/>
        </p:nvSpPr>
        <p:spPr>
          <a:xfrm>
            <a:off x="1554480" y="1993392"/>
            <a:ext cx="5303520" cy="274320"/>
          </a:xfrm>
          <a:prstGeom prst="rect">
            <a:avLst/>
          </a:prstGeom>
          <a:noFill/>
          <a:ln/>
        </p:spPr>
        <p:txBody>
          <a:bodyPr wrap="square" rtlCol="0" anchor="ctr"/>
          <a:lstStyle/>
          <a:p>
            <a:pPr indent="0" marL="0">
              <a:buNone/>
            </a:pPr>
            <a:r>
              <a:rPr lang="en-US" sz="1200" i="1" dirty="0">
                <a:solidFill>
                  <a:srgbClr val="5B6B85"/>
                </a:solidFill>
                <a:latin typeface="Calibri" pitchFamily="34" charset="0"/>
                <a:ea typeface="Calibri" pitchFamily="34" charset="-122"/>
                <a:cs typeface="Calibri" pitchFamily="34" charset="-120"/>
              </a:rPr>
              <a:t>on-prem  ·  their cloud tenant  ·  air-gapped</a:t>
            </a:r>
            <a:endParaRPr lang="en-US" sz="1200" dirty="0"/>
          </a:p>
        </p:txBody>
      </p:sp>
      <p:sp>
        <p:nvSpPr>
          <p:cNvPr id="8" name="Shape 5"/>
          <p:cNvSpPr/>
          <p:nvPr/>
        </p:nvSpPr>
        <p:spPr>
          <a:xfrm>
            <a:off x="960120" y="2560320"/>
            <a:ext cx="2651760" cy="1005840"/>
          </a:xfrm>
          <a:prstGeom prst="roundRect">
            <a:avLst>
              <a:gd name="adj" fmla="val 5455"/>
            </a:avLst>
          </a:prstGeom>
          <a:solidFill>
            <a:srgbClr val="FFFFFF"/>
          </a:solidFill>
          <a:ln w="12700">
            <a:solidFill>
              <a:srgbClr val="D9E0EC"/>
            </a:solidFill>
            <a:prstDash val="solid"/>
          </a:ln>
        </p:spPr>
      </p:sp>
      <p:sp>
        <p:nvSpPr>
          <p:cNvPr id="9" name="Text 6"/>
          <p:cNvSpPr/>
          <p:nvPr/>
        </p:nvSpPr>
        <p:spPr>
          <a:xfrm>
            <a:off x="960120" y="2697480"/>
            <a:ext cx="2651760" cy="320040"/>
          </a:xfrm>
          <a:prstGeom prst="rect">
            <a:avLst/>
          </a:prstGeom>
          <a:noFill/>
          <a:ln/>
        </p:spPr>
        <p:txBody>
          <a:bodyPr wrap="square" rtlCol="0" anchor="ctr"/>
          <a:lstStyle/>
          <a:p>
            <a:pPr algn="ctr" indent="0" marL="0">
              <a:buNone/>
            </a:pPr>
            <a:r>
              <a:rPr lang="en-US" sz="1400" b="1" dirty="0">
                <a:solidFill>
                  <a:srgbClr val="1F2A44"/>
                </a:solidFill>
                <a:latin typeface="Calibri" pitchFamily="34" charset="0"/>
                <a:ea typeface="Calibri" pitchFamily="34" charset="-122"/>
                <a:cs typeface="Calibri" pitchFamily="34" charset="-120"/>
              </a:rPr>
              <a:t>COBOL source</a:t>
            </a:r>
            <a:endParaRPr lang="en-US" sz="1400" dirty="0"/>
          </a:p>
        </p:txBody>
      </p:sp>
      <p:sp>
        <p:nvSpPr>
          <p:cNvPr id="10" name="Text 7"/>
          <p:cNvSpPr/>
          <p:nvPr/>
        </p:nvSpPr>
        <p:spPr>
          <a:xfrm>
            <a:off x="960120" y="3017520"/>
            <a:ext cx="2651760" cy="320040"/>
          </a:xfrm>
          <a:prstGeom prst="rect">
            <a:avLst/>
          </a:prstGeom>
          <a:noFill/>
          <a:ln/>
        </p:spPr>
        <p:txBody>
          <a:bodyPr wrap="square" rtlCol="0" anchor="ctr"/>
          <a:lstStyle/>
          <a:p>
            <a:pPr algn="ctr" indent="0" marL="0">
              <a:buNone/>
            </a:pPr>
            <a:r>
              <a:rPr lang="en-US" sz="1200" i="1" dirty="0">
                <a:solidFill>
                  <a:srgbClr val="0F8B8D"/>
                </a:solidFill>
                <a:latin typeface="Calibri" pitchFamily="34" charset="0"/>
                <a:ea typeface="Calibri" pitchFamily="34" charset="-122"/>
                <a:cs typeface="Calibri" pitchFamily="34" charset="-120"/>
              </a:rPr>
              <a:t>never leaves</a:t>
            </a:r>
            <a:endParaRPr lang="en-US" sz="1200" dirty="0"/>
          </a:p>
        </p:txBody>
      </p:sp>
      <p:sp>
        <p:nvSpPr>
          <p:cNvPr id="11" name="Shape 8"/>
          <p:cNvSpPr/>
          <p:nvPr/>
        </p:nvSpPr>
        <p:spPr>
          <a:xfrm>
            <a:off x="3840480" y="2560320"/>
            <a:ext cx="2651760" cy="1005840"/>
          </a:xfrm>
          <a:prstGeom prst="roundRect">
            <a:avLst>
              <a:gd name="adj" fmla="val 5455"/>
            </a:avLst>
          </a:prstGeom>
          <a:solidFill>
            <a:srgbClr val="FFFFFF"/>
          </a:solidFill>
          <a:ln w="12700">
            <a:solidFill>
              <a:srgbClr val="D9E0EC"/>
            </a:solidFill>
            <a:prstDash val="solid"/>
          </a:ln>
        </p:spPr>
      </p:sp>
      <p:sp>
        <p:nvSpPr>
          <p:cNvPr id="12" name="Text 9"/>
          <p:cNvSpPr/>
          <p:nvPr/>
        </p:nvSpPr>
        <p:spPr>
          <a:xfrm>
            <a:off x="3840480" y="2697480"/>
            <a:ext cx="2651760" cy="320040"/>
          </a:xfrm>
          <a:prstGeom prst="rect">
            <a:avLst/>
          </a:prstGeom>
          <a:noFill/>
          <a:ln/>
        </p:spPr>
        <p:txBody>
          <a:bodyPr wrap="square" rtlCol="0" anchor="ctr"/>
          <a:lstStyle/>
          <a:p>
            <a:pPr algn="ctr" indent="0" marL="0">
              <a:buNone/>
            </a:pPr>
            <a:r>
              <a:rPr lang="en-US" sz="1400" b="1" dirty="0">
                <a:solidFill>
                  <a:srgbClr val="1F2A44"/>
                </a:solidFill>
                <a:latin typeface="Calibri" pitchFamily="34" charset="0"/>
                <a:ea typeface="Calibri" pitchFamily="34" charset="-122"/>
                <a:cs typeface="Calibri" pitchFamily="34" charset="-120"/>
              </a:rPr>
              <a:t>Relian engine</a:t>
            </a:r>
            <a:endParaRPr lang="en-US" sz="1400" dirty="0"/>
          </a:p>
        </p:txBody>
      </p:sp>
      <p:sp>
        <p:nvSpPr>
          <p:cNvPr id="13" name="Text 10"/>
          <p:cNvSpPr/>
          <p:nvPr/>
        </p:nvSpPr>
        <p:spPr>
          <a:xfrm>
            <a:off x="3840480" y="3017520"/>
            <a:ext cx="2651760" cy="320040"/>
          </a:xfrm>
          <a:prstGeom prst="rect">
            <a:avLst/>
          </a:prstGeom>
          <a:noFill/>
          <a:ln/>
        </p:spPr>
        <p:txBody>
          <a:bodyPr wrap="square" rtlCol="0" anchor="ctr"/>
          <a:lstStyle/>
          <a:p>
            <a:pPr algn="ctr" indent="0" marL="0">
              <a:buNone/>
            </a:pPr>
            <a:r>
              <a:rPr lang="en-US" sz="1200" i="1" dirty="0">
                <a:solidFill>
                  <a:srgbClr val="5B6B85"/>
                </a:solidFill>
                <a:latin typeface="Calibri" pitchFamily="34" charset="0"/>
                <a:ea typeface="Calibri" pitchFamily="34" charset="-122"/>
                <a:cs typeface="Calibri" pitchFamily="34" charset="-120"/>
              </a:rPr>
              <a:t>runs here</a:t>
            </a:r>
            <a:endParaRPr lang="en-US" sz="1200" dirty="0"/>
          </a:p>
        </p:txBody>
      </p:sp>
      <p:sp>
        <p:nvSpPr>
          <p:cNvPr id="14" name="Text 11"/>
          <p:cNvSpPr/>
          <p:nvPr/>
        </p:nvSpPr>
        <p:spPr>
          <a:xfrm>
            <a:off x="7059168" y="2240280"/>
            <a:ext cx="822960" cy="822960"/>
          </a:xfrm>
          <a:prstGeom prst="rect">
            <a:avLst/>
          </a:prstGeom>
          <a:noFill/>
          <a:ln/>
        </p:spPr>
        <p:txBody>
          <a:bodyPr wrap="square" rtlCol="0" anchor="ctr"/>
          <a:lstStyle/>
          <a:p>
            <a:pPr algn="ctr" indent="0" marL="0">
              <a:buNone/>
            </a:pPr>
            <a:r>
              <a:rPr lang="en-US" sz="4400" b="1" dirty="0">
                <a:solidFill>
                  <a:srgbClr val="0F8B8D"/>
                </a:solidFill>
                <a:latin typeface="Calibri" pitchFamily="34" charset="0"/>
                <a:ea typeface="Calibri" pitchFamily="34" charset="-122"/>
                <a:cs typeface="Calibri" pitchFamily="34" charset="-120"/>
              </a:rPr>
              <a:t>→</a:t>
            </a:r>
            <a:endParaRPr lang="en-US" sz="4400" dirty="0"/>
          </a:p>
        </p:txBody>
      </p:sp>
      <p:sp>
        <p:nvSpPr>
          <p:cNvPr id="15" name="Shape 12"/>
          <p:cNvSpPr/>
          <p:nvPr/>
        </p:nvSpPr>
        <p:spPr>
          <a:xfrm>
            <a:off x="7909560" y="1417320"/>
            <a:ext cx="3730752" cy="2468880"/>
          </a:xfrm>
          <a:prstGeom prst="roundRect">
            <a:avLst>
              <a:gd name="adj" fmla="val 2963"/>
            </a:avLst>
          </a:prstGeom>
          <a:solidFill>
            <a:srgbClr val="E4F3F2"/>
          </a:solidFill>
          <a:ln w="15875">
            <a:solidFill>
              <a:srgbClr val="0F8B8D"/>
            </a:solidFill>
            <a:prstDash val="solid"/>
          </a:ln>
          <a:effectLst>
            <a:outerShdw sx="100000" sy="100000" kx="0" ky="0" algn="bl" rotWithShape="0" blurRad="88900" dist="38100" dir="5400000">
              <a:srgbClr val="9AA6BE">
                <a:alpha val="28000"/>
              </a:srgbClr>
            </a:outerShdw>
          </a:effectLst>
        </p:spPr>
      </p:sp>
      <p:sp>
        <p:nvSpPr>
          <p:cNvPr id="16" name="Shape 13"/>
          <p:cNvSpPr/>
          <p:nvPr/>
        </p:nvSpPr>
        <p:spPr>
          <a:xfrm>
            <a:off x="8165592" y="1655064"/>
            <a:ext cx="640080" cy="640080"/>
          </a:xfrm>
          <a:prstGeom prst="ellipse">
            <a:avLst/>
          </a:prstGeom>
          <a:solidFill>
            <a:srgbClr val="0F8B8D"/>
          </a:solidFill>
          <a:ln/>
        </p:spPr>
      </p:sp>
      <p:pic>
        <p:nvPicPr>
          <p:cNvPr id="17" name="Image 1" descr="preencoded.png">    </p:cNvPr>
          <p:cNvPicPr>
            <a:picLocks noChangeAspect="1"/>
          </p:cNvPicPr>
          <p:nvPr/>
        </p:nvPicPr>
        <p:blipFill>
          <a:blip r:embed="rId2"/>
          <a:stretch>
            <a:fillRect/>
          </a:stretch>
        </p:blipFill>
        <p:spPr>
          <a:xfrm>
            <a:off x="8332013" y="1821485"/>
            <a:ext cx="307238" cy="307238"/>
          </a:xfrm>
          <a:prstGeom prst="rect">
            <a:avLst/>
          </a:prstGeom>
        </p:spPr>
      </p:pic>
      <p:sp>
        <p:nvSpPr>
          <p:cNvPr id="18" name="Text 14"/>
          <p:cNvSpPr/>
          <p:nvPr/>
        </p:nvSpPr>
        <p:spPr>
          <a:xfrm>
            <a:off x="8869680" y="1673352"/>
            <a:ext cx="2633472" cy="548640"/>
          </a:xfrm>
          <a:prstGeom prst="rect">
            <a:avLst/>
          </a:prstGeom>
          <a:noFill/>
          <a:ln/>
        </p:spPr>
        <p:txBody>
          <a:bodyPr wrap="square"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Signed attestation</a:t>
            </a:r>
            <a:endParaRPr lang="en-US" sz="1500" dirty="0"/>
          </a:p>
        </p:txBody>
      </p:sp>
      <p:sp>
        <p:nvSpPr>
          <p:cNvPr id="19" name="Text 15"/>
          <p:cNvSpPr/>
          <p:nvPr/>
        </p:nvSpPr>
        <p:spPr>
          <a:xfrm>
            <a:off x="8229600" y="2468880"/>
            <a:ext cx="3182112" cy="1280160"/>
          </a:xfrm>
          <a:prstGeom prst="rect">
            <a:avLst/>
          </a:prstGeom>
          <a:noFill/>
          <a:ln/>
        </p:spPr>
        <p:txBody>
          <a:bodyPr wrap="square" rtlCol="0" anchor="ctr"/>
          <a:lstStyle/>
          <a:p>
            <a:pPr marL="342900" indent="-342900">
              <a:spcAft>
                <a:spcPts val="700"/>
              </a:spcAft>
              <a:buSzPct val="100000"/>
              <a:buChar char="•"/>
            </a:pPr>
            <a:r>
              <a:rPr lang="en-US" sz="1250" dirty="0">
                <a:solidFill>
                  <a:srgbClr val="1F2A44"/>
                </a:solidFill>
                <a:latin typeface="Calibri" pitchFamily="34" charset="0"/>
                <a:ea typeface="Calibri" pitchFamily="34" charset="-122"/>
                <a:cs typeface="Calibri" pitchFamily="34" charset="-120"/>
              </a:rPr>
              <a:t>Equivalence proof</a:t>
            </a:r>
            <a:endParaRPr lang="en-US" sz="1250" dirty="0"/>
          </a:p>
          <a:p>
            <a:pPr marL="342900" indent="-342900">
              <a:spcAft>
                <a:spcPts val="700"/>
              </a:spcAft>
              <a:buSzPct val="100000"/>
              <a:buChar char="•"/>
            </a:pPr>
            <a:r>
              <a:rPr lang="en-US" sz="1250" dirty="0">
                <a:solidFill>
                  <a:srgbClr val="1F2A44"/>
                </a:solidFill>
                <a:latin typeface="Calibri" pitchFamily="34" charset="0"/>
                <a:ea typeface="Calibri" pitchFamily="34" charset="-122"/>
                <a:cs typeface="Calibri" pitchFamily="34" charset="-120"/>
              </a:rPr>
              <a:t>Measured metrics</a:t>
            </a:r>
            <a:endParaRPr lang="en-US" sz="1250" dirty="0"/>
          </a:p>
          <a:p>
            <a:pPr marL="342900" indent="-342900">
              <a:spcAft>
                <a:spcPts val="700"/>
              </a:spcAft>
              <a:buSzPct val="100000"/>
              <a:buChar char="•"/>
            </a:pPr>
            <a:r>
              <a:rPr lang="en-US" sz="1250" dirty="0">
                <a:solidFill>
                  <a:srgbClr val="1F2A44"/>
                </a:solidFill>
                <a:latin typeface="Calibri" pitchFamily="34" charset="0"/>
                <a:ea typeface="Calibri" pitchFamily="34" charset="-122"/>
                <a:cs typeface="Calibri" pitchFamily="34" charset="-120"/>
              </a:rPr>
              <a:t>Construct inventory</a:t>
            </a:r>
            <a:endParaRPr lang="en-US" sz="1250" dirty="0"/>
          </a:p>
        </p:txBody>
      </p:sp>
      <p:sp>
        <p:nvSpPr>
          <p:cNvPr id="20" name="Text 16"/>
          <p:cNvSpPr/>
          <p:nvPr/>
        </p:nvSpPr>
        <p:spPr>
          <a:xfrm>
            <a:off x="548640" y="4160520"/>
            <a:ext cx="11091672" cy="320040"/>
          </a:xfrm>
          <a:prstGeom prst="rect">
            <a:avLst/>
          </a:prstGeom>
          <a:noFill/>
          <a:ln/>
        </p:spPr>
        <p:txBody>
          <a:bodyPr wrap="square" rtlCol="0" anchor="ctr"/>
          <a:lstStyle/>
          <a:p>
            <a:pPr indent="0" marL="0">
              <a:buNone/>
            </a:pPr>
            <a:r>
              <a:rPr lang="en-US" sz="1500" b="1" dirty="0">
                <a:solidFill>
                  <a:srgbClr val="14213D"/>
                </a:solidFill>
                <a:latin typeface="Cambria" pitchFamily="34" charset="0"/>
                <a:ea typeface="Cambria" pitchFamily="34" charset="-122"/>
                <a:cs typeface="Cambria" pitchFamily="34" charset="-120"/>
              </a:rPr>
              <a:t>Why regulated buyers need this</a:t>
            </a:r>
            <a:endParaRPr lang="en-US" sz="1500" dirty="0"/>
          </a:p>
        </p:txBody>
      </p:sp>
      <p:sp>
        <p:nvSpPr>
          <p:cNvPr id="21" name="Shape 17"/>
          <p:cNvSpPr/>
          <p:nvPr/>
        </p:nvSpPr>
        <p:spPr>
          <a:xfrm>
            <a:off x="548640" y="4553712"/>
            <a:ext cx="3514344" cy="1417320"/>
          </a:xfrm>
          <a:prstGeom prst="roundRect">
            <a:avLst>
              <a:gd name="adj" fmla="val 4516"/>
            </a:avLst>
          </a:prstGeom>
          <a:solidFill>
            <a:srgbClr val="FFFFFF"/>
          </a:solidFill>
          <a:ln w="12700">
            <a:solidFill>
              <a:srgbClr val="D9E0EC"/>
            </a:solidFill>
            <a:prstDash val="solid"/>
          </a:ln>
          <a:effectLst>
            <a:outerShdw sx="100000" sy="100000" kx="0" ky="0" algn="bl" rotWithShape="0" blurRad="88900" dist="38100" dir="5400000">
              <a:srgbClr val="9AA6BE">
                <a:alpha val="28000"/>
              </a:srgbClr>
            </a:outerShdw>
          </a:effectLst>
        </p:spPr>
      </p:sp>
      <p:sp>
        <p:nvSpPr>
          <p:cNvPr id="22" name="Shape 18"/>
          <p:cNvSpPr/>
          <p:nvPr/>
        </p:nvSpPr>
        <p:spPr>
          <a:xfrm>
            <a:off x="804672" y="4754880"/>
            <a:ext cx="548640" cy="548640"/>
          </a:xfrm>
          <a:prstGeom prst="ellipse">
            <a:avLst/>
          </a:prstGeom>
          <a:solidFill>
            <a:srgbClr val="14213D"/>
          </a:solidFill>
          <a:ln/>
        </p:spPr>
      </p:sp>
      <p:pic>
        <p:nvPicPr>
          <p:cNvPr id="23" name="Image 2" descr="preencoded.png">    </p:cNvPr>
          <p:cNvPicPr>
            <a:picLocks noChangeAspect="1"/>
          </p:cNvPicPr>
          <p:nvPr/>
        </p:nvPicPr>
        <p:blipFill>
          <a:blip r:embed="rId3"/>
          <a:stretch>
            <a:fillRect/>
          </a:stretch>
        </p:blipFill>
        <p:spPr>
          <a:xfrm>
            <a:off x="947318" y="4897526"/>
            <a:ext cx="263347" cy="263347"/>
          </a:xfrm>
          <a:prstGeom prst="rect">
            <a:avLst/>
          </a:prstGeom>
        </p:spPr>
      </p:pic>
      <p:sp>
        <p:nvSpPr>
          <p:cNvPr id="24" name="Text 19"/>
          <p:cNvSpPr/>
          <p:nvPr/>
        </p:nvSpPr>
        <p:spPr>
          <a:xfrm>
            <a:off x="777240" y="5394960"/>
            <a:ext cx="3057144" cy="502920"/>
          </a:xfrm>
          <a:prstGeom prst="rect">
            <a:avLst/>
          </a:prstGeom>
          <a:noFill/>
          <a:ln/>
        </p:spPr>
        <p:txBody>
          <a:bodyPr wrap="square" rtlCol="0" anchor="t"/>
          <a:lstStyle/>
          <a:p>
            <a:pPr indent="0" marL="0">
              <a:buNone/>
            </a:pPr>
            <a:r>
              <a:rPr lang="en-US" sz="1200" dirty="0">
                <a:solidFill>
                  <a:srgbClr val="1F2A44"/>
                </a:solidFill>
                <a:latin typeface="Calibri" pitchFamily="34" charset="0"/>
                <a:ea typeface="Calibri" pitchFamily="34" charset="-122"/>
                <a:cs typeface="Calibri" pitchFamily="34" charset="-120"/>
              </a:rPr>
              <a:t>US-only data, no offshore access — met by design.</a:t>
            </a:r>
            <a:endParaRPr lang="en-US" sz="1200" dirty="0"/>
          </a:p>
        </p:txBody>
      </p:sp>
      <p:sp>
        <p:nvSpPr>
          <p:cNvPr id="25" name="Shape 20"/>
          <p:cNvSpPr/>
          <p:nvPr/>
        </p:nvSpPr>
        <p:spPr>
          <a:xfrm>
            <a:off x="4337304" y="4553712"/>
            <a:ext cx="3514344" cy="1417320"/>
          </a:xfrm>
          <a:prstGeom prst="roundRect">
            <a:avLst>
              <a:gd name="adj" fmla="val 4516"/>
            </a:avLst>
          </a:prstGeom>
          <a:solidFill>
            <a:srgbClr val="FFFFFF"/>
          </a:solidFill>
          <a:ln w="12700">
            <a:solidFill>
              <a:srgbClr val="D9E0EC"/>
            </a:solidFill>
            <a:prstDash val="solid"/>
          </a:ln>
          <a:effectLst>
            <a:outerShdw sx="100000" sy="100000" kx="0" ky="0" algn="bl" rotWithShape="0" blurRad="88900" dist="38100" dir="5400000">
              <a:srgbClr val="9AA6BE">
                <a:alpha val="28000"/>
              </a:srgbClr>
            </a:outerShdw>
          </a:effectLst>
        </p:spPr>
      </p:sp>
      <p:sp>
        <p:nvSpPr>
          <p:cNvPr id="26" name="Shape 21"/>
          <p:cNvSpPr/>
          <p:nvPr/>
        </p:nvSpPr>
        <p:spPr>
          <a:xfrm>
            <a:off x="4593336" y="4754880"/>
            <a:ext cx="548640" cy="548640"/>
          </a:xfrm>
          <a:prstGeom prst="ellipse">
            <a:avLst/>
          </a:prstGeom>
          <a:solidFill>
            <a:srgbClr val="0F8B8D"/>
          </a:solidFill>
          <a:ln/>
        </p:spPr>
      </p:sp>
      <p:pic>
        <p:nvPicPr>
          <p:cNvPr id="27" name="Image 3" descr="preencoded.png">    </p:cNvPr>
          <p:cNvPicPr>
            <a:picLocks noChangeAspect="1"/>
          </p:cNvPicPr>
          <p:nvPr/>
        </p:nvPicPr>
        <p:blipFill>
          <a:blip r:embed="rId4"/>
          <a:stretch>
            <a:fillRect/>
          </a:stretch>
        </p:blipFill>
        <p:spPr>
          <a:xfrm>
            <a:off x="4735982" y="4897526"/>
            <a:ext cx="263347" cy="263347"/>
          </a:xfrm>
          <a:prstGeom prst="rect">
            <a:avLst/>
          </a:prstGeom>
        </p:spPr>
      </p:pic>
      <p:sp>
        <p:nvSpPr>
          <p:cNvPr id="28" name="Text 22"/>
          <p:cNvSpPr/>
          <p:nvPr/>
        </p:nvSpPr>
        <p:spPr>
          <a:xfrm>
            <a:off x="4565904" y="5394960"/>
            <a:ext cx="3057144" cy="502920"/>
          </a:xfrm>
          <a:prstGeom prst="rect">
            <a:avLst/>
          </a:prstGeom>
          <a:noFill/>
          <a:ln/>
        </p:spPr>
        <p:txBody>
          <a:bodyPr wrap="square" rtlCol="0" anchor="t"/>
          <a:lstStyle/>
          <a:p>
            <a:pPr indent="0" marL="0">
              <a:buNone/>
            </a:pPr>
            <a:r>
              <a:rPr lang="en-US" sz="1200" dirty="0">
                <a:solidFill>
                  <a:srgbClr val="1F2A44"/>
                </a:solidFill>
                <a:latin typeface="Calibri" pitchFamily="34" charset="0"/>
                <a:ea typeface="Calibri" pitchFamily="34" charset="-122"/>
                <a:cs typeface="Calibri" pitchFamily="34" charset="-120"/>
              </a:rPr>
              <a:t>No customer source enters any generative-AI query.</a:t>
            </a:r>
            <a:endParaRPr lang="en-US" sz="1200" dirty="0"/>
          </a:p>
        </p:txBody>
      </p:sp>
      <p:sp>
        <p:nvSpPr>
          <p:cNvPr id="29" name="Shape 23"/>
          <p:cNvSpPr/>
          <p:nvPr/>
        </p:nvSpPr>
        <p:spPr>
          <a:xfrm>
            <a:off x="8125968" y="4553712"/>
            <a:ext cx="3514344" cy="1417320"/>
          </a:xfrm>
          <a:prstGeom prst="roundRect">
            <a:avLst>
              <a:gd name="adj" fmla="val 4516"/>
            </a:avLst>
          </a:prstGeom>
          <a:solidFill>
            <a:srgbClr val="FFFFFF"/>
          </a:solidFill>
          <a:ln w="12700">
            <a:solidFill>
              <a:srgbClr val="D9E0EC"/>
            </a:solidFill>
            <a:prstDash val="solid"/>
          </a:ln>
          <a:effectLst>
            <a:outerShdw sx="100000" sy="100000" kx="0" ky="0" algn="bl" rotWithShape="0" blurRad="88900" dist="38100" dir="5400000">
              <a:srgbClr val="9AA6BE">
                <a:alpha val="28000"/>
              </a:srgbClr>
            </a:outerShdw>
          </a:effectLst>
        </p:spPr>
      </p:sp>
      <p:sp>
        <p:nvSpPr>
          <p:cNvPr id="30" name="Shape 24"/>
          <p:cNvSpPr/>
          <p:nvPr/>
        </p:nvSpPr>
        <p:spPr>
          <a:xfrm>
            <a:off x="8382000" y="4754880"/>
            <a:ext cx="548640" cy="548640"/>
          </a:xfrm>
          <a:prstGeom prst="ellipse">
            <a:avLst/>
          </a:prstGeom>
          <a:solidFill>
            <a:srgbClr val="2FBF71"/>
          </a:solidFill>
          <a:ln/>
        </p:spPr>
      </p:sp>
      <p:pic>
        <p:nvPicPr>
          <p:cNvPr id="31" name="Image 4" descr="preencoded.png">    </p:cNvPr>
          <p:cNvPicPr>
            <a:picLocks noChangeAspect="1"/>
          </p:cNvPicPr>
          <p:nvPr/>
        </p:nvPicPr>
        <p:blipFill>
          <a:blip r:embed="rId5"/>
          <a:stretch>
            <a:fillRect/>
          </a:stretch>
        </p:blipFill>
        <p:spPr>
          <a:xfrm>
            <a:off x="8524646" y="4897526"/>
            <a:ext cx="263347" cy="263347"/>
          </a:xfrm>
          <a:prstGeom prst="rect">
            <a:avLst/>
          </a:prstGeom>
        </p:spPr>
      </p:pic>
      <p:sp>
        <p:nvSpPr>
          <p:cNvPr id="32" name="Text 25"/>
          <p:cNvSpPr/>
          <p:nvPr/>
        </p:nvSpPr>
        <p:spPr>
          <a:xfrm>
            <a:off x="8354568" y="5394960"/>
            <a:ext cx="3057144" cy="502920"/>
          </a:xfrm>
          <a:prstGeom prst="rect">
            <a:avLst/>
          </a:prstGeom>
          <a:noFill/>
          <a:ln/>
        </p:spPr>
        <p:txBody>
          <a:bodyPr wrap="square" rtlCol="0" anchor="t"/>
          <a:lstStyle/>
          <a:p>
            <a:pPr indent="0" marL="0">
              <a:buNone/>
            </a:pPr>
            <a:r>
              <a:rPr lang="en-US" sz="1200" dirty="0">
                <a:solidFill>
                  <a:srgbClr val="1F2A44"/>
                </a:solidFill>
                <a:latin typeface="Calibri" pitchFamily="34" charset="0"/>
                <a:ea typeface="Calibri" pitchFamily="34" charset="-122"/>
                <a:cs typeface="Calibri" pitchFamily="34" charset="-120"/>
              </a:rPr>
              <a:t>Signed ledger + CI history is the audit package.</a:t>
            </a:r>
            <a:endParaRPr lang="en-US" sz="1200" dirty="0"/>
          </a:p>
        </p:txBody>
      </p:sp>
      <p:sp>
        <p:nvSpPr>
          <p:cNvPr id="33" name="Text 26"/>
          <p:cNvSpPr/>
          <p:nvPr/>
        </p:nvSpPr>
        <p:spPr>
          <a:xfrm>
            <a:off x="548640" y="6172200"/>
            <a:ext cx="11091672" cy="320040"/>
          </a:xfrm>
          <a:prstGeom prst="rect">
            <a:avLst/>
          </a:prstGeom>
          <a:noFill/>
          <a:ln/>
        </p:spPr>
        <p:txBody>
          <a:bodyPr wrap="square" rtlCol="0" anchor="ctr"/>
          <a:lstStyle/>
          <a:p>
            <a:pPr algn="ctr" indent="0" marL="0">
              <a:buNone/>
            </a:pPr>
            <a:r>
              <a:rPr lang="en-US" sz="1200" i="1" dirty="0">
                <a:solidFill>
                  <a:srgbClr val="5B6B85"/>
                </a:solidFill>
                <a:latin typeface="Calibri" pitchFamily="34" charset="0"/>
                <a:ea typeface="Calibri" pitchFamily="34" charset="-122"/>
                <a:cs typeface="Calibri" pitchFamily="34" charset="-120"/>
              </a:rPr>
              <a:t>The source never leaves. Only the signed proof travels — and it stays verifiable even if Visionblox does not.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82296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The Two Assessments: Thin Slices of the Substrate</a:t>
            </a:r>
            <a:endParaRPr lang="en-US" sz="3000" dirty="0"/>
          </a:p>
        </p:txBody>
      </p:sp>
      <p:sp>
        <p:nvSpPr>
          <p:cNvPr id="3" name="Shape 1"/>
          <p:cNvSpPr/>
          <p:nvPr/>
        </p:nvSpPr>
        <p:spPr>
          <a:xfrm>
            <a:off x="548640" y="1417320"/>
            <a:ext cx="5317236" cy="3977640"/>
          </a:xfrm>
          <a:prstGeom prst="roundRect">
            <a:avLst>
              <a:gd name="adj" fmla="val 1839"/>
            </a:avLst>
          </a:prstGeom>
          <a:solidFill>
            <a:srgbClr val="FFFFFF"/>
          </a:solidFill>
          <a:ln w="15875">
            <a:solidFill>
              <a:srgbClr val="0F8B8D"/>
            </a:solidFill>
            <a:prstDash val="solid"/>
          </a:ln>
          <a:effectLst>
            <a:outerShdw sx="100000" sy="100000" kx="0" ky="0" algn="bl" rotWithShape="0" blurRad="88900" dist="38100" dir="5400000">
              <a:srgbClr val="9AA6BE">
                <a:alpha val="28000"/>
              </a:srgbClr>
            </a:outerShdw>
          </a:effectLst>
        </p:spPr>
      </p:sp>
      <p:sp>
        <p:nvSpPr>
          <p:cNvPr id="4" name="Shape 2"/>
          <p:cNvSpPr/>
          <p:nvPr/>
        </p:nvSpPr>
        <p:spPr>
          <a:xfrm>
            <a:off x="841248" y="1709928"/>
            <a:ext cx="685800" cy="685800"/>
          </a:xfrm>
          <a:prstGeom prst="ellipse">
            <a:avLst/>
          </a:prstGeom>
          <a:solidFill>
            <a:srgbClr val="0F8B8D"/>
          </a:solidFill>
          <a:ln/>
        </p:spPr>
      </p:sp>
      <p:pic>
        <p:nvPicPr>
          <p:cNvPr id="5" name="Image 0" descr="preencoded.png">    </p:cNvPr>
          <p:cNvPicPr>
            <a:picLocks noChangeAspect="1"/>
          </p:cNvPicPr>
          <p:nvPr/>
        </p:nvPicPr>
        <p:blipFill>
          <a:blip r:embed="rId1"/>
          <a:stretch>
            <a:fillRect/>
          </a:stretch>
        </p:blipFill>
        <p:spPr>
          <a:xfrm>
            <a:off x="1019556" y="1888236"/>
            <a:ext cx="329184" cy="329184"/>
          </a:xfrm>
          <a:prstGeom prst="rect">
            <a:avLst/>
          </a:prstGeom>
        </p:spPr>
      </p:pic>
      <p:sp>
        <p:nvSpPr>
          <p:cNvPr id="6" name="Text 3"/>
          <p:cNvSpPr/>
          <p:nvPr/>
        </p:nvSpPr>
        <p:spPr>
          <a:xfrm>
            <a:off x="4037076" y="1618488"/>
            <a:ext cx="1600200" cy="640080"/>
          </a:xfrm>
          <a:prstGeom prst="rect">
            <a:avLst/>
          </a:prstGeom>
          <a:noFill/>
          <a:ln/>
        </p:spPr>
        <p:txBody>
          <a:bodyPr wrap="square" rtlCol="0" anchor="ctr"/>
          <a:lstStyle/>
          <a:p>
            <a:pPr algn="r" indent="0" marL="0">
              <a:buNone/>
            </a:pPr>
            <a:r>
              <a:rPr lang="en-US" sz="3400" b="1" dirty="0">
                <a:solidFill>
                  <a:srgbClr val="0F8B8D"/>
                </a:solidFill>
                <a:latin typeface="Cambria" pitchFamily="34" charset="0"/>
                <a:ea typeface="Cambria" pitchFamily="34" charset="-122"/>
                <a:cs typeface="Cambria" pitchFamily="34" charset="-120"/>
              </a:rPr>
              <a:t>$8K</a:t>
            </a:r>
            <a:endParaRPr lang="en-US" sz="3400" dirty="0"/>
          </a:p>
        </p:txBody>
      </p:sp>
      <p:sp>
        <p:nvSpPr>
          <p:cNvPr id="7" name="Text 4"/>
          <p:cNvSpPr/>
          <p:nvPr/>
        </p:nvSpPr>
        <p:spPr>
          <a:xfrm>
            <a:off x="1645920" y="1737360"/>
            <a:ext cx="2482596" cy="640080"/>
          </a:xfrm>
          <a:prstGeom prst="rect">
            <a:avLst/>
          </a:prstGeom>
          <a:noFill/>
          <a:ln/>
        </p:spPr>
        <p:txBody>
          <a:bodyPr wrap="square"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Legacy Code Assessment</a:t>
            </a:r>
            <a:endParaRPr lang="en-US" sz="1600" dirty="0"/>
          </a:p>
        </p:txBody>
      </p:sp>
      <p:sp>
        <p:nvSpPr>
          <p:cNvPr id="8" name="Text 5"/>
          <p:cNvSpPr/>
          <p:nvPr/>
        </p:nvSpPr>
        <p:spPr>
          <a:xfrm>
            <a:off x="868680" y="2514600"/>
            <a:ext cx="4677156" cy="457200"/>
          </a:xfrm>
          <a:prstGeom prst="rect">
            <a:avLst/>
          </a:prstGeom>
          <a:noFill/>
          <a:ln/>
        </p:spPr>
        <p:txBody>
          <a:bodyPr wrap="square" rtlCol="0" anchor="ctr"/>
          <a:lstStyle/>
          <a:p>
            <a:pPr indent="0" marL="0">
              <a:buNone/>
            </a:pPr>
            <a:r>
              <a:rPr lang="en-US" sz="1300" i="1" dirty="0">
                <a:solidFill>
                  <a:srgbClr val="1F2A44"/>
                </a:solidFill>
                <a:latin typeface="Calibri" pitchFamily="34" charset="0"/>
                <a:ea typeface="Calibri" pitchFamily="34" charset="-122"/>
                <a:cs typeface="Calibri" pitchFamily="34" charset="-120"/>
              </a:rPr>
              <a:t>Point at a COBOL codebase → a signed Assessment Report:</a:t>
            </a:r>
            <a:endParaRPr lang="en-US" sz="1300" dirty="0"/>
          </a:p>
        </p:txBody>
      </p:sp>
      <p:sp>
        <p:nvSpPr>
          <p:cNvPr id="9" name="Text 6"/>
          <p:cNvSpPr/>
          <p:nvPr/>
        </p:nvSpPr>
        <p:spPr>
          <a:xfrm>
            <a:off x="868680" y="3017520"/>
            <a:ext cx="4677156" cy="1828800"/>
          </a:xfrm>
          <a:prstGeom prst="rect">
            <a:avLst/>
          </a:prstGeom>
          <a:noFill/>
          <a:ln/>
        </p:spPr>
        <p:txBody>
          <a:bodyPr wrap="square" rtlCol="0" anchor="ctr"/>
          <a:lstStyle/>
          <a:p>
            <a:pPr marL="342900" indent="-342900">
              <a:spcAft>
                <a:spcPts val="800"/>
              </a:spcAft>
              <a:buSzPct val="100000"/>
              <a:buChar char="•"/>
            </a:pPr>
            <a:r>
              <a:rPr lang="en-US" sz="1300" dirty="0">
                <a:solidFill>
                  <a:srgbClr val="1F2A44"/>
                </a:solidFill>
                <a:latin typeface="Calibri" pitchFamily="34" charset="0"/>
                <a:ea typeface="Calibri" pitchFamily="34" charset="-122"/>
                <a:cs typeface="Calibri" pitchFamily="34" charset="-120"/>
              </a:rPr>
              <a:t>LOC inventory (physical / logical / comment)</a:t>
            </a:r>
            <a:endParaRPr lang="en-US" sz="1300" dirty="0"/>
          </a:p>
          <a:p>
            <a:pPr marL="342900" indent="-342900">
              <a:spcAft>
                <a:spcPts val="800"/>
              </a:spcAft>
              <a:buSzPct val="100000"/>
              <a:buChar char="•"/>
            </a:pPr>
            <a:r>
              <a:rPr lang="en-US" sz="1300" dirty="0">
                <a:solidFill>
                  <a:srgbClr val="1F2A44"/>
                </a:solidFill>
                <a:latin typeface="Calibri" pitchFamily="34" charset="0"/>
                <a:ea typeface="Calibri" pitchFamily="34" charset="-122"/>
                <a:cs typeface="Calibri" pitchFamily="34" charset="-120"/>
              </a:rPr>
              <a:t>Construct-coverage map vs. the C1 grammar</a:t>
            </a:r>
            <a:endParaRPr lang="en-US" sz="1300" dirty="0"/>
          </a:p>
          <a:p>
            <a:pPr marL="342900" indent="-342900">
              <a:spcAft>
                <a:spcPts val="800"/>
              </a:spcAft>
              <a:buSzPct val="100000"/>
              <a:buChar char="•"/>
            </a:pPr>
            <a:r>
              <a:rPr lang="en-US" sz="1300" dirty="0">
                <a:solidFill>
                  <a:srgbClr val="1F2A44"/>
                </a:solidFill>
                <a:latin typeface="Calibri" pitchFamily="34" charset="0"/>
                <a:ea typeface="Calibri" pitchFamily="34" charset="-122"/>
                <a:cs typeface="Calibri" pitchFamily="34" charset="-120"/>
              </a:rPr>
              <a:t>Complexity scoring + ranked risk profile</a:t>
            </a:r>
            <a:endParaRPr lang="en-US" sz="1300" dirty="0"/>
          </a:p>
          <a:p>
            <a:pPr marL="342900" indent="-342900">
              <a:spcAft>
                <a:spcPts val="800"/>
              </a:spcAft>
              <a:buSzPct val="100000"/>
              <a:buChar char="•"/>
            </a:pPr>
            <a:r>
              <a:rPr lang="en-US" sz="1300" dirty="0">
                <a:solidFill>
                  <a:srgbClr val="1F2A44"/>
                </a:solidFill>
                <a:latin typeface="Calibri" pitchFamily="34" charset="0"/>
                <a:ea typeface="Calibri" pitchFamily="34" charset="-122"/>
                <a:cs typeface="Calibri" pitchFamily="34" charset="-120"/>
              </a:rPr>
              <a:t>Migration-scope recommendation</a:t>
            </a:r>
            <a:endParaRPr lang="en-US" sz="1300" dirty="0"/>
          </a:p>
          <a:p>
            <a:pPr marL="342900" indent="-342900">
              <a:spcAft>
                <a:spcPts val="800"/>
              </a:spcAft>
              <a:buSzPct val="100000"/>
              <a:buChar char="•"/>
            </a:pPr>
            <a:r>
              <a:rPr lang="en-US" sz="1300" dirty="0">
                <a:solidFill>
                  <a:srgbClr val="1F2A44"/>
                </a:solidFill>
                <a:latin typeface="Calibri" pitchFamily="34" charset="0"/>
                <a:ea typeface="Calibri" pitchFamily="34" charset="-122"/>
                <a:cs typeface="Calibri" pitchFamily="34" charset="-120"/>
              </a:rPr>
              <a:t>Reproducible; ledger entry per engagement; &lt; 1 day</a:t>
            </a:r>
            <a:endParaRPr lang="en-US" sz="1300" dirty="0"/>
          </a:p>
        </p:txBody>
      </p:sp>
      <p:sp>
        <p:nvSpPr>
          <p:cNvPr id="10" name="Shape 7"/>
          <p:cNvSpPr/>
          <p:nvPr/>
        </p:nvSpPr>
        <p:spPr>
          <a:xfrm>
            <a:off x="868680" y="4937760"/>
            <a:ext cx="3276295" cy="274320"/>
          </a:xfrm>
          <a:prstGeom prst="roundRect">
            <a:avLst>
              <a:gd name="adj" fmla="val 50000"/>
            </a:avLst>
          </a:prstGeom>
          <a:solidFill>
            <a:srgbClr val="E7F7EE"/>
          </a:solidFill>
          <a:ln w="12700">
            <a:solidFill>
              <a:srgbClr val="2FBF71"/>
            </a:solidFill>
            <a:prstDash val="solid"/>
          </a:ln>
        </p:spPr>
      </p:sp>
      <p:sp>
        <p:nvSpPr>
          <p:cNvPr id="11" name="Text 8"/>
          <p:cNvSpPr/>
          <p:nvPr/>
        </p:nvSpPr>
        <p:spPr>
          <a:xfrm>
            <a:off x="868680" y="4937760"/>
            <a:ext cx="3276295" cy="274320"/>
          </a:xfrm>
          <a:prstGeom prst="rect">
            <a:avLst/>
          </a:prstGeom>
          <a:noFill/>
          <a:ln/>
        </p:spPr>
        <p:txBody>
          <a:bodyPr wrap="square" lIns="0" tIns="0" rIns="0" bIns="0" rtlCol="0" anchor="ctr"/>
          <a:lstStyle/>
          <a:p>
            <a:pPr algn="ctr" indent="0" marL="0">
              <a:buNone/>
            </a:pPr>
            <a:r>
              <a:rPr lang="en-US" sz="1050" b="1" dirty="0">
                <a:solidFill>
                  <a:srgbClr val="2FBF71"/>
                </a:solidFill>
                <a:latin typeface="Calibri" pitchFamily="34" charset="0"/>
                <a:ea typeface="Calibri" pitchFamily="34" charset="-122"/>
                <a:cs typeface="Calibri" pitchFamily="34" charset="-120"/>
              </a:rPr>
              <a:t>● Direct-select  (≤ $10K, no competition)</a:t>
            </a:r>
            <a:endParaRPr lang="en-US" sz="1050" dirty="0"/>
          </a:p>
        </p:txBody>
      </p:sp>
      <p:sp>
        <p:nvSpPr>
          <p:cNvPr id="12" name="Shape 9"/>
          <p:cNvSpPr/>
          <p:nvPr/>
        </p:nvSpPr>
        <p:spPr>
          <a:xfrm>
            <a:off x="6323076" y="1417320"/>
            <a:ext cx="5317236" cy="3977640"/>
          </a:xfrm>
          <a:prstGeom prst="roundRect">
            <a:avLst>
              <a:gd name="adj" fmla="val 1839"/>
            </a:avLst>
          </a:prstGeom>
          <a:solidFill>
            <a:srgbClr val="FFFFFF"/>
          </a:solidFill>
          <a:ln w="15875">
            <a:solidFill>
              <a:srgbClr val="14213D"/>
            </a:solidFill>
            <a:prstDash val="solid"/>
          </a:ln>
          <a:effectLst>
            <a:outerShdw sx="100000" sy="100000" kx="0" ky="0" algn="bl" rotWithShape="0" blurRad="88900" dist="38100" dir="5400000">
              <a:srgbClr val="9AA6BE">
                <a:alpha val="28000"/>
              </a:srgbClr>
            </a:outerShdw>
          </a:effectLst>
        </p:spPr>
      </p:sp>
      <p:sp>
        <p:nvSpPr>
          <p:cNvPr id="13" name="Shape 10"/>
          <p:cNvSpPr/>
          <p:nvPr/>
        </p:nvSpPr>
        <p:spPr>
          <a:xfrm>
            <a:off x="6615684" y="1709928"/>
            <a:ext cx="685800" cy="685800"/>
          </a:xfrm>
          <a:prstGeom prst="ellipse">
            <a:avLst/>
          </a:prstGeom>
          <a:solidFill>
            <a:srgbClr val="14213D"/>
          </a:solidFill>
          <a:ln/>
        </p:spPr>
      </p:sp>
      <p:pic>
        <p:nvPicPr>
          <p:cNvPr id="14" name="Image 1" descr="preencoded.png">    </p:cNvPr>
          <p:cNvPicPr>
            <a:picLocks noChangeAspect="1"/>
          </p:cNvPicPr>
          <p:nvPr/>
        </p:nvPicPr>
        <p:blipFill>
          <a:blip r:embed="rId2"/>
          <a:stretch>
            <a:fillRect/>
          </a:stretch>
        </p:blipFill>
        <p:spPr>
          <a:xfrm>
            <a:off x="6793992" y="1888236"/>
            <a:ext cx="329184" cy="329184"/>
          </a:xfrm>
          <a:prstGeom prst="rect">
            <a:avLst/>
          </a:prstGeom>
        </p:spPr>
      </p:pic>
      <p:sp>
        <p:nvSpPr>
          <p:cNvPr id="15" name="Text 11"/>
          <p:cNvSpPr/>
          <p:nvPr/>
        </p:nvSpPr>
        <p:spPr>
          <a:xfrm>
            <a:off x="9674352" y="1618488"/>
            <a:ext cx="1737360" cy="640080"/>
          </a:xfrm>
          <a:prstGeom prst="rect">
            <a:avLst/>
          </a:prstGeom>
          <a:noFill/>
          <a:ln/>
        </p:spPr>
        <p:txBody>
          <a:bodyPr wrap="square" rtlCol="0" anchor="ctr"/>
          <a:lstStyle/>
          <a:p>
            <a:pPr algn="r" indent="0" marL="0">
              <a:buNone/>
            </a:pPr>
            <a:r>
              <a:rPr lang="en-US" sz="3400" b="1" dirty="0">
                <a:solidFill>
                  <a:srgbClr val="14213D"/>
                </a:solidFill>
                <a:latin typeface="Cambria" pitchFamily="34" charset="0"/>
                <a:ea typeface="Cambria" pitchFamily="34" charset="-122"/>
                <a:cs typeface="Cambria" pitchFamily="34" charset="-120"/>
              </a:rPr>
              <a:t>$12K</a:t>
            </a:r>
            <a:endParaRPr lang="en-US" sz="3400" dirty="0"/>
          </a:p>
        </p:txBody>
      </p:sp>
      <p:sp>
        <p:nvSpPr>
          <p:cNvPr id="16" name="Text 12"/>
          <p:cNvSpPr/>
          <p:nvPr/>
        </p:nvSpPr>
        <p:spPr>
          <a:xfrm>
            <a:off x="7420356" y="1737360"/>
            <a:ext cx="2391156" cy="640080"/>
          </a:xfrm>
          <a:prstGeom prst="rect">
            <a:avLst/>
          </a:prstGeom>
          <a:noFill/>
          <a:ln/>
        </p:spPr>
        <p:txBody>
          <a:bodyPr wrap="square"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Data Discovery</a:t>
            </a:r>
            <a:endParaRPr lang="en-US" sz="1600" dirty="0"/>
          </a:p>
        </p:txBody>
      </p:sp>
      <p:sp>
        <p:nvSpPr>
          <p:cNvPr id="17" name="Text 13"/>
          <p:cNvSpPr/>
          <p:nvPr/>
        </p:nvSpPr>
        <p:spPr>
          <a:xfrm>
            <a:off x="6643116" y="2514600"/>
            <a:ext cx="4677156" cy="457200"/>
          </a:xfrm>
          <a:prstGeom prst="rect">
            <a:avLst/>
          </a:prstGeom>
          <a:noFill/>
          <a:ln/>
        </p:spPr>
        <p:txBody>
          <a:bodyPr wrap="square" rtlCol="0" anchor="ctr"/>
          <a:lstStyle/>
          <a:p>
            <a:pPr indent="0" marL="0">
              <a:buNone/>
            </a:pPr>
            <a:r>
              <a:rPr lang="en-US" sz="1300" i="1" dirty="0">
                <a:solidFill>
                  <a:srgbClr val="1F2A44"/>
                </a:solidFill>
                <a:latin typeface="Calibri" pitchFamily="34" charset="0"/>
                <a:ea typeface="Calibri" pitchFamily="34" charset="-122"/>
                <a:cs typeface="Calibri" pitchFamily="34" charset="-120"/>
              </a:rPr>
              <a:t>Point at copybooks + JCL + programs → a signed Data Discovery Report:</a:t>
            </a:r>
            <a:endParaRPr lang="en-US" sz="1300" dirty="0"/>
          </a:p>
        </p:txBody>
      </p:sp>
      <p:sp>
        <p:nvSpPr>
          <p:cNvPr id="18" name="Text 14"/>
          <p:cNvSpPr/>
          <p:nvPr/>
        </p:nvSpPr>
        <p:spPr>
          <a:xfrm>
            <a:off x="6643116" y="3017520"/>
            <a:ext cx="4677156" cy="1828800"/>
          </a:xfrm>
          <a:prstGeom prst="rect">
            <a:avLst/>
          </a:prstGeom>
          <a:noFill/>
          <a:ln/>
        </p:spPr>
        <p:txBody>
          <a:bodyPr wrap="square" rtlCol="0" anchor="ctr"/>
          <a:lstStyle/>
          <a:p>
            <a:pPr marL="342900" indent="-342900">
              <a:spcAft>
                <a:spcPts val="800"/>
              </a:spcAft>
              <a:buSzPct val="100000"/>
              <a:buChar char="•"/>
            </a:pPr>
            <a:r>
              <a:rPr lang="en-US" sz="1300" dirty="0">
                <a:solidFill>
                  <a:srgbClr val="1F2A44"/>
                </a:solidFill>
                <a:latin typeface="Calibri" pitchFamily="34" charset="0"/>
                <a:ea typeface="Calibri" pitchFamily="34" charset="-122"/>
                <a:cs typeface="Calibri" pitchFamily="34" charset="-120"/>
              </a:rPr>
              <a:t>Field-level data dictionary</a:t>
            </a:r>
            <a:endParaRPr lang="en-US" sz="1300" dirty="0"/>
          </a:p>
          <a:p>
            <a:pPr marL="342900" indent="-342900">
              <a:spcAft>
                <a:spcPts val="800"/>
              </a:spcAft>
              <a:buSzPct val="100000"/>
              <a:buChar char="•"/>
            </a:pPr>
            <a:r>
              <a:rPr lang="en-US" sz="1300" dirty="0">
                <a:solidFill>
                  <a:srgbClr val="1F2A44"/>
                </a:solidFill>
                <a:latin typeface="Calibri" pitchFamily="34" charset="0"/>
                <a:ea typeface="Calibri" pitchFamily="34" charset="-122"/>
                <a:cs typeface="Calibri" pitchFamily="34" charset="-120"/>
              </a:rPr>
              <a:t>Record layouts (REDEFINES / OCCURS / COMP resolved)</a:t>
            </a:r>
            <a:endParaRPr lang="en-US" sz="1300" dirty="0"/>
          </a:p>
          <a:p>
            <a:pPr marL="342900" indent="-342900">
              <a:spcAft>
                <a:spcPts val="800"/>
              </a:spcAft>
              <a:buSzPct val="100000"/>
              <a:buChar char="•"/>
            </a:pPr>
            <a:r>
              <a:rPr lang="en-US" sz="1300" dirty="0">
                <a:solidFill>
                  <a:srgbClr val="1F2A44"/>
                </a:solidFill>
                <a:latin typeface="Calibri" pitchFamily="34" charset="0"/>
                <a:ea typeface="Calibri" pitchFamily="34" charset="-122"/>
                <a:cs typeface="Calibri" pitchFamily="34" charset="-120"/>
              </a:rPr>
              <a:t>File inventory + program-to-file lineage map</a:t>
            </a:r>
            <a:endParaRPr lang="en-US" sz="1300" dirty="0"/>
          </a:p>
          <a:p>
            <a:pPr marL="342900" indent="-342900">
              <a:spcAft>
                <a:spcPts val="800"/>
              </a:spcAft>
              <a:buSzPct val="100000"/>
              <a:buChar char="•"/>
            </a:pPr>
            <a:r>
              <a:rPr lang="en-US" sz="1300" dirty="0">
                <a:solidFill>
                  <a:srgbClr val="1F2A44"/>
                </a:solidFill>
                <a:latin typeface="Calibri" pitchFamily="34" charset="0"/>
                <a:ea typeface="Calibri" pitchFamily="34" charset="-122"/>
                <a:cs typeface="Calibri" pitchFamily="34" charset="-120"/>
              </a:rPr>
              <a:t>Draft relational target schema (DDL)</a:t>
            </a:r>
            <a:endParaRPr lang="en-US" sz="1300" dirty="0"/>
          </a:p>
        </p:txBody>
      </p:sp>
      <p:sp>
        <p:nvSpPr>
          <p:cNvPr id="19" name="Shape 15"/>
          <p:cNvSpPr/>
          <p:nvPr/>
        </p:nvSpPr>
        <p:spPr>
          <a:xfrm>
            <a:off x="6643116" y="4937760"/>
            <a:ext cx="3655771" cy="274320"/>
          </a:xfrm>
          <a:prstGeom prst="roundRect">
            <a:avLst>
              <a:gd name="adj" fmla="val 50000"/>
            </a:avLst>
          </a:prstGeom>
          <a:solidFill>
            <a:srgbClr val="FBF0DF"/>
          </a:solidFill>
          <a:ln w="12700">
            <a:solidFill>
              <a:srgbClr val="E0912F"/>
            </a:solidFill>
            <a:prstDash val="solid"/>
          </a:ln>
        </p:spPr>
      </p:sp>
      <p:sp>
        <p:nvSpPr>
          <p:cNvPr id="20" name="Text 16"/>
          <p:cNvSpPr/>
          <p:nvPr/>
        </p:nvSpPr>
        <p:spPr>
          <a:xfrm>
            <a:off x="6643116" y="4937760"/>
            <a:ext cx="3655771" cy="274320"/>
          </a:xfrm>
          <a:prstGeom prst="rect">
            <a:avLst/>
          </a:prstGeom>
          <a:noFill/>
          <a:ln/>
        </p:spPr>
        <p:txBody>
          <a:bodyPr wrap="square" lIns="0" tIns="0" rIns="0" bIns="0" rtlCol="0" anchor="ctr"/>
          <a:lstStyle/>
          <a:p>
            <a:pPr algn="ctr" indent="0" marL="0">
              <a:buNone/>
            </a:pPr>
            <a:r>
              <a:rPr lang="en-US" sz="1050" b="1" dirty="0">
                <a:solidFill>
                  <a:srgbClr val="E0912F"/>
                </a:solidFill>
                <a:latin typeface="Calibri" pitchFamily="34" charset="0"/>
                <a:ea typeface="Calibri" pitchFamily="34" charset="-122"/>
                <a:cs typeface="Calibri" pitchFamily="34" charset="-120"/>
              </a:rPr>
              <a:t>● Priced just over $10K — confirm lane with CO</a:t>
            </a:r>
            <a:endParaRPr lang="en-US" sz="1050" dirty="0"/>
          </a:p>
        </p:txBody>
      </p:sp>
      <p:sp>
        <p:nvSpPr>
          <p:cNvPr id="21" name="Text 17"/>
          <p:cNvSpPr/>
          <p:nvPr/>
        </p:nvSpPr>
        <p:spPr>
          <a:xfrm>
            <a:off x="548640" y="5669280"/>
            <a:ext cx="11091672" cy="548640"/>
          </a:xfrm>
          <a:prstGeom prst="rect">
            <a:avLst/>
          </a:prstGeom>
          <a:noFill/>
          <a:ln/>
        </p:spPr>
        <p:txBody>
          <a:bodyPr wrap="square" rtlCol="0" anchor="ctr"/>
          <a:lstStyle/>
          <a:p>
            <a:pPr algn="ctr" indent="0" marL="0">
              <a:buNone/>
            </a:pPr>
            <a:r>
              <a:rPr lang="en-US" sz="1300" b="1" i="1" dirty="0">
                <a:solidFill>
                  <a:srgbClr val="0F8B8D"/>
                </a:solidFill>
                <a:latin typeface="Calibri" pitchFamily="34" charset="0"/>
                <a:ea typeface="Calibri" pitchFamily="34" charset="-122"/>
                <a:cs typeface="Calibri" pitchFamily="34" charset="-120"/>
              </a:rPr>
              <a:t>Every number is measured or None. The assessment report writes the follow-on migration SOW.</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91672" cy="82296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Two Buyers, One Substrate</a:t>
            </a:r>
            <a:endParaRPr lang="en-US" sz="3000" dirty="0"/>
          </a:p>
        </p:txBody>
      </p:sp>
      <p:sp>
        <p:nvSpPr>
          <p:cNvPr id="3" name="Shape 1"/>
          <p:cNvSpPr/>
          <p:nvPr/>
        </p:nvSpPr>
        <p:spPr>
          <a:xfrm>
            <a:off x="548640" y="1371600"/>
            <a:ext cx="5317236" cy="3840480"/>
          </a:xfrm>
          <a:prstGeom prst="roundRect">
            <a:avLst>
              <a:gd name="adj" fmla="val 1905"/>
            </a:avLst>
          </a:prstGeom>
          <a:solidFill>
            <a:srgbClr val="F3F6FC"/>
          </a:solidFill>
          <a:ln/>
          <a:effectLst>
            <a:outerShdw sx="100000" sy="100000" kx="0" ky="0" algn="bl" rotWithShape="0" blurRad="88900" dist="38100" dir="5400000">
              <a:srgbClr val="9AA6BE">
                <a:alpha val="28000"/>
              </a:srgbClr>
            </a:outerShdw>
          </a:effectLst>
        </p:spPr>
      </p:sp>
      <p:sp>
        <p:nvSpPr>
          <p:cNvPr id="4" name="Shape 2"/>
          <p:cNvSpPr/>
          <p:nvPr/>
        </p:nvSpPr>
        <p:spPr>
          <a:xfrm>
            <a:off x="841248" y="1645920"/>
            <a:ext cx="685800" cy="685800"/>
          </a:xfrm>
          <a:prstGeom prst="ellipse">
            <a:avLst/>
          </a:prstGeom>
          <a:solidFill>
            <a:srgbClr val="0F8B8D"/>
          </a:solidFill>
          <a:ln/>
        </p:spPr>
      </p:sp>
      <p:pic>
        <p:nvPicPr>
          <p:cNvPr id="5" name="Image 0" descr="preencoded.png">    </p:cNvPr>
          <p:cNvPicPr>
            <a:picLocks noChangeAspect="1"/>
          </p:cNvPicPr>
          <p:nvPr/>
        </p:nvPicPr>
        <p:blipFill>
          <a:blip r:embed="rId1"/>
          <a:stretch>
            <a:fillRect/>
          </a:stretch>
        </p:blipFill>
        <p:spPr>
          <a:xfrm>
            <a:off x="1019556" y="1824228"/>
            <a:ext cx="329184" cy="329184"/>
          </a:xfrm>
          <a:prstGeom prst="rect">
            <a:avLst/>
          </a:prstGeom>
        </p:spPr>
      </p:pic>
      <p:sp>
        <p:nvSpPr>
          <p:cNvPr id="6" name="Text 3"/>
          <p:cNvSpPr/>
          <p:nvPr/>
        </p:nvSpPr>
        <p:spPr>
          <a:xfrm>
            <a:off x="1645920" y="1645920"/>
            <a:ext cx="4037076" cy="685800"/>
          </a:xfrm>
          <a:prstGeom prst="rect">
            <a:avLst/>
          </a:prstGeom>
          <a:noFill/>
          <a:ln/>
        </p:spPr>
        <p:txBody>
          <a:bodyPr wrap="square"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Local school district</a:t>
            </a:r>
            <a:endParaRPr lang="en-US" sz="1700" dirty="0"/>
          </a:p>
        </p:txBody>
      </p:sp>
      <p:sp>
        <p:nvSpPr>
          <p:cNvPr id="7" name="Text 4"/>
          <p:cNvSpPr/>
          <p:nvPr/>
        </p:nvSpPr>
        <p:spPr>
          <a:xfrm>
            <a:off x="868680" y="2468880"/>
            <a:ext cx="4677156" cy="914400"/>
          </a:xfrm>
          <a:prstGeom prst="rect">
            <a:avLst/>
          </a:prstGeom>
          <a:noFill/>
          <a:ln/>
        </p:spPr>
        <p:txBody>
          <a:bodyPr wrap="square" rtlCol="0" anchor="ctr"/>
          <a:lstStyle/>
          <a:p>
            <a:pPr indent="0" marL="0">
              <a:buNone/>
            </a:pPr>
            <a:r>
              <a:rPr lang="en-US" sz="1250" b="1" dirty="0">
                <a:solidFill>
                  <a:srgbClr val="1F2A44"/>
                </a:solidFill>
                <a:latin typeface="Calibri" pitchFamily="34" charset="0"/>
                <a:ea typeface="Calibri" pitchFamily="34" charset="-122"/>
                <a:cs typeface="Calibri" pitchFamily="34" charset="-120"/>
              </a:rPr>
              <a:t>Problem: </a:t>
            </a:r>
            <a:pPr indent="0" marL="0">
              <a:buNone/>
            </a:pPr>
            <a:r>
              <a:rPr lang="en-US" sz="1250" dirty="0">
                <a:solidFill>
                  <a:srgbClr val="1F2A44"/>
                </a:solidFill>
                <a:latin typeface="Calibri" pitchFamily="34" charset="0"/>
                <a:ea typeface="Calibri" pitchFamily="34" charset="-122"/>
                <a:cs typeface="Calibri" pitchFamily="34" charset="-120"/>
              </a:rPr>
              <a:t>30-year-old COBOL student-info / payroll system; COBOL staff retiring; can't justify a multimillion-dollar rip-and-replace to the board.</a:t>
            </a:r>
            <a:endParaRPr lang="en-US" sz="1250" dirty="0"/>
          </a:p>
        </p:txBody>
      </p:sp>
      <p:sp>
        <p:nvSpPr>
          <p:cNvPr id="8" name="Text 5"/>
          <p:cNvSpPr/>
          <p:nvPr/>
        </p:nvSpPr>
        <p:spPr>
          <a:xfrm>
            <a:off x="868680" y="3429000"/>
            <a:ext cx="4677156" cy="1234440"/>
          </a:xfrm>
          <a:prstGeom prst="rect">
            <a:avLst/>
          </a:prstGeom>
          <a:noFill/>
          <a:ln/>
        </p:spPr>
        <p:txBody>
          <a:bodyPr wrap="square" rtlCol="0" anchor="ctr"/>
          <a:lstStyle/>
          <a:p>
            <a:pPr indent="0" marL="0">
              <a:buNone/>
            </a:pPr>
            <a:r>
              <a:rPr lang="en-US" sz="1250" b="1" dirty="0">
                <a:solidFill>
                  <a:srgbClr val="0F8B8D"/>
                </a:solidFill>
                <a:latin typeface="Calibri" pitchFamily="34" charset="0"/>
                <a:ea typeface="Calibri" pitchFamily="34" charset="-122"/>
                <a:cs typeface="Calibri" pitchFamily="34" charset="-120"/>
              </a:rPr>
              <a:t>$8K assessment</a:t>
            </a:r>
            <a:pPr indent="0" marL="0">
              <a:buNone/>
            </a:pPr>
            <a:r>
              <a:rPr lang="en-US" sz="1250" dirty="0">
                <a:solidFill>
                  <a:srgbClr val="1F2A44"/>
                </a:solidFill>
                <a:latin typeface="Calibri" pitchFamily="34" charset="0"/>
                <a:ea typeface="Calibri" pitchFamily="34" charset="-122"/>
                <a:cs typeface="Calibri" pitchFamily="34" charset="-120"/>
              </a:rPr>
              <a:t> on a purchasing card → inventory + a board-ready risk score + a signed proof-of-concept + a defensible cost estimate.</a:t>
            </a:r>
            <a:pPr indent="0" marL="0">
              <a:buNone/>
            </a:pPr>
            <a:endParaRPr lang="en-US" sz="1250" dirty="0"/>
          </a:p>
          <a:p>
            <a:pPr indent="0" marL="0">
              <a:buNone/>
            </a:pPr>
            <a:r>
              <a:rPr lang="en-US" sz="1250" b="1" dirty="0">
                <a:solidFill>
                  <a:srgbClr val="14213D"/>
                </a:solidFill>
                <a:latin typeface="Calibri" pitchFamily="34" charset="0"/>
                <a:ea typeface="Calibri" pitchFamily="34" charset="-122"/>
                <a:cs typeface="Calibri" pitchFamily="34" charset="-120"/>
              </a:rPr>
              <a:t>$12K Data Discovery</a:t>
            </a:r>
            <a:endParaRPr lang="en-US" sz="1250" dirty="0"/>
          </a:p>
          <a:p>
            <a:pPr indent="0" marL="0">
              <a:buNone/>
            </a:pPr>
            <a:r>
              <a:rPr lang="en-US" sz="1250" dirty="0">
                <a:solidFill>
                  <a:srgbClr val="1F2A44"/>
                </a:solidFill>
                <a:latin typeface="Calibri" pitchFamily="34" charset="0"/>
                <a:ea typeface="Calibri" pitchFamily="34" charset="-122"/>
                <a:cs typeface="Calibri" pitchFamily="34" charset="-120"/>
              </a:rPr>
              <a:t> maps where FERPA-protected student PII lives before touching the data.</a:t>
            </a:r>
            <a:endParaRPr lang="en-US" sz="1250" dirty="0"/>
          </a:p>
        </p:txBody>
      </p:sp>
      <p:sp>
        <p:nvSpPr>
          <p:cNvPr id="9" name="Shape 6"/>
          <p:cNvSpPr/>
          <p:nvPr/>
        </p:nvSpPr>
        <p:spPr>
          <a:xfrm>
            <a:off x="868680" y="4645152"/>
            <a:ext cx="4677156" cy="457200"/>
          </a:xfrm>
          <a:prstGeom prst="roundRect">
            <a:avLst>
              <a:gd name="adj" fmla="val 12000"/>
            </a:avLst>
          </a:prstGeom>
          <a:solidFill>
            <a:srgbClr val="E7F7EE"/>
          </a:solidFill>
          <a:ln/>
        </p:spPr>
      </p:sp>
      <p:sp>
        <p:nvSpPr>
          <p:cNvPr id="10" name="Text 7"/>
          <p:cNvSpPr/>
          <p:nvPr/>
        </p:nvSpPr>
        <p:spPr>
          <a:xfrm>
            <a:off x="960120" y="4645152"/>
            <a:ext cx="4494276" cy="457200"/>
          </a:xfrm>
          <a:prstGeom prst="rect">
            <a:avLst/>
          </a:prstGeom>
          <a:noFill/>
          <a:ln/>
        </p:spPr>
        <p:txBody>
          <a:bodyPr wrap="square" rtlCol="0" anchor="ctr"/>
          <a:lstStyle/>
          <a:p>
            <a:pPr indent="0" marL="0">
              <a:buNone/>
            </a:pPr>
            <a:r>
              <a:rPr lang="en-US" sz="1200" b="1" dirty="0">
                <a:solidFill>
                  <a:srgbClr val="1B7A45"/>
                </a:solidFill>
                <a:latin typeface="Calibri" pitchFamily="34" charset="0"/>
                <a:ea typeface="Calibri" pitchFamily="34" charset="-122"/>
                <a:cs typeface="Calibri" pitchFamily="34" charset="-120"/>
              </a:rPr>
              <a:t>Outcome: a costed, evidence-backed plan for ~$20K — no RFP.</a:t>
            </a:r>
            <a:endParaRPr lang="en-US" sz="1200" dirty="0"/>
          </a:p>
        </p:txBody>
      </p:sp>
      <p:sp>
        <p:nvSpPr>
          <p:cNvPr id="11" name="Shape 8"/>
          <p:cNvSpPr/>
          <p:nvPr/>
        </p:nvSpPr>
        <p:spPr>
          <a:xfrm>
            <a:off x="6323076" y="1371600"/>
            <a:ext cx="5317236" cy="3840480"/>
          </a:xfrm>
          <a:prstGeom prst="roundRect">
            <a:avLst>
              <a:gd name="adj" fmla="val 1905"/>
            </a:avLst>
          </a:prstGeom>
          <a:solidFill>
            <a:srgbClr val="F3F6FC"/>
          </a:solidFill>
          <a:ln/>
          <a:effectLst>
            <a:outerShdw sx="100000" sy="100000" kx="0" ky="0" algn="bl" rotWithShape="0" blurRad="88900" dist="38100" dir="5400000">
              <a:srgbClr val="9AA6BE">
                <a:alpha val="28000"/>
              </a:srgbClr>
            </a:outerShdw>
          </a:effectLst>
        </p:spPr>
      </p:sp>
      <p:sp>
        <p:nvSpPr>
          <p:cNvPr id="12" name="Shape 9"/>
          <p:cNvSpPr/>
          <p:nvPr/>
        </p:nvSpPr>
        <p:spPr>
          <a:xfrm>
            <a:off x="6615684" y="1645920"/>
            <a:ext cx="685800" cy="685800"/>
          </a:xfrm>
          <a:prstGeom prst="ellipse">
            <a:avLst/>
          </a:prstGeom>
          <a:solidFill>
            <a:srgbClr val="14213D"/>
          </a:solidFill>
          <a:ln/>
        </p:spPr>
      </p:sp>
      <p:pic>
        <p:nvPicPr>
          <p:cNvPr id="13" name="Image 1" descr="preencoded.png">    </p:cNvPr>
          <p:cNvPicPr>
            <a:picLocks noChangeAspect="1"/>
          </p:cNvPicPr>
          <p:nvPr/>
        </p:nvPicPr>
        <p:blipFill>
          <a:blip r:embed="rId2"/>
          <a:stretch>
            <a:fillRect/>
          </a:stretch>
        </p:blipFill>
        <p:spPr>
          <a:xfrm>
            <a:off x="6793992" y="1824228"/>
            <a:ext cx="329184" cy="329184"/>
          </a:xfrm>
          <a:prstGeom prst="rect">
            <a:avLst/>
          </a:prstGeom>
        </p:spPr>
      </p:pic>
      <p:sp>
        <p:nvSpPr>
          <p:cNvPr id="14" name="Text 10"/>
          <p:cNvSpPr/>
          <p:nvPr/>
        </p:nvSpPr>
        <p:spPr>
          <a:xfrm>
            <a:off x="7420356" y="1645920"/>
            <a:ext cx="4037076" cy="685800"/>
          </a:xfrm>
          <a:prstGeom prst="rect">
            <a:avLst/>
          </a:prstGeom>
          <a:noFill/>
          <a:ln/>
        </p:spPr>
        <p:txBody>
          <a:bodyPr wrap="square"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Federal / State Dept. of Labor</a:t>
            </a:r>
            <a:endParaRPr lang="en-US" sz="1700" dirty="0"/>
          </a:p>
        </p:txBody>
      </p:sp>
      <p:sp>
        <p:nvSpPr>
          <p:cNvPr id="15" name="Text 11"/>
          <p:cNvSpPr/>
          <p:nvPr/>
        </p:nvSpPr>
        <p:spPr>
          <a:xfrm>
            <a:off x="6643116" y="2468880"/>
            <a:ext cx="4677156" cy="914400"/>
          </a:xfrm>
          <a:prstGeom prst="rect">
            <a:avLst/>
          </a:prstGeom>
          <a:noFill/>
          <a:ln/>
        </p:spPr>
        <p:txBody>
          <a:bodyPr wrap="square" rtlCol="0" anchor="ctr"/>
          <a:lstStyle/>
          <a:p>
            <a:pPr indent="0" marL="0">
              <a:buNone/>
            </a:pPr>
            <a:r>
              <a:rPr lang="en-US" sz="1250" b="1" dirty="0">
                <a:solidFill>
                  <a:srgbClr val="1F2A44"/>
                </a:solidFill>
                <a:latin typeface="Calibri" pitchFamily="34" charset="0"/>
                <a:ea typeface="Calibri" pitchFamily="34" charset="-122"/>
                <a:cs typeface="Calibri" pitchFamily="34" charset="-120"/>
              </a:rPr>
              <a:t>Problem: </a:t>
            </a:r>
            <a:pPr indent="0" marL="0">
              <a:buNone/>
            </a:pPr>
            <a:r>
              <a:rPr lang="en-US" sz="1250" dirty="0">
                <a:solidFill>
                  <a:srgbClr val="1F2A44"/>
                </a:solidFill>
                <a:latin typeface="Calibri" pitchFamily="34" charset="0"/>
                <a:ea typeface="Calibri" pitchFamily="34" charset="-122"/>
                <a:cs typeface="Calibri" pitchFamily="34" charset="-120"/>
              </a:rPr>
              <a:t>unemployment-insurance adjudication runs on COBOL (the 2020 surge exposed this nationally); modernization is high-stakes and audit-heavy.</a:t>
            </a:r>
            <a:endParaRPr lang="en-US" sz="1250" dirty="0"/>
          </a:p>
        </p:txBody>
      </p:sp>
      <p:sp>
        <p:nvSpPr>
          <p:cNvPr id="16" name="Text 12"/>
          <p:cNvSpPr/>
          <p:nvPr/>
        </p:nvSpPr>
        <p:spPr>
          <a:xfrm>
            <a:off x="6643116" y="3429000"/>
            <a:ext cx="4677156" cy="1234440"/>
          </a:xfrm>
          <a:prstGeom prst="rect">
            <a:avLst/>
          </a:prstGeom>
          <a:noFill/>
          <a:ln/>
        </p:spPr>
        <p:txBody>
          <a:bodyPr wrap="square" rtlCol="0" anchor="ctr"/>
          <a:lstStyle/>
          <a:p>
            <a:pPr indent="0" marL="0">
              <a:buNone/>
            </a:pPr>
            <a:r>
              <a:rPr lang="en-US" sz="1250" b="1" dirty="0">
                <a:solidFill>
                  <a:srgbClr val="0F8B8D"/>
                </a:solidFill>
                <a:latin typeface="Calibri" pitchFamily="34" charset="0"/>
                <a:ea typeface="Calibri" pitchFamily="34" charset="-122"/>
                <a:cs typeface="Calibri" pitchFamily="34" charset="-120"/>
              </a:rPr>
              <a:t>$8K assessment</a:t>
            </a:r>
            <a:pPr indent="0" marL="0">
              <a:buNone/>
            </a:pPr>
            <a:r>
              <a:rPr lang="en-US" sz="1250" dirty="0">
                <a:solidFill>
                  <a:srgbClr val="1F2A44"/>
                </a:solidFill>
                <a:latin typeface="Calibri" pitchFamily="34" charset="0"/>
                <a:ea typeface="Calibri" pitchFamily="34" charset="-122"/>
                <a:cs typeface="Calibri" pitchFamily="34" charset="-120"/>
              </a:rPr>
              <a:t> on a critical benefits module → coverage + risk + an attestation sample that satisfies IG / GAO oversight.</a:t>
            </a:r>
            <a:pPr indent="0" marL="0">
              <a:buNone/>
            </a:pPr>
            <a:endParaRPr lang="en-US" sz="1250" dirty="0"/>
          </a:p>
          <a:p>
            <a:pPr indent="0" marL="0">
              <a:buNone/>
            </a:pPr>
            <a:r>
              <a:rPr lang="en-US" sz="1250" b="1" dirty="0">
                <a:solidFill>
                  <a:srgbClr val="14213D"/>
                </a:solidFill>
                <a:latin typeface="Calibri" pitchFamily="34" charset="0"/>
                <a:ea typeface="Calibri" pitchFamily="34" charset="-122"/>
                <a:cs typeface="Calibri" pitchFamily="34" charset="-120"/>
              </a:rPr>
              <a:t>$12K Data Discovery</a:t>
            </a:r>
            <a:endParaRPr lang="en-US" sz="1250" dirty="0"/>
          </a:p>
          <a:p>
            <a:pPr indent="0" marL="0">
              <a:buNone/>
            </a:pPr>
            <a:r>
              <a:rPr lang="en-US" sz="1250" dirty="0">
                <a:solidFill>
                  <a:srgbClr val="1F2A44"/>
                </a:solidFill>
                <a:latin typeface="Calibri" pitchFamily="34" charset="0"/>
                <a:ea typeface="Calibri" pitchFamily="34" charset="-122"/>
                <a:cs typeface="Calibri" pitchFamily="34" charset="-120"/>
              </a:rPr>
              <a:t> maps claimant PII and benefit records with sensitivity classification.</a:t>
            </a:r>
            <a:endParaRPr lang="en-US" sz="1250" dirty="0"/>
          </a:p>
        </p:txBody>
      </p:sp>
      <p:sp>
        <p:nvSpPr>
          <p:cNvPr id="17" name="Shape 13"/>
          <p:cNvSpPr/>
          <p:nvPr/>
        </p:nvSpPr>
        <p:spPr>
          <a:xfrm>
            <a:off x="6643116" y="4645152"/>
            <a:ext cx="4677156" cy="457200"/>
          </a:xfrm>
          <a:prstGeom prst="roundRect">
            <a:avLst>
              <a:gd name="adj" fmla="val 12000"/>
            </a:avLst>
          </a:prstGeom>
          <a:solidFill>
            <a:srgbClr val="E4F3F2"/>
          </a:solidFill>
          <a:ln/>
        </p:spPr>
      </p:sp>
      <p:sp>
        <p:nvSpPr>
          <p:cNvPr id="18" name="Text 14"/>
          <p:cNvSpPr/>
          <p:nvPr/>
        </p:nvSpPr>
        <p:spPr>
          <a:xfrm>
            <a:off x="6734556" y="4645152"/>
            <a:ext cx="4494276" cy="457200"/>
          </a:xfrm>
          <a:prstGeom prst="rect">
            <a:avLst/>
          </a:prstGeom>
          <a:noFill/>
          <a:ln/>
        </p:spPr>
        <p:txBody>
          <a:bodyPr wrap="square" rtlCol="0" anchor="ctr"/>
          <a:lstStyle/>
          <a:p>
            <a:pPr indent="0" marL="0">
              <a:buNone/>
            </a:pPr>
            <a:r>
              <a:rPr lang="en-US" sz="1150" b="1" dirty="0">
                <a:solidFill>
                  <a:srgbClr val="0B6E70"/>
                </a:solidFill>
                <a:latin typeface="Calibri" pitchFamily="34" charset="0"/>
                <a:ea typeface="Calibri" pitchFamily="34" charset="-122"/>
                <a:cs typeface="Calibri" pitchFamily="34" charset="-120"/>
              </a:rPr>
              <a:t>Outcome: the evidence package that justifies a larger program under the 10-year vehicle — the "expand."</a:t>
            </a:r>
            <a:endParaRPr lang="en-US" sz="1150" dirty="0"/>
          </a:p>
        </p:txBody>
      </p:sp>
      <p:sp>
        <p:nvSpPr>
          <p:cNvPr id="19" name="Text 15"/>
          <p:cNvSpPr/>
          <p:nvPr/>
        </p:nvSpPr>
        <p:spPr>
          <a:xfrm>
            <a:off x="548640" y="5532120"/>
            <a:ext cx="9354312" cy="640080"/>
          </a:xfrm>
          <a:prstGeom prst="rect">
            <a:avLst/>
          </a:prstGeom>
          <a:noFill/>
          <a:ln/>
        </p:spPr>
        <p:txBody>
          <a:bodyPr wrap="square" rtlCol="0" anchor="ctr"/>
          <a:lstStyle/>
          <a:p>
            <a:pPr indent="0" marL="0">
              <a:buNone/>
            </a:pPr>
            <a:r>
              <a:rPr lang="en-US" sz="1150" b="1" dirty="0">
                <a:solidFill>
                  <a:srgbClr val="14213D"/>
                </a:solidFill>
                <a:latin typeface="Calibri" pitchFamily="34" charset="0"/>
                <a:ea typeface="Calibri" pitchFamily="34" charset="-122"/>
                <a:cs typeface="Calibri" pitchFamily="34" charset="-120"/>
              </a:rPr>
              <a:t>Same engine, any COBOL codebase — buyer diversity is a sales fact, not a build fork.   </a:t>
            </a:r>
            <a:pPr indent="0" marL="0">
              <a:buNone/>
            </a:pPr>
            <a:r>
              <a:rPr lang="en-US" sz="1150" i="1" dirty="0">
                <a:solidFill>
                  <a:srgbClr val="5B6B85"/>
                </a:solidFill>
                <a:latin typeface="Calibri" pitchFamily="34" charset="0"/>
                <a:ea typeface="Calibri" pitchFamily="34" charset="-122"/>
                <a:cs typeface="Calibri" pitchFamily="34" charset="-120"/>
              </a:rPr>
              <a:t>GAO-19-471: critical federal legacy systems 8–51 yrs old, ~$337M/yr, several in COBOL.</a:t>
            </a:r>
            <a:endParaRPr lang="en-US" sz="1150" dirty="0"/>
          </a:p>
        </p:txBody>
      </p:sp>
      <p:sp>
        <p:nvSpPr>
          <p:cNvPr id="20" name="Shape 16"/>
          <p:cNvSpPr/>
          <p:nvPr/>
        </p:nvSpPr>
        <p:spPr>
          <a:xfrm>
            <a:off x="10040112" y="5669280"/>
            <a:ext cx="1834286" cy="274320"/>
          </a:xfrm>
          <a:prstGeom prst="roundRect">
            <a:avLst>
              <a:gd name="adj" fmla="val 50000"/>
            </a:avLst>
          </a:prstGeom>
          <a:solidFill>
            <a:srgbClr val="FBF0DF"/>
          </a:solidFill>
          <a:ln w="12700">
            <a:solidFill>
              <a:srgbClr val="E0912F"/>
            </a:solidFill>
            <a:prstDash val="solid"/>
          </a:ln>
        </p:spPr>
      </p:sp>
      <p:sp>
        <p:nvSpPr>
          <p:cNvPr id="21" name="Text 17"/>
          <p:cNvSpPr/>
          <p:nvPr/>
        </p:nvSpPr>
        <p:spPr>
          <a:xfrm>
            <a:off x="10040112" y="5669280"/>
            <a:ext cx="1834286" cy="274320"/>
          </a:xfrm>
          <a:prstGeom prst="rect">
            <a:avLst/>
          </a:prstGeom>
          <a:noFill/>
          <a:ln/>
        </p:spPr>
        <p:txBody>
          <a:bodyPr wrap="square" lIns="0" tIns="0" rIns="0" bIns="0" rtlCol="0" anchor="ctr"/>
          <a:lstStyle/>
          <a:p>
            <a:pPr algn="ctr" indent="0" marL="0">
              <a:buNone/>
            </a:pPr>
            <a:r>
              <a:rPr lang="en-US" sz="1050" b="1" dirty="0">
                <a:solidFill>
                  <a:srgbClr val="E0912F"/>
                </a:solidFill>
                <a:latin typeface="Calibri" pitchFamily="34" charset="0"/>
                <a:ea typeface="Calibri" pitchFamily="34" charset="-122"/>
                <a:cs typeface="Calibri" pitchFamily="34" charset="-120"/>
              </a:rPr>
              <a:t>● PLAUSIBLE — adoption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73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E1730"/>
          </a:solidFill>
          <a:ln/>
        </p:spPr>
      </p:sp>
      <p:sp>
        <p:nvSpPr>
          <p:cNvPr id="3" name="Shape 1"/>
          <p:cNvSpPr/>
          <p:nvPr/>
        </p:nvSpPr>
        <p:spPr>
          <a:xfrm>
            <a:off x="548640" y="438912"/>
            <a:ext cx="731520" cy="731520"/>
          </a:xfrm>
          <a:prstGeom prst="ellipse">
            <a:avLst/>
          </a:prstGeom>
          <a:solidFill>
            <a:srgbClr val="0F8B8D"/>
          </a:solidFill>
          <a:ln/>
        </p:spPr>
      </p:sp>
      <p:pic>
        <p:nvPicPr>
          <p:cNvPr id="4" name="Image 0" descr="preencoded.png">    </p:cNvPr>
          <p:cNvPicPr>
            <a:picLocks noChangeAspect="1"/>
          </p:cNvPicPr>
          <p:nvPr/>
        </p:nvPicPr>
        <p:blipFill>
          <a:blip r:embed="rId1"/>
          <a:stretch>
            <a:fillRect/>
          </a:stretch>
        </p:blipFill>
        <p:spPr>
          <a:xfrm>
            <a:off x="738835" y="629107"/>
            <a:ext cx="351130" cy="351130"/>
          </a:xfrm>
          <a:prstGeom prst="rect">
            <a:avLst/>
          </a:prstGeom>
        </p:spPr>
      </p:pic>
      <p:sp>
        <p:nvSpPr>
          <p:cNvPr id="5" name="Text 2"/>
          <p:cNvSpPr/>
          <p:nvPr/>
        </p:nvSpPr>
        <p:spPr>
          <a:xfrm>
            <a:off x="1508760" y="438912"/>
            <a:ext cx="10131552"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Questions &amp; Discussion</a:t>
            </a:r>
            <a:endParaRPr lang="en-US" sz="2800" dirty="0"/>
          </a:p>
        </p:txBody>
      </p:sp>
      <p:sp>
        <p:nvSpPr>
          <p:cNvPr id="6" name="Shape 3"/>
          <p:cNvSpPr/>
          <p:nvPr/>
        </p:nvSpPr>
        <p:spPr>
          <a:xfrm>
            <a:off x="548640" y="1417320"/>
            <a:ext cx="3514344" cy="2212848"/>
          </a:xfrm>
          <a:prstGeom prst="roundRect">
            <a:avLst>
              <a:gd name="adj" fmla="val 2893"/>
            </a:avLst>
          </a:prstGeom>
          <a:solidFill>
            <a:srgbClr val="17264A"/>
          </a:solidFill>
          <a:ln w="12700">
            <a:solidFill>
              <a:srgbClr val="2C3E63"/>
            </a:solidFill>
            <a:prstDash val="solid"/>
          </a:ln>
        </p:spPr>
      </p:sp>
      <p:sp>
        <p:nvSpPr>
          <p:cNvPr id="7" name="Text 4"/>
          <p:cNvSpPr/>
          <p:nvPr/>
        </p:nvSpPr>
        <p:spPr>
          <a:xfrm>
            <a:off x="768096" y="1563624"/>
            <a:ext cx="3075432" cy="658368"/>
          </a:xfrm>
          <a:prstGeom prst="rect">
            <a:avLst/>
          </a:prstGeom>
          <a:noFill/>
          <a:ln/>
        </p:spPr>
        <p:txBody>
          <a:bodyPr wrap="square" lIns="0" tIns="0" rIns="0" bIns="0" rtlCol="0" anchor="t"/>
          <a:lstStyle/>
          <a:p>
            <a:pPr indent="0" marL="0">
              <a:buNone/>
            </a:pPr>
            <a:r>
              <a:rPr lang="en-US" sz="1250" b="1" dirty="0">
                <a:solidFill>
                  <a:srgbClr val="2FBF71"/>
                </a:solidFill>
                <a:latin typeface="Calibri" pitchFamily="34" charset="0"/>
                <a:ea typeface="Calibri" pitchFamily="34" charset="-122"/>
                <a:cs typeface="Calibri" pitchFamily="34" charset="-120"/>
              </a:rPr>
              <a:t>Q   </a:t>
            </a:r>
            <a:pPr indent="0" marL="0">
              <a:buNone/>
            </a:pPr>
            <a:r>
              <a:rPr lang="en-US" sz="1250" b="1" dirty="0">
                <a:solidFill>
                  <a:srgbClr val="FFFFFF"/>
                </a:solidFill>
                <a:latin typeface="Calibri" pitchFamily="34" charset="0"/>
                <a:ea typeface="Calibri" pitchFamily="34" charset="-122"/>
                <a:cs typeface="Calibri" pitchFamily="34" charset="-120"/>
              </a:rPr>
              <a:t>Isn’t the ledger just a blockchain?</a:t>
            </a:r>
            <a:endParaRPr lang="en-US" sz="1250" dirty="0"/>
          </a:p>
        </p:txBody>
      </p:sp>
      <p:sp>
        <p:nvSpPr>
          <p:cNvPr id="8" name="Text 5"/>
          <p:cNvSpPr/>
          <p:nvPr/>
        </p:nvSpPr>
        <p:spPr>
          <a:xfrm>
            <a:off x="768096" y="2240280"/>
            <a:ext cx="3075432" cy="1252728"/>
          </a:xfrm>
          <a:prstGeom prst="rect">
            <a:avLst/>
          </a:prstGeom>
          <a:noFill/>
          <a:ln/>
        </p:spPr>
        <p:txBody>
          <a:bodyPr wrap="square" lIns="0" tIns="0" rIns="0" bIns="0" rtlCol="0" anchor="t"/>
          <a:lstStyle/>
          <a:p>
            <a:pPr indent="0" marL="0">
              <a:buNone/>
            </a:pPr>
            <a:r>
              <a:rPr lang="en-US" sz="1050" b="1" dirty="0">
                <a:solidFill>
                  <a:srgbClr val="0F8B8D"/>
                </a:solidFill>
                <a:latin typeface="Calibri" pitchFamily="34" charset="0"/>
                <a:ea typeface="Calibri" pitchFamily="34" charset="-122"/>
                <a:cs typeface="Calibri" pitchFamily="34" charset="-120"/>
              </a:rPr>
              <a:t>A   </a:t>
            </a:r>
            <a:pPr indent="0" marL="0">
              <a:buNone/>
            </a:pPr>
            <a:r>
              <a:rPr lang="en-US" sz="1050" dirty="0">
                <a:solidFill>
                  <a:srgbClr val="D7E0F4"/>
                </a:solidFill>
                <a:latin typeface="Calibri" pitchFamily="34" charset="0"/>
                <a:ea typeface="Calibri" pitchFamily="34" charset="-122"/>
                <a:cs typeface="Calibri" pitchFamily="34" charset="-120"/>
              </a:rPr>
              <a:t>No — it’s a hash-chained, Ed25519-signed record anyone can re-derive from the published data. Stronger than a bare chain write; Solana anchoring (Phase 3) is a cheap add, not the substance.</a:t>
            </a:r>
            <a:endParaRPr lang="en-US" sz="1050" dirty="0"/>
          </a:p>
        </p:txBody>
      </p:sp>
      <p:sp>
        <p:nvSpPr>
          <p:cNvPr id="9" name="Shape 6"/>
          <p:cNvSpPr/>
          <p:nvPr/>
        </p:nvSpPr>
        <p:spPr>
          <a:xfrm>
            <a:off x="4337304" y="1417320"/>
            <a:ext cx="3514344" cy="2212848"/>
          </a:xfrm>
          <a:prstGeom prst="roundRect">
            <a:avLst>
              <a:gd name="adj" fmla="val 2893"/>
            </a:avLst>
          </a:prstGeom>
          <a:solidFill>
            <a:srgbClr val="17264A"/>
          </a:solidFill>
          <a:ln w="12700">
            <a:solidFill>
              <a:srgbClr val="2C3E63"/>
            </a:solidFill>
            <a:prstDash val="solid"/>
          </a:ln>
        </p:spPr>
      </p:sp>
      <p:sp>
        <p:nvSpPr>
          <p:cNvPr id="10" name="Text 7"/>
          <p:cNvSpPr/>
          <p:nvPr/>
        </p:nvSpPr>
        <p:spPr>
          <a:xfrm>
            <a:off x="4556760" y="1563624"/>
            <a:ext cx="3075432" cy="658368"/>
          </a:xfrm>
          <a:prstGeom prst="rect">
            <a:avLst/>
          </a:prstGeom>
          <a:noFill/>
          <a:ln/>
        </p:spPr>
        <p:txBody>
          <a:bodyPr wrap="square" lIns="0" tIns="0" rIns="0" bIns="0" rtlCol="0" anchor="t"/>
          <a:lstStyle/>
          <a:p>
            <a:pPr indent="0" marL="0">
              <a:buNone/>
            </a:pPr>
            <a:r>
              <a:rPr lang="en-US" sz="1250" b="1" dirty="0">
                <a:solidFill>
                  <a:srgbClr val="2FBF71"/>
                </a:solidFill>
                <a:latin typeface="Calibri" pitchFamily="34" charset="0"/>
                <a:ea typeface="Calibri" pitchFamily="34" charset="-122"/>
                <a:cs typeface="Calibri" pitchFamily="34" charset="-120"/>
              </a:rPr>
              <a:t>Q   </a:t>
            </a:r>
            <a:pPr indent="0" marL="0">
              <a:buNone/>
            </a:pPr>
            <a:r>
              <a:rPr lang="en-US" sz="1250" b="1" dirty="0">
                <a:solidFill>
                  <a:srgbClr val="FFFFFF"/>
                </a:solidFill>
                <a:latin typeface="Calibri" pitchFamily="34" charset="0"/>
                <a:ea typeface="Calibri" pitchFamily="34" charset="-122"/>
                <a:cs typeface="Calibri" pitchFamily="34" charset="-120"/>
              </a:rPr>
              <a:t>If the transform is rule-based, where’s the AI?</a:t>
            </a:r>
            <a:endParaRPr lang="en-US" sz="1250" dirty="0"/>
          </a:p>
        </p:txBody>
      </p:sp>
      <p:sp>
        <p:nvSpPr>
          <p:cNvPr id="11" name="Text 8"/>
          <p:cNvSpPr/>
          <p:nvPr/>
        </p:nvSpPr>
        <p:spPr>
          <a:xfrm>
            <a:off x="4556760" y="2240280"/>
            <a:ext cx="3075432" cy="1252728"/>
          </a:xfrm>
          <a:prstGeom prst="rect">
            <a:avLst/>
          </a:prstGeom>
          <a:noFill/>
          <a:ln/>
        </p:spPr>
        <p:txBody>
          <a:bodyPr wrap="square" lIns="0" tIns="0" rIns="0" bIns="0" rtlCol="0" anchor="t"/>
          <a:lstStyle/>
          <a:p>
            <a:pPr indent="0" marL="0">
              <a:buNone/>
            </a:pPr>
            <a:r>
              <a:rPr lang="en-US" sz="1050" b="1" dirty="0">
                <a:solidFill>
                  <a:srgbClr val="0F8B8D"/>
                </a:solidFill>
                <a:latin typeface="Calibri" pitchFamily="34" charset="0"/>
                <a:ea typeface="Calibri" pitchFamily="34" charset="-122"/>
                <a:cs typeface="Calibri" pitchFamily="34" charset="-120"/>
              </a:rPr>
              <a:t>A   </a:t>
            </a:r>
            <a:pPr indent="0" marL="0">
              <a:buNone/>
            </a:pPr>
            <a:r>
              <a:rPr lang="en-US" sz="1050" dirty="0">
                <a:solidFill>
                  <a:srgbClr val="D7E0F4"/>
                </a:solidFill>
                <a:latin typeface="Calibri" pitchFamily="34" charset="0"/>
                <a:ea typeface="Calibri" pitchFamily="34" charset="-122"/>
                <a:cs typeface="Calibri" pitchFamily="34" charset="-120"/>
              </a:rPr>
              <a:t>Deterministic by design — a contract advantage. Optional analysis uses a local open-weight model (Mistral-7B, Apache 2.0), disclosed and off by default. No customer source reaches a generative model.</a:t>
            </a:r>
            <a:endParaRPr lang="en-US" sz="1050" dirty="0"/>
          </a:p>
        </p:txBody>
      </p:sp>
      <p:sp>
        <p:nvSpPr>
          <p:cNvPr id="12" name="Shape 9"/>
          <p:cNvSpPr/>
          <p:nvPr/>
        </p:nvSpPr>
        <p:spPr>
          <a:xfrm>
            <a:off x="8125968" y="1417320"/>
            <a:ext cx="3514344" cy="2212848"/>
          </a:xfrm>
          <a:prstGeom prst="roundRect">
            <a:avLst>
              <a:gd name="adj" fmla="val 2893"/>
            </a:avLst>
          </a:prstGeom>
          <a:solidFill>
            <a:srgbClr val="17264A"/>
          </a:solidFill>
          <a:ln w="12700">
            <a:solidFill>
              <a:srgbClr val="2C3E63"/>
            </a:solidFill>
            <a:prstDash val="solid"/>
          </a:ln>
        </p:spPr>
      </p:sp>
      <p:sp>
        <p:nvSpPr>
          <p:cNvPr id="13" name="Text 10"/>
          <p:cNvSpPr/>
          <p:nvPr/>
        </p:nvSpPr>
        <p:spPr>
          <a:xfrm>
            <a:off x="8345424" y="1563624"/>
            <a:ext cx="3075432" cy="658368"/>
          </a:xfrm>
          <a:prstGeom prst="rect">
            <a:avLst/>
          </a:prstGeom>
          <a:noFill/>
          <a:ln/>
        </p:spPr>
        <p:txBody>
          <a:bodyPr wrap="square" lIns="0" tIns="0" rIns="0" bIns="0" rtlCol="0" anchor="t"/>
          <a:lstStyle/>
          <a:p>
            <a:pPr indent="0" marL="0">
              <a:buNone/>
            </a:pPr>
            <a:r>
              <a:rPr lang="en-US" sz="1250" b="1" dirty="0">
                <a:solidFill>
                  <a:srgbClr val="2FBF71"/>
                </a:solidFill>
                <a:latin typeface="Calibri" pitchFamily="34" charset="0"/>
                <a:ea typeface="Calibri" pitchFamily="34" charset="-122"/>
                <a:cs typeface="Calibri" pitchFamily="34" charset="-120"/>
              </a:rPr>
              <a:t>Q   </a:t>
            </a:r>
            <a:pPr indent="0" marL="0">
              <a:buNone/>
            </a:pPr>
            <a:r>
              <a:rPr lang="en-US" sz="1250" b="1" dirty="0">
                <a:solidFill>
                  <a:srgbClr val="FFFFFF"/>
                </a:solidFill>
                <a:latin typeface="Calibri" pitchFamily="34" charset="0"/>
                <a:ea typeface="Calibri" pitchFamily="34" charset="-122"/>
                <a:cs typeface="Calibri" pitchFamily="34" charset="-120"/>
              </a:rPr>
              <a:t>What happens on COBOL we don’t support?</a:t>
            </a:r>
            <a:endParaRPr lang="en-US" sz="1250" dirty="0"/>
          </a:p>
        </p:txBody>
      </p:sp>
      <p:sp>
        <p:nvSpPr>
          <p:cNvPr id="14" name="Text 11"/>
          <p:cNvSpPr/>
          <p:nvPr/>
        </p:nvSpPr>
        <p:spPr>
          <a:xfrm>
            <a:off x="8345424" y="2240280"/>
            <a:ext cx="3075432" cy="1252728"/>
          </a:xfrm>
          <a:prstGeom prst="rect">
            <a:avLst/>
          </a:prstGeom>
          <a:noFill/>
          <a:ln/>
        </p:spPr>
        <p:txBody>
          <a:bodyPr wrap="square" lIns="0" tIns="0" rIns="0" bIns="0" rtlCol="0" anchor="t"/>
          <a:lstStyle/>
          <a:p>
            <a:pPr indent="0" marL="0">
              <a:buNone/>
            </a:pPr>
            <a:r>
              <a:rPr lang="en-US" sz="1050" b="1" dirty="0">
                <a:solidFill>
                  <a:srgbClr val="0F8B8D"/>
                </a:solidFill>
                <a:latin typeface="Calibri" pitchFamily="34" charset="0"/>
                <a:ea typeface="Calibri" pitchFamily="34" charset="-122"/>
                <a:cs typeface="Calibri" pitchFamily="34" charset="-120"/>
              </a:rPr>
              <a:t>A   </a:t>
            </a:r>
            <a:pPr indent="0" marL="0">
              <a:buNone/>
            </a:pPr>
            <a:r>
              <a:rPr lang="en-US" sz="1050" dirty="0">
                <a:solidFill>
                  <a:srgbClr val="D7E0F4"/>
                </a:solidFill>
                <a:latin typeface="Calibri" pitchFamily="34" charset="0"/>
                <a:ea typeface="Calibri" pitchFamily="34" charset="-122"/>
                <a:cs typeface="Calibri" pitchFamily="34" charset="-120"/>
              </a:rPr>
              <a:t>Honest failure: an explicit no-attestation result with the construct inventory attached. Those constructs become scoped change-order items in the migration SOW — never a silent pass.</a:t>
            </a:r>
            <a:endParaRPr lang="en-US" sz="1050" dirty="0"/>
          </a:p>
        </p:txBody>
      </p:sp>
      <p:sp>
        <p:nvSpPr>
          <p:cNvPr id="15" name="Shape 12"/>
          <p:cNvSpPr/>
          <p:nvPr/>
        </p:nvSpPr>
        <p:spPr>
          <a:xfrm>
            <a:off x="548640" y="3904488"/>
            <a:ext cx="3514344" cy="2212848"/>
          </a:xfrm>
          <a:prstGeom prst="roundRect">
            <a:avLst>
              <a:gd name="adj" fmla="val 2893"/>
            </a:avLst>
          </a:prstGeom>
          <a:solidFill>
            <a:srgbClr val="17264A"/>
          </a:solidFill>
          <a:ln w="12700">
            <a:solidFill>
              <a:srgbClr val="2C3E63"/>
            </a:solidFill>
            <a:prstDash val="solid"/>
          </a:ln>
        </p:spPr>
      </p:sp>
      <p:sp>
        <p:nvSpPr>
          <p:cNvPr id="16" name="Text 13"/>
          <p:cNvSpPr/>
          <p:nvPr/>
        </p:nvSpPr>
        <p:spPr>
          <a:xfrm>
            <a:off x="768096" y="4050792"/>
            <a:ext cx="3075432" cy="658368"/>
          </a:xfrm>
          <a:prstGeom prst="rect">
            <a:avLst/>
          </a:prstGeom>
          <a:noFill/>
          <a:ln/>
        </p:spPr>
        <p:txBody>
          <a:bodyPr wrap="square" lIns="0" tIns="0" rIns="0" bIns="0" rtlCol="0" anchor="t"/>
          <a:lstStyle/>
          <a:p>
            <a:pPr indent="0" marL="0">
              <a:buNone/>
            </a:pPr>
            <a:r>
              <a:rPr lang="en-US" sz="1250" b="1" dirty="0">
                <a:solidFill>
                  <a:srgbClr val="2FBF71"/>
                </a:solidFill>
                <a:latin typeface="Calibri" pitchFamily="34" charset="0"/>
                <a:ea typeface="Calibri" pitchFamily="34" charset="-122"/>
                <a:cs typeface="Calibri" pitchFamily="34" charset="-120"/>
              </a:rPr>
              <a:t>Q   </a:t>
            </a:r>
            <a:pPr indent="0" marL="0">
              <a:buNone/>
            </a:pPr>
            <a:r>
              <a:rPr lang="en-US" sz="1250" b="1" dirty="0">
                <a:solidFill>
                  <a:srgbClr val="FFFFFF"/>
                </a:solidFill>
                <a:latin typeface="Calibri" pitchFamily="34" charset="0"/>
                <a:ea typeface="Calibri" pitchFamily="34" charset="-122"/>
                <a:cs typeface="Calibri" pitchFamily="34" charset="-120"/>
              </a:rPr>
              <a:t>Can we sell the $12K as no-competition?</a:t>
            </a:r>
            <a:endParaRPr lang="en-US" sz="1250" dirty="0"/>
          </a:p>
        </p:txBody>
      </p:sp>
      <p:sp>
        <p:nvSpPr>
          <p:cNvPr id="17" name="Text 14"/>
          <p:cNvSpPr/>
          <p:nvPr/>
        </p:nvSpPr>
        <p:spPr>
          <a:xfrm>
            <a:off x="768096" y="4727448"/>
            <a:ext cx="3075432" cy="1252728"/>
          </a:xfrm>
          <a:prstGeom prst="rect">
            <a:avLst/>
          </a:prstGeom>
          <a:noFill/>
          <a:ln/>
        </p:spPr>
        <p:txBody>
          <a:bodyPr wrap="square" lIns="0" tIns="0" rIns="0" bIns="0" rtlCol="0" anchor="t"/>
          <a:lstStyle/>
          <a:p>
            <a:pPr indent="0" marL="0">
              <a:buNone/>
            </a:pPr>
            <a:r>
              <a:rPr lang="en-US" sz="1050" b="1" dirty="0">
                <a:solidFill>
                  <a:srgbClr val="0F8B8D"/>
                </a:solidFill>
                <a:latin typeface="Calibri" pitchFamily="34" charset="0"/>
                <a:ea typeface="Calibri" pitchFamily="34" charset="-122"/>
                <a:cs typeface="Calibri" pitchFamily="34" charset="-120"/>
              </a:rPr>
              <a:t>A   </a:t>
            </a:r>
            <a:pPr indent="0" marL="0">
              <a:buNone/>
            </a:pPr>
            <a:r>
              <a:rPr lang="en-US" sz="1050" dirty="0">
                <a:solidFill>
                  <a:srgbClr val="D7E0F4"/>
                </a:solidFill>
                <a:latin typeface="Calibri" pitchFamily="34" charset="0"/>
                <a:ea typeface="Calibri" pitchFamily="34" charset="-122"/>
                <a:cs typeface="Calibri" pitchFamily="34" charset="-120"/>
              </a:rPr>
              <a:t>The $8K, yes (≤ $10K direct-select). The $12K is just over the line — confirm the mechanism with the contracting officer before telling any buyer it’s no-competition.</a:t>
            </a:r>
            <a:endParaRPr lang="en-US" sz="1050" dirty="0"/>
          </a:p>
        </p:txBody>
      </p:sp>
      <p:sp>
        <p:nvSpPr>
          <p:cNvPr id="18" name="Shape 15"/>
          <p:cNvSpPr/>
          <p:nvPr/>
        </p:nvSpPr>
        <p:spPr>
          <a:xfrm>
            <a:off x="4337304" y="3904488"/>
            <a:ext cx="3514344" cy="2212848"/>
          </a:xfrm>
          <a:prstGeom prst="roundRect">
            <a:avLst>
              <a:gd name="adj" fmla="val 2893"/>
            </a:avLst>
          </a:prstGeom>
          <a:solidFill>
            <a:srgbClr val="17264A"/>
          </a:solidFill>
          <a:ln w="12700">
            <a:solidFill>
              <a:srgbClr val="2C3E63"/>
            </a:solidFill>
            <a:prstDash val="solid"/>
          </a:ln>
        </p:spPr>
      </p:sp>
      <p:sp>
        <p:nvSpPr>
          <p:cNvPr id="19" name="Text 16"/>
          <p:cNvSpPr/>
          <p:nvPr/>
        </p:nvSpPr>
        <p:spPr>
          <a:xfrm>
            <a:off x="4556760" y="4050792"/>
            <a:ext cx="3075432" cy="658368"/>
          </a:xfrm>
          <a:prstGeom prst="rect">
            <a:avLst/>
          </a:prstGeom>
          <a:noFill/>
          <a:ln/>
        </p:spPr>
        <p:txBody>
          <a:bodyPr wrap="square" lIns="0" tIns="0" rIns="0" bIns="0" rtlCol="0" anchor="t"/>
          <a:lstStyle/>
          <a:p>
            <a:pPr indent="0" marL="0">
              <a:buNone/>
            </a:pPr>
            <a:r>
              <a:rPr lang="en-US" sz="1250" b="1" dirty="0">
                <a:solidFill>
                  <a:srgbClr val="2FBF71"/>
                </a:solidFill>
                <a:latin typeface="Calibri" pitchFamily="34" charset="0"/>
                <a:ea typeface="Calibri" pitchFamily="34" charset="-122"/>
                <a:cs typeface="Calibri" pitchFamily="34" charset="-120"/>
              </a:rPr>
              <a:t>Q   </a:t>
            </a:r>
            <a:pPr indent="0" marL="0">
              <a:buNone/>
            </a:pPr>
            <a:r>
              <a:rPr lang="en-US" sz="1250" b="1" dirty="0">
                <a:solidFill>
                  <a:srgbClr val="FFFFFF"/>
                </a:solidFill>
                <a:latin typeface="Calibri" pitchFamily="34" charset="0"/>
                <a:ea typeface="Calibri" pitchFamily="34" charset="-122"/>
                <a:cs typeface="Calibri" pitchFamily="34" charset="-120"/>
              </a:rPr>
              <a:t>Why would a buyer pay $8K for a report?</a:t>
            </a:r>
            <a:endParaRPr lang="en-US" sz="1250" dirty="0"/>
          </a:p>
        </p:txBody>
      </p:sp>
      <p:sp>
        <p:nvSpPr>
          <p:cNvPr id="20" name="Text 17"/>
          <p:cNvSpPr/>
          <p:nvPr/>
        </p:nvSpPr>
        <p:spPr>
          <a:xfrm>
            <a:off x="4556760" y="4727448"/>
            <a:ext cx="3075432" cy="1252728"/>
          </a:xfrm>
          <a:prstGeom prst="rect">
            <a:avLst/>
          </a:prstGeom>
          <a:noFill/>
          <a:ln/>
        </p:spPr>
        <p:txBody>
          <a:bodyPr wrap="square" lIns="0" tIns="0" rIns="0" bIns="0" rtlCol="0" anchor="t"/>
          <a:lstStyle/>
          <a:p>
            <a:pPr indent="0" marL="0">
              <a:buNone/>
            </a:pPr>
            <a:r>
              <a:rPr lang="en-US" sz="1050" b="1" dirty="0">
                <a:solidFill>
                  <a:srgbClr val="0F8B8D"/>
                </a:solidFill>
                <a:latin typeface="Calibri" pitchFamily="34" charset="0"/>
                <a:ea typeface="Calibri" pitchFamily="34" charset="-122"/>
                <a:cs typeface="Calibri" pitchFamily="34" charset="-120"/>
              </a:rPr>
              <a:t>A   </a:t>
            </a:r>
            <a:pPr indent="0" marL="0">
              <a:buNone/>
            </a:pPr>
            <a:r>
              <a:rPr lang="en-US" sz="1050" dirty="0">
                <a:solidFill>
                  <a:srgbClr val="D7E0F4"/>
                </a:solidFill>
                <a:latin typeface="Calibri" pitchFamily="34" charset="0"/>
                <a:ea typeface="Calibri" pitchFamily="34" charset="-122"/>
                <a:cs typeface="Calibri" pitchFamily="34" charset="-120"/>
              </a:rPr>
              <a:t>It turns an un-fundable “someday” into a board-ready, costed decision — and the signed proof is something no migration vendor can produce about its own work. It also writes the follow-on SOW.</a:t>
            </a:r>
            <a:endParaRPr lang="en-US" sz="1050" dirty="0"/>
          </a:p>
        </p:txBody>
      </p:sp>
      <p:sp>
        <p:nvSpPr>
          <p:cNvPr id="21" name="Shape 18"/>
          <p:cNvSpPr/>
          <p:nvPr/>
        </p:nvSpPr>
        <p:spPr>
          <a:xfrm>
            <a:off x="8125968" y="3904488"/>
            <a:ext cx="3514344" cy="2212848"/>
          </a:xfrm>
          <a:prstGeom prst="roundRect">
            <a:avLst>
              <a:gd name="adj" fmla="val 2893"/>
            </a:avLst>
          </a:prstGeom>
          <a:solidFill>
            <a:srgbClr val="123536"/>
          </a:solidFill>
          <a:ln w="15875">
            <a:solidFill>
              <a:srgbClr val="0F8B8D"/>
            </a:solidFill>
            <a:prstDash val="solid"/>
          </a:ln>
        </p:spPr>
      </p:sp>
      <p:sp>
        <p:nvSpPr>
          <p:cNvPr id="22" name="Text 19"/>
          <p:cNvSpPr/>
          <p:nvPr/>
        </p:nvSpPr>
        <p:spPr>
          <a:xfrm>
            <a:off x="8345424" y="4050792"/>
            <a:ext cx="3075432" cy="329184"/>
          </a:xfrm>
          <a:prstGeom prst="rect">
            <a:avLst/>
          </a:prstGeom>
          <a:noFill/>
          <a:ln/>
        </p:spPr>
        <p:txBody>
          <a:bodyPr wrap="square" lIns="0" tIns="0" rIns="0" bIns="0" rtlCol="0" anchor="ctr"/>
          <a:lstStyle/>
          <a:p>
            <a:pPr indent="0" marL="0">
              <a:buNone/>
            </a:pPr>
            <a:r>
              <a:rPr lang="en-US" sz="1300" b="1" dirty="0">
                <a:solidFill>
                  <a:srgbClr val="0F8B8D"/>
                </a:solidFill>
                <a:latin typeface="Cambria" pitchFamily="34" charset="0"/>
                <a:ea typeface="Cambria" pitchFamily="34" charset="-122"/>
                <a:cs typeface="Cambria" pitchFamily="34" charset="-120"/>
              </a:rPr>
              <a:t>For the build team, decide</a:t>
            </a:r>
            <a:endParaRPr lang="en-US" sz="1300" dirty="0"/>
          </a:p>
        </p:txBody>
      </p:sp>
      <p:sp>
        <p:nvSpPr>
          <p:cNvPr id="23" name="Text 20"/>
          <p:cNvSpPr/>
          <p:nvPr/>
        </p:nvSpPr>
        <p:spPr>
          <a:xfrm>
            <a:off x="8372856" y="4453128"/>
            <a:ext cx="3038856" cy="1527048"/>
          </a:xfrm>
          <a:prstGeom prst="rect">
            <a:avLst/>
          </a:prstGeom>
          <a:noFill/>
          <a:ln/>
        </p:spPr>
        <p:txBody>
          <a:bodyPr wrap="square" rtlCol="0" anchor="t"/>
          <a:lstStyle/>
          <a:p>
            <a:pPr marL="342900" indent="-342900">
              <a:spcAft>
                <a:spcPts val="600"/>
              </a:spcAft>
              <a:buSzPct val="100000"/>
              <a:buChar char="•"/>
            </a:pPr>
            <a:r>
              <a:rPr lang="en-US" sz="1050" dirty="0">
                <a:solidFill>
                  <a:srgbClr val="D7E0F4"/>
                </a:solidFill>
                <a:latin typeface="Calibri" pitchFamily="34" charset="0"/>
                <a:ea typeface="Calibri" pitchFamily="34" charset="-122"/>
                <a:cs typeface="Calibri" pitchFamily="34" charset="-120"/>
              </a:rPr>
              <a:t>Build the $8K assessment engine end-to-end first — the wedge.</a:t>
            </a:r>
            <a:endParaRPr lang="en-US" sz="1050" dirty="0"/>
          </a:p>
          <a:p>
            <a:pPr marL="342900" indent="-342900">
              <a:spcAft>
                <a:spcPts val="600"/>
              </a:spcAft>
              <a:buSzPct val="100000"/>
              <a:buChar char="•"/>
            </a:pPr>
            <a:r>
              <a:rPr lang="en-US" sz="1050" dirty="0">
                <a:solidFill>
                  <a:srgbClr val="D7E0F4"/>
                </a:solidFill>
                <a:latin typeface="Calibri" pitchFamily="34" charset="0"/>
                <a:ea typeface="Calibri" pitchFamily="34" charset="-122"/>
                <a:cs typeface="Calibri" pitchFamily="34" charset="-120"/>
              </a:rPr>
              <a:t>Honest-failure UX: no-attestation + inventory, never a silent pass.</a:t>
            </a:r>
            <a:endParaRPr lang="en-US" sz="1050" dirty="0"/>
          </a:p>
          <a:p>
            <a:pPr marL="342900" indent="-342900">
              <a:spcAft>
                <a:spcPts val="600"/>
              </a:spcAft>
              <a:buSzPct val="100000"/>
              <a:buChar char="•"/>
            </a:pPr>
            <a:r>
              <a:rPr lang="en-US" sz="1050" dirty="0">
                <a:solidFill>
                  <a:srgbClr val="D7E0F4"/>
                </a:solidFill>
                <a:latin typeface="Calibri" pitchFamily="34" charset="0"/>
                <a:ea typeface="Calibri" pitchFamily="34" charset="-122"/>
                <a:cs typeface="Calibri" pitchFamily="34" charset="-120"/>
              </a:rPr>
              <a:t>Enforce measured-or-None in the report template (a lint gate).</a:t>
            </a:r>
            <a:endParaRPr lang="en-US" sz="1050" dirty="0"/>
          </a:p>
        </p:txBody>
      </p:sp>
      <p:sp>
        <p:nvSpPr>
          <p:cNvPr id="24" name="Text 21"/>
          <p:cNvSpPr/>
          <p:nvPr/>
        </p:nvSpPr>
        <p:spPr>
          <a:xfrm>
            <a:off x="548640" y="6199632"/>
            <a:ext cx="11091672" cy="320040"/>
          </a:xfrm>
          <a:prstGeom prst="rect">
            <a:avLst/>
          </a:prstGeom>
          <a:noFill/>
          <a:ln/>
        </p:spPr>
        <p:txBody>
          <a:bodyPr wrap="square" rtlCol="0" anchor="ctr"/>
          <a:lstStyle/>
          <a:p>
            <a:pPr algn="ctr" indent="0" marL="0">
              <a:buNone/>
            </a:pPr>
            <a:r>
              <a:rPr lang="en-US" sz="1050" i="1" dirty="0">
                <a:solidFill>
                  <a:srgbClr val="8FA0C4"/>
                </a:solidFill>
                <a:latin typeface="Calibri" pitchFamily="34" charset="0"/>
                <a:ea typeface="Calibri" pitchFamily="34" charset="-122"/>
                <a:cs typeface="Calibri" pitchFamily="34" charset="-120"/>
              </a:rPr>
              <a:t>Akil: Track B infrastructure  ·  AJ: database  ·  Khaalis: judgment layer + key custody</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143000"/>
          </a:xfrm>
          <a:prstGeom prst="roundRect">
            <a:avLst/>
          </a:prstGeom>
          <a:solidFill>
            <a:srgbClr val="F3F6FC"/>
          </a:solidFill>
          <a:ln/>
        </p:spPr>
      </p:sp>
      <p:sp>
        <p:nvSpPr>
          <p:cNvPr id="3" name="Shape 1"/>
          <p:cNvSpPr/>
          <p:nvPr/>
        </p:nvSpPr>
        <p:spPr>
          <a:xfrm>
            <a:off x="548640" y="292608"/>
            <a:ext cx="566928" cy="566928"/>
          </a:xfrm>
          <a:prstGeom prst="ellipse">
            <a:avLst/>
          </a:prstGeom>
          <a:solidFill>
            <a:srgbClr val="14213D"/>
          </a:solidFill>
          <a:ln/>
        </p:spPr>
      </p:sp>
      <p:pic>
        <p:nvPicPr>
          <p:cNvPr id="4" name="Image 0" descr="preencoded.png">    </p:cNvPr>
          <p:cNvPicPr>
            <a:picLocks noChangeAspect="1"/>
          </p:cNvPicPr>
          <p:nvPr/>
        </p:nvPicPr>
        <p:blipFill>
          <a:blip r:embed="rId1"/>
          <a:stretch>
            <a:fillRect/>
          </a:stretch>
        </p:blipFill>
        <p:spPr>
          <a:xfrm>
            <a:off x="696041" y="440009"/>
            <a:ext cx="272125" cy="272125"/>
          </a:xfrm>
          <a:prstGeom prst="rect">
            <a:avLst/>
          </a:prstGeom>
        </p:spPr>
      </p:pic>
      <p:sp>
        <p:nvSpPr>
          <p:cNvPr id="5" name="Text 2"/>
          <p:cNvSpPr/>
          <p:nvPr/>
        </p:nvSpPr>
        <p:spPr>
          <a:xfrm>
            <a:off x="1417320" y="292608"/>
            <a:ext cx="10222992" cy="566928"/>
          </a:xfrm>
          <a:prstGeom prst="rect">
            <a:avLst/>
          </a:prstGeom>
          <a:noFill/>
          <a:ln/>
        </p:spPr>
        <p:txBody>
          <a:bodyPr wrap="square" rtlCol="0" anchor="ctr"/>
          <a:lstStyle/>
          <a:p>
            <a:pPr indent="0" marL="0">
              <a:buNone/>
            </a:pPr>
            <a:r>
              <a:rPr lang="en-US" sz="2600" b="1" dirty="0">
                <a:solidFill>
                  <a:srgbClr val="14213D"/>
                </a:solidFill>
                <a:latin typeface="Cambria" pitchFamily="34" charset="0"/>
                <a:ea typeface="Cambria" pitchFamily="34" charset="-122"/>
                <a:cs typeface="Cambria" pitchFamily="34" charset="-120"/>
              </a:rPr>
              <a:t>References  (APA 7th ed.)</a:t>
            </a:r>
            <a:endParaRPr lang="en-US" sz="2600" dirty="0"/>
          </a:p>
        </p:txBody>
      </p:sp>
      <p:sp>
        <p:nvSpPr>
          <p:cNvPr id="6" name="Text 3"/>
          <p:cNvSpPr/>
          <p:nvPr/>
        </p:nvSpPr>
        <p:spPr>
          <a:xfrm>
            <a:off x="548640" y="1463040"/>
            <a:ext cx="11091672" cy="4937760"/>
          </a:xfrm>
          <a:prstGeom prst="rect">
            <a:avLst/>
          </a:prstGeom>
          <a:noFill/>
          <a:ln/>
        </p:spPr>
        <p:txBody>
          <a:bodyPr wrap="square" rtlCol="0" anchor="t"/>
          <a:lstStyle/>
          <a:p>
            <a:pPr indent="0" marL="0">
              <a:spcAft>
                <a:spcPts val="1200"/>
              </a:spcAft>
              <a:buNone/>
            </a:pPr>
            <a:r>
              <a:rPr lang="en-US" sz="1300" dirty="0">
                <a:solidFill>
                  <a:srgbClr val="1F2A44"/>
                </a:solidFill>
                <a:latin typeface="Calibri" pitchFamily="34" charset="0"/>
                <a:ea typeface="Calibri" pitchFamily="34" charset="-122"/>
                <a:cs typeface="Calibri" pitchFamily="34" charset="-120"/>
              </a:rPr>
              <a:t>Bernstein, D. J., Duif, N., Lange, T., Schwabe, P., &amp; Yang, B.-Y. (2012). High-speed high-security signatures. Journal of Cryptographic Engineering, 2(2), 77–89.</a:t>
            </a:r>
            <a:endParaRPr lang="en-US" sz="1300" dirty="0"/>
          </a:p>
          <a:p>
            <a:pPr indent="0" marL="0">
              <a:spcAft>
                <a:spcPts val="1200"/>
              </a:spcAft>
              <a:buNone/>
            </a:pPr>
            <a:r>
              <a:rPr lang="en-US" sz="1300" dirty="0">
                <a:solidFill>
                  <a:srgbClr val="1F2A44"/>
                </a:solidFill>
                <a:latin typeface="Calibri" pitchFamily="34" charset="0"/>
                <a:ea typeface="Calibri" pitchFamily="34" charset="-122"/>
                <a:cs typeface="Calibri" pitchFamily="34" charset="-120"/>
              </a:rPr>
              <a:t>Lamb, C., &amp; Zacchiroli, S. (2022). Reproducible builds: Increasing the integrity of software supply chains. IEEE Software, 39(2), 62–70. https://doi.org/10.1109/MS.2021.3073045</a:t>
            </a:r>
            <a:endParaRPr lang="en-US" sz="1300" dirty="0"/>
          </a:p>
          <a:p>
            <a:pPr indent="0" marL="0">
              <a:spcAft>
                <a:spcPts val="1200"/>
              </a:spcAft>
              <a:buNone/>
            </a:pPr>
            <a:r>
              <a:rPr lang="en-US" sz="1300" dirty="0">
                <a:solidFill>
                  <a:srgbClr val="1F2A44"/>
                </a:solidFill>
                <a:latin typeface="Calibri" pitchFamily="34" charset="0"/>
                <a:ea typeface="Calibri" pitchFamily="34" charset="-122"/>
                <a:cs typeface="Calibri" pitchFamily="34" charset="-120"/>
              </a:rPr>
              <a:t>Merkle, R. C. (1988). A digital signature based on a conventional encryption function. In C. Pomerance (Ed.), Advances in cryptology — CRYPTO ’87 (Lecture Notes in Computer Science, Vol. 293, pp. 369–378). Springer.</a:t>
            </a:r>
            <a:endParaRPr lang="en-US" sz="1300" dirty="0"/>
          </a:p>
          <a:p>
            <a:pPr indent="0" marL="0">
              <a:spcAft>
                <a:spcPts val="1200"/>
              </a:spcAft>
              <a:buNone/>
            </a:pPr>
            <a:r>
              <a:rPr lang="en-US" sz="1300" dirty="0">
                <a:solidFill>
                  <a:srgbClr val="1F2A44"/>
                </a:solidFill>
                <a:latin typeface="Calibri" pitchFamily="34" charset="0"/>
                <a:ea typeface="Calibri" pitchFamily="34" charset="-122"/>
                <a:cs typeface="Calibri" pitchFamily="34" charset="-120"/>
              </a:rPr>
              <a:t>National Institute of Standards and Technology. (2023). Digital signature standard (DSS) (FIPS PUB 186-5). U.S. Department of Commerce. https://doi.org/10.6028/NIST.FIPS.186-5</a:t>
            </a:r>
            <a:endParaRPr lang="en-US" sz="1300" dirty="0"/>
          </a:p>
          <a:p>
            <a:pPr indent="0" marL="0">
              <a:spcAft>
                <a:spcPts val="1200"/>
              </a:spcAft>
              <a:buNone/>
            </a:pPr>
            <a:r>
              <a:rPr lang="en-US" sz="1300" dirty="0">
                <a:solidFill>
                  <a:srgbClr val="1F2A44"/>
                </a:solidFill>
                <a:latin typeface="Calibri" pitchFamily="34" charset="0"/>
                <a:ea typeface="Calibri" pitchFamily="34" charset="-122"/>
                <a:cs typeface="Calibri" pitchFamily="34" charset="-120"/>
              </a:rPr>
              <a:t>U.S. Government Accountability Office. (2016). Information technology: Federal agencies need to address aging legacy systems (GAO-16-468). https://www.gao.gov/products/gao-16-468</a:t>
            </a:r>
            <a:endParaRPr lang="en-US" sz="1300" dirty="0"/>
          </a:p>
          <a:p>
            <a:pPr indent="0" marL="0">
              <a:spcAft>
                <a:spcPts val="1200"/>
              </a:spcAft>
              <a:buNone/>
            </a:pPr>
            <a:r>
              <a:rPr lang="en-US" sz="1300" dirty="0">
                <a:solidFill>
                  <a:srgbClr val="1F2A44"/>
                </a:solidFill>
                <a:latin typeface="Calibri" pitchFamily="34" charset="0"/>
                <a:ea typeface="Calibri" pitchFamily="34" charset="-122"/>
                <a:cs typeface="Calibri" pitchFamily="34" charset="-120"/>
              </a:rPr>
              <a:t>U.S. Government Accountability Office. (2019). Information technology: Agencies need to develop modernization plans for critical legacy systems (GAO-19-471). https://www.gao.gov/products/gao-19-471</a:t>
            </a:r>
            <a:endParaRPr lang="en-US" sz="1300" dirty="0"/>
          </a:p>
          <a:p>
            <a:pPr indent="0" marL="0">
              <a:spcAft>
                <a:spcPts val="1200"/>
              </a:spcAft>
              <a:buNone/>
            </a:pPr>
            <a:r>
              <a:rPr lang="en-US" sz="1300" dirty="0">
                <a:solidFill>
                  <a:srgbClr val="1F2A44"/>
                </a:solidFill>
                <a:latin typeface="Calibri" pitchFamily="34" charset="0"/>
                <a:ea typeface="Calibri" pitchFamily="34" charset="-122"/>
                <a:cs typeface="Calibri" pitchFamily="34" charset="-120"/>
              </a:rPr>
              <a:t>Montana State Procurement Services Division. (2026). Master AI products &amp; services contract (SPB26-0608GW-VSNBLX) [Government contract]. State of Montana.</a:t>
            </a:r>
            <a:endParaRPr lang="en-US" sz="1300" dirty="0"/>
          </a:p>
        </p:txBody>
      </p:sp>
      <p:sp>
        <p:nvSpPr>
          <p:cNvPr id="7" name="Text 4"/>
          <p:cNvSpPr/>
          <p:nvPr/>
        </p:nvSpPr>
        <p:spPr>
          <a:xfrm>
            <a:off x="548640" y="6446520"/>
            <a:ext cx="11091672" cy="320040"/>
          </a:xfrm>
          <a:prstGeom prst="rect">
            <a:avLst/>
          </a:prstGeom>
          <a:noFill/>
          <a:ln/>
        </p:spPr>
        <p:txBody>
          <a:bodyPr wrap="square" rtlCol="0" anchor="ctr"/>
          <a:lstStyle/>
          <a:p>
            <a:pPr algn="ctr" indent="0" marL="0">
              <a:buNone/>
            </a:pPr>
            <a:r>
              <a:rPr lang="en-US" sz="1000" i="1" dirty="0">
                <a:solidFill>
                  <a:srgbClr val="5B6B85"/>
                </a:solidFill>
                <a:latin typeface="Calibri" pitchFamily="34" charset="0"/>
                <a:ea typeface="Calibri" pitchFamily="34" charset="-122"/>
                <a:cs typeface="Calibri" pitchFamily="34" charset="-120"/>
              </a:rPr>
              <a:t>Prepared by A. K. Wooden, Sr.  ·  Visionblox LLC / Zuup Innovation Lab  ·  Relian™  ·  Internal — do not distribute externally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2026-08-17T02:02:41Z</dcterms:created>
  <dcterms:modified xsi:type="dcterms:W3CDTF">2026-08-17T02:02:41Z</dcterms:modified>
</cp:coreProperties>
</file>