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345643" cy="345643"/>
          </a:xfrm>
          <a:prstGeom prst="roundRect">
            <a:avLst>
              <a:gd name="adj" fmla="val 7937"/>
            </a:avLst>
          </a:prstGeom>
          <a:solidFill>
            <a:srgbClr val="F5F5F0"/>
          </a:solidFill>
          <a:ln/>
        </p:spPr>
      </p:sp>
      <p:sp>
        <p:nvSpPr>
          <p:cNvPr id="4" name="Shape 2"/>
          <p:cNvSpPr/>
          <p:nvPr/>
        </p:nvSpPr>
        <p:spPr>
          <a:xfrm>
            <a:off x="603943" y="558223"/>
            <a:ext cx="103693" cy="103693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5" name="Shape 3"/>
          <p:cNvSpPr/>
          <p:nvPr/>
        </p:nvSpPr>
        <p:spPr>
          <a:xfrm>
            <a:off x="735287" y="558223"/>
            <a:ext cx="103693" cy="103693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6" name="Shape 4"/>
          <p:cNvSpPr/>
          <p:nvPr/>
        </p:nvSpPr>
        <p:spPr>
          <a:xfrm>
            <a:off x="603943" y="689567"/>
            <a:ext cx="103693" cy="103693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7" name="Shape 5"/>
          <p:cNvSpPr/>
          <p:nvPr/>
        </p:nvSpPr>
        <p:spPr>
          <a:xfrm>
            <a:off x="735287" y="689567"/>
            <a:ext cx="103693" cy="103693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8" name="Text 6"/>
          <p:cNvSpPr/>
          <p:nvPr/>
        </p:nvSpPr>
        <p:spPr>
          <a:xfrm>
            <a:off x="1009498" y="484632"/>
            <a:ext cx="2496312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5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WHAT DOESN’T EXIST YET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914400" cy="914400"/>
          </a:xfrm>
          <a:prstGeom prst="roundRect">
            <a:avLst>
              <a:gd name="adj" fmla="val 5000"/>
            </a:avLst>
          </a:prstGeom>
          <a:solidFill>
            <a:srgbClr val="2EA89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2926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Relian™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48640" y="35204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Software Modernization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548640" y="4434840"/>
            <a:ext cx="9262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just migrate legacy code — prove it behaves identically, with cryptographic evidence anyone can verify.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5257800"/>
            <a:ext cx="1444752" cy="457200"/>
          </a:xfrm>
          <a:prstGeom prst="roundRect">
            <a:avLst>
              <a:gd name="adj" fmla="val 8000"/>
            </a:avLst>
          </a:prstGeom>
          <a:solidFill>
            <a:srgbClr val="2A3560"/>
          </a:solidFill>
          <a:ln w="12700">
            <a:solidFill>
              <a:srgbClr val="2EA8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525780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221992" y="525780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2A3560"/>
          </a:solidFill>
          <a:ln w="12700">
            <a:solidFill>
              <a:srgbClr val="2EA89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21992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· Local · Education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376672" y="5257800"/>
            <a:ext cx="1148486" cy="457200"/>
          </a:xfrm>
          <a:prstGeom prst="roundRect">
            <a:avLst>
              <a:gd name="adj" fmla="val 8000"/>
            </a:avLst>
          </a:prstGeom>
          <a:solidFill>
            <a:srgbClr val="2A3560"/>
          </a:solidFill>
          <a:ln w="12700">
            <a:solidFill>
              <a:srgbClr val="2EA89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76672" y="5257800"/>
            <a:ext cx="1148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 LLC  ·  Veteran-owned small business  ·  San Jose, CA / Huntsville, 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Modernization is a trust problem — not just a code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systems still run benefits, banking, courts, and records. The hard part isn’t writing new code — it’s proving the new code behaves exactly like the old. Traditional tools ask you to trust a black box.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3384" cy="2468880"/>
          </a:xfrm>
          <a:prstGeom prst="roundRect">
            <a:avLst>
              <a:gd name="adj" fmla="val 148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9489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2904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8–51 yrs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2904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of critical federal legacy systems still in service (GAO)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7784" y="2514600"/>
            <a:ext cx="3453384" cy="2468880"/>
          </a:xfrm>
          <a:prstGeom prst="roundRect">
            <a:avLst>
              <a:gd name="adj" fmla="val 148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2104" y="27889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24" y="29489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2104" y="3611880"/>
            <a:ext cx="2904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42104" y="4251960"/>
            <a:ext cx="2904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runs core systems as the workforce that maintains it retires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6928" y="2514600"/>
            <a:ext cx="3453384" cy="2468880"/>
          </a:xfrm>
          <a:prstGeom prst="roundRect">
            <a:avLst>
              <a:gd name="adj" fmla="val 148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1248" y="27889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268" y="29489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61248" y="3611880"/>
            <a:ext cx="2904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8461248" y="4251960"/>
            <a:ext cx="2904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federal IT spend goes to operating &amp; maintaining existing systems (GAO)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every board, examiner, and auditor asks: “how do you know the new system does the same thing?”  Relian answers it with proof.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6400800"/>
            <a:ext cx="11091672" cy="12802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" y="6473952"/>
            <a:ext cx="204094" cy="204094"/>
          </a:xfrm>
          <a:prstGeom prst="roundRect">
            <a:avLst>
              <a:gd name="adj" fmla="val 13441"/>
            </a:avLst>
          </a:prstGeom>
          <a:solidFill>
            <a:srgbClr val="232D5A"/>
          </a:solidFill>
          <a:ln/>
        </p:spPr>
      </p:sp>
      <p:sp>
        <p:nvSpPr>
          <p:cNvPr id="23" name="Shape 18"/>
          <p:cNvSpPr/>
          <p:nvPr/>
        </p:nvSpPr>
        <p:spPr>
          <a:xfrm>
            <a:off x="581295" y="6506607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4" name="Shape 19"/>
          <p:cNvSpPr/>
          <p:nvPr/>
        </p:nvSpPr>
        <p:spPr>
          <a:xfrm>
            <a:off x="658851" y="6506607"/>
            <a:ext cx="61228" cy="61228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25" name="Shape 20"/>
          <p:cNvSpPr/>
          <p:nvPr/>
        </p:nvSpPr>
        <p:spPr>
          <a:xfrm>
            <a:off x="581295" y="6584163"/>
            <a:ext cx="61228" cy="61228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6" name="Shape 21"/>
          <p:cNvSpPr/>
          <p:nvPr/>
        </p:nvSpPr>
        <p:spPr>
          <a:xfrm>
            <a:off x="658851" y="6584163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7" name="Text 22"/>
          <p:cNvSpPr/>
          <p:nvPr/>
        </p:nvSpPr>
        <p:spPr>
          <a:xfrm>
            <a:off x="820765" y="6455664"/>
            <a:ext cx="1474013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50" kern="0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930" dirty="0"/>
          </a:p>
        </p:txBody>
      </p:sp>
      <p:sp>
        <p:nvSpPr>
          <p:cNvPr id="28" name="Text 23"/>
          <p:cNvSpPr/>
          <p:nvPr/>
        </p:nvSpPr>
        <p:spPr>
          <a:xfrm>
            <a:off x="7982712" y="6455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Relian™  ·  Visionblox LLC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183112" y="64556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2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RELIAN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transformation-attestation substrate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4706"/>
            </a:avLst>
          </a:prstGeom>
          <a:solidFill>
            <a:srgbClr val="2A3560"/>
          </a:solidFill>
          <a:ln w="12700">
            <a:solidFill>
              <a:srgbClr val="2EA8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 does one thing no migration vendor can do for itself: </a:t>
            </a:r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prove that modernized code behaves identically to the original.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53384" cy="2697480"/>
          </a:xfrm>
          <a:prstGeom prst="roundRect">
            <a:avLst>
              <a:gd name="adj" fmla="val 1356"/>
            </a:avLst>
          </a:prstGeom>
          <a:solidFill>
            <a:srgbClr val="2A3560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88036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EA89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04495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24784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B4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41248" y="3703320"/>
            <a:ext cx="2904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transformation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" y="4251960"/>
            <a:ext cx="2904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reproducible, rule-based engine converts legacy code — the same input always yields the same output, with no black-box AI in the transform path.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7784" y="2606040"/>
            <a:ext cx="3453384" cy="2697480"/>
          </a:xfrm>
          <a:prstGeom prst="roundRect">
            <a:avLst>
              <a:gd name="adj" fmla="val 1356"/>
            </a:avLst>
          </a:prstGeom>
          <a:solidFill>
            <a:srgbClr val="2A3560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0392" y="288036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EA89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984" y="304495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43928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B4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660392" y="3703320"/>
            <a:ext cx="2904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benchmarking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60392" y="4251960"/>
            <a:ext cx="2904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equivalence is measured against a test suite cryptographically committed before the solution existed — so the results can’t be gamed.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86928" y="2606040"/>
            <a:ext cx="3453384" cy="2697480"/>
          </a:xfrm>
          <a:prstGeom prst="roundRect">
            <a:avLst>
              <a:gd name="adj" fmla="val 1356"/>
            </a:avLst>
          </a:prstGeom>
          <a:solidFill>
            <a:srgbClr val="2A3560"/>
          </a:solidFill>
          <a:ln/>
        </p:spPr>
      </p:sp>
      <p:sp>
        <p:nvSpPr>
          <p:cNvPr id="20" name="Shape 16"/>
          <p:cNvSpPr/>
          <p:nvPr/>
        </p:nvSpPr>
        <p:spPr>
          <a:xfrm>
            <a:off x="8479536" y="2880360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EA89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128" y="3044952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863072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3B4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8479536" y="3703320"/>
            <a:ext cx="2904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attestation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79536" y="4251960"/>
            <a:ext cx="2904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transformation yields a signed, hash-chained proof of equivalence that anyone can independently re-derive and verify.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the proof — not the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stays home — only the proof travels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669694" cy="2286000"/>
          </a:xfrm>
          <a:prstGeom prst="roundRect">
            <a:avLst>
              <a:gd name="adj" fmla="val 2191"/>
            </a:avLst>
          </a:prstGeom>
          <a:solidFill>
            <a:srgbClr val="F0F0F0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3447" y="22402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467" y="24003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63240"/>
            <a:ext cx="14502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legacy source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566160"/>
            <a:ext cx="14502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inside your perimeter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36622" y="265176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904134" y="1965960"/>
            <a:ext cx="1669694" cy="2286000"/>
          </a:xfrm>
          <a:prstGeom prst="roundRect">
            <a:avLst>
              <a:gd name="adj" fmla="val 219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8942" y="22402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962" y="24003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3862" y="3063240"/>
            <a:ext cx="14502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transform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013862" y="3566160"/>
            <a:ext cx="14502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conversion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92117" y="265176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5259629" y="1965960"/>
            <a:ext cx="1669694" cy="2286000"/>
          </a:xfrm>
          <a:prstGeom prst="roundRect">
            <a:avLst>
              <a:gd name="adj" fmla="val 219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74436" y="22402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24003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69357" y="3063240"/>
            <a:ext cx="14502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Equivalence measured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369357" y="3566160"/>
            <a:ext cx="14502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the committed benchmark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947611" y="265176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7615123" y="1965960"/>
            <a:ext cx="1669694" cy="2286000"/>
          </a:xfrm>
          <a:prstGeom prst="roundRect">
            <a:avLst>
              <a:gd name="adj" fmla="val 2191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29930" y="22402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950" y="24003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4851" y="3063240"/>
            <a:ext cx="14502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attestation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724851" y="3566160"/>
            <a:ext cx="14502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hash-chained, Ed25519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303106" y="265176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9970618" y="1965960"/>
            <a:ext cx="1669694" cy="2286000"/>
          </a:xfrm>
          <a:prstGeom prst="roundRect">
            <a:avLst>
              <a:gd name="adj" fmla="val 2191"/>
            </a:avLst>
          </a:prstGeom>
          <a:solidFill>
            <a:srgbClr val="E7F5F1"/>
          </a:solidFill>
          <a:ln w="15875">
            <a:solidFill>
              <a:srgbClr val="2EA891"/>
            </a:solidFill>
            <a:prstDash val="solid"/>
          </a:ln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485425" y="224028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EA89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5445" y="24003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080346" y="3063240"/>
            <a:ext cx="14502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proof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0080346" y="3566160"/>
            <a:ext cx="14502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verify it independently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8640" y="4617720"/>
            <a:ext cx="11091672" cy="1005840"/>
          </a:xfrm>
          <a:prstGeom prst="roundRect">
            <a:avLst>
              <a:gd name="adj" fmla="val 3636"/>
            </a:avLst>
          </a:prstGeom>
          <a:solidFill>
            <a:srgbClr val="232D5A"/>
          </a:solidFill>
          <a:ln/>
        </p:spPr>
      </p:sp>
      <p:sp>
        <p:nvSpPr>
          <p:cNvPr id="34" name="Text 27"/>
          <p:cNvSpPr/>
          <p:nvPr/>
        </p:nvSpPr>
        <p:spPr>
          <a:xfrm>
            <a:off x="868680" y="4617720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crosses the line is a portable artifact, not your code:  </a:t>
            </a:r>
            <a:pPr indent="0" marL="0"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equivalence proof, the measured metrics, and the inventory of exactly what was — and was not — transformed. It stays verifiable even if we’re not in the room.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548640" y="6400800"/>
            <a:ext cx="11091672" cy="12802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36" name="Shape 29"/>
          <p:cNvSpPr/>
          <p:nvPr/>
        </p:nvSpPr>
        <p:spPr>
          <a:xfrm>
            <a:off x="548640" y="6473952"/>
            <a:ext cx="204094" cy="204094"/>
          </a:xfrm>
          <a:prstGeom prst="roundRect">
            <a:avLst>
              <a:gd name="adj" fmla="val 13441"/>
            </a:avLst>
          </a:prstGeom>
          <a:solidFill>
            <a:srgbClr val="232D5A"/>
          </a:solidFill>
          <a:ln/>
        </p:spPr>
      </p:sp>
      <p:sp>
        <p:nvSpPr>
          <p:cNvPr id="37" name="Shape 30"/>
          <p:cNvSpPr/>
          <p:nvPr/>
        </p:nvSpPr>
        <p:spPr>
          <a:xfrm>
            <a:off x="581295" y="6506607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38" name="Shape 31"/>
          <p:cNvSpPr/>
          <p:nvPr/>
        </p:nvSpPr>
        <p:spPr>
          <a:xfrm>
            <a:off x="658851" y="6506607"/>
            <a:ext cx="61228" cy="61228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39" name="Shape 32"/>
          <p:cNvSpPr/>
          <p:nvPr/>
        </p:nvSpPr>
        <p:spPr>
          <a:xfrm>
            <a:off x="581295" y="6584163"/>
            <a:ext cx="61228" cy="61228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40" name="Shape 33"/>
          <p:cNvSpPr/>
          <p:nvPr/>
        </p:nvSpPr>
        <p:spPr>
          <a:xfrm>
            <a:off x="658851" y="6584163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41" name="Text 34"/>
          <p:cNvSpPr/>
          <p:nvPr/>
        </p:nvSpPr>
        <p:spPr>
          <a:xfrm>
            <a:off x="820765" y="6455664"/>
            <a:ext cx="1474013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50" kern="0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930" dirty="0"/>
          </a:p>
        </p:txBody>
      </p:sp>
      <p:sp>
        <p:nvSpPr>
          <p:cNvPr id="42" name="Text 35"/>
          <p:cNvSpPr/>
          <p:nvPr/>
        </p:nvSpPr>
        <p:spPr>
          <a:xfrm>
            <a:off x="7982712" y="6455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Relian™  ·  Visionblox LLC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183112" y="64556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SUBSTRATE, NOT A SAAS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rent a SaaS. You own a substrate’s proof.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3251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SaaS migration tool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Relian — verifiable substrate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D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3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3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the vendor’s black 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the proof yourself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3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3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Non-deterministic AI; hard to reproduce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&amp; reproducible — no black-box AI in the path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3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source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3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Uploaded to the vendor’s cloud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leaves your perimeter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3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vendor exits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3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&amp; assurance evaporate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signed proof persists &amp; stays verifiable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3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3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output plus an SLA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Non-repudiable evidence for auditors, IG &amp; boards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3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it can vouch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3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its own output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D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 vendor’s migration — the independent referee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isn’t hosting — it’s where trust comes from, and what you’re left holding.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6400800"/>
            <a:ext cx="11091672" cy="12802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6473952"/>
            <a:ext cx="204094" cy="204094"/>
          </a:xfrm>
          <a:prstGeom prst="roundRect">
            <a:avLst>
              <a:gd name="adj" fmla="val 13441"/>
            </a:avLst>
          </a:prstGeom>
          <a:solidFill>
            <a:srgbClr val="232D5A"/>
          </a:solidFill>
          <a:ln/>
        </p:spPr>
      </p:sp>
      <p:sp>
        <p:nvSpPr>
          <p:cNvPr id="8" name="Shape 5"/>
          <p:cNvSpPr/>
          <p:nvPr/>
        </p:nvSpPr>
        <p:spPr>
          <a:xfrm>
            <a:off x="581295" y="6506607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9" name="Shape 6"/>
          <p:cNvSpPr/>
          <p:nvPr/>
        </p:nvSpPr>
        <p:spPr>
          <a:xfrm>
            <a:off x="658851" y="6506607"/>
            <a:ext cx="61228" cy="61228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10" name="Shape 7"/>
          <p:cNvSpPr/>
          <p:nvPr/>
        </p:nvSpPr>
        <p:spPr>
          <a:xfrm>
            <a:off x="581295" y="6584163"/>
            <a:ext cx="61228" cy="61228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11" name="Shape 8"/>
          <p:cNvSpPr/>
          <p:nvPr/>
        </p:nvSpPr>
        <p:spPr>
          <a:xfrm>
            <a:off x="658851" y="6584163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12" name="Text 9"/>
          <p:cNvSpPr/>
          <p:nvPr/>
        </p:nvSpPr>
        <p:spPr>
          <a:xfrm>
            <a:off x="820765" y="6455664"/>
            <a:ext cx="1474013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50" kern="0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7982712" y="6455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Relian™  ·  Visionblox LLC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3112" y="64556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2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REFEREE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 can verify anyone’s migration — even one we didn’t run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attestation is independent of the transform, Relian can act as the neutral referee for modernization: point it at any vendor’s output plus a committed benchmark, and it returns a signed equivalence verdict. That makes Relian an assurance layer, not just a tool.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453384" cy="2377440"/>
          </a:xfrm>
          <a:prstGeom prst="roundRect">
            <a:avLst>
              <a:gd name="adj" fmla="val 1538"/>
            </a:avLst>
          </a:prstGeom>
          <a:solidFill>
            <a:srgbClr val="2A3560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30175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EA89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31775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79476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" y="4251960"/>
            <a:ext cx="2904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is decoupled from the party doing the work — the referee doesn’t play for either side.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7784" y="2743200"/>
            <a:ext cx="3453384" cy="2377440"/>
          </a:xfrm>
          <a:prstGeom prst="roundRect">
            <a:avLst>
              <a:gd name="adj" fmla="val 1538"/>
            </a:avLst>
          </a:prstGeom>
          <a:solidFill>
            <a:srgbClr val="2A3560"/>
          </a:solidFill>
          <a:ln/>
        </p:spPr>
      </p:sp>
      <p:sp>
        <p:nvSpPr>
          <p:cNvPr id="12" name="Shape 9"/>
          <p:cNvSpPr/>
          <p:nvPr/>
        </p:nvSpPr>
        <p:spPr>
          <a:xfrm>
            <a:off x="4660392" y="30175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EA89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412" y="31775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0392" y="379476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60392" y="4251960"/>
            <a:ext cx="2904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 travels with the code and outlives any single vendor, tool, or contract.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86928" y="2743200"/>
            <a:ext cx="3453384" cy="2377440"/>
          </a:xfrm>
          <a:prstGeom prst="roundRect">
            <a:avLst>
              <a:gd name="adj" fmla="val 1538"/>
            </a:avLst>
          </a:prstGeom>
          <a:solidFill>
            <a:srgbClr val="2A3560"/>
          </a:solidFill>
          <a:ln/>
        </p:spPr>
      </p:sp>
      <p:sp>
        <p:nvSpPr>
          <p:cNvPr id="17" name="Shape 13"/>
          <p:cNvSpPr/>
          <p:nvPr/>
        </p:nvSpPr>
        <p:spPr>
          <a:xfrm>
            <a:off x="8479536" y="30175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EA89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556" y="31775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79536" y="379476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79536" y="4251960"/>
            <a:ext cx="2904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assurance layer across tools and vendors — extended to each new language pair benchmark-first.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a migration tool — an assurance layer for modernization.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measured — not asserted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71516" cy="1874520"/>
          </a:xfrm>
          <a:prstGeom prst="roundRect">
            <a:avLst>
              <a:gd name="adj" fmla="val 195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EA89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38999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 1.0000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2651760"/>
            <a:ext cx="4722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behavioral equivalence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2953512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sealed RELIAN-BENCH held-out suite, across supported COBOL constructs.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68796" y="1600200"/>
            <a:ext cx="5271516" cy="1874520"/>
          </a:xfrm>
          <a:prstGeom prst="roundRect">
            <a:avLst>
              <a:gd name="adj" fmla="val 195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61404" y="1892808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EA89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996" y="20574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1796" y="1874520"/>
            <a:ext cx="38999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61404" y="2651760"/>
            <a:ext cx="4722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output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661404" y="2953512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legacy input produces byte-for-byte identical modernized code, every run.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271516" cy="1874520"/>
          </a:xfrm>
          <a:prstGeom prst="roundRect">
            <a:avLst>
              <a:gd name="adj" fmla="val 195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3950208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EA89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11480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931920"/>
            <a:ext cx="38999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1248" y="4709160"/>
            <a:ext cx="4722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Signed, re-derivable ledger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1248" y="5010912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hash-chained attestation any third party can independently reconstruct and check.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68796" y="3657600"/>
            <a:ext cx="5271516" cy="1874520"/>
          </a:xfrm>
          <a:prstGeom prst="roundRect">
            <a:avLst>
              <a:gd name="adj" fmla="val 195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61404" y="3950208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EA89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411480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11796" y="3931920"/>
            <a:ext cx="38999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or withheld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661404" y="4709160"/>
            <a:ext cx="4722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estimated numbers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661404" y="5010912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in a Relian report is measured or omitted — never guessed or padded.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56692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discipline is the compliance program — the same records satisfy an auditor, an IG, and a board.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6400800"/>
            <a:ext cx="11091672" cy="12802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30" name="Shape 24"/>
          <p:cNvSpPr/>
          <p:nvPr/>
        </p:nvSpPr>
        <p:spPr>
          <a:xfrm>
            <a:off x="548640" y="6473952"/>
            <a:ext cx="204094" cy="204094"/>
          </a:xfrm>
          <a:prstGeom prst="roundRect">
            <a:avLst>
              <a:gd name="adj" fmla="val 13441"/>
            </a:avLst>
          </a:prstGeom>
          <a:solidFill>
            <a:srgbClr val="232D5A"/>
          </a:solidFill>
          <a:ln/>
        </p:spPr>
      </p:sp>
      <p:sp>
        <p:nvSpPr>
          <p:cNvPr id="31" name="Shape 25"/>
          <p:cNvSpPr/>
          <p:nvPr/>
        </p:nvSpPr>
        <p:spPr>
          <a:xfrm>
            <a:off x="581295" y="6506607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32" name="Shape 26"/>
          <p:cNvSpPr/>
          <p:nvPr/>
        </p:nvSpPr>
        <p:spPr>
          <a:xfrm>
            <a:off x="658851" y="6506607"/>
            <a:ext cx="61228" cy="61228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33" name="Shape 27"/>
          <p:cNvSpPr/>
          <p:nvPr/>
        </p:nvSpPr>
        <p:spPr>
          <a:xfrm>
            <a:off x="581295" y="6584163"/>
            <a:ext cx="61228" cy="61228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34" name="Shape 28"/>
          <p:cNvSpPr/>
          <p:nvPr/>
        </p:nvSpPr>
        <p:spPr>
          <a:xfrm>
            <a:off x="658851" y="6584163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35" name="Text 29"/>
          <p:cNvSpPr/>
          <p:nvPr/>
        </p:nvSpPr>
        <p:spPr>
          <a:xfrm>
            <a:off x="820765" y="6455664"/>
            <a:ext cx="1474013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50" kern="0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930" dirty="0"/>
          </a:p>
        </p:txBody>
      </p:sp>
      <p:sp>
        <p:nvSpPr>
          <p:cNvPr id="36" name="Text 30"/>
          <p:cNvSpPr/>
          <p:nvPr/>
        </p:nvSpPr>
        <p:spPr>
          <a:xfrm>
            <a:off x="7982712" y="6455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Relian™  ·  Visionblox LLC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183112" y="64556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enterprises carrying legacy risk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Banks, insurers, healthcare payers, manufacturers, and software vendors modernizing mainframe or aging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088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468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95144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Mainframe &amp; COBOL modernization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624328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legacy risk with board- and auditor-ready proof that the new system behaves identically.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273552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" y="343357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35935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419856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&amp; technology due diligence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3749040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 that an acquired codebase’s modernization preserved behavior — evidence for the deal file.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98264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4558284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718304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544568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audit assurance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4873752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examiners a signed equivalence record instead of a vendor’s assertion.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5541264"/>
            <a:ext cx="11091672" cy="566928"/>
          </a:xfrm>
          <a:prstGeom prst="roundRect">
            <a:avLst>
              <a:gd name="adj" fmla="val 6452"/>
            </a:avLst>
          </a:prstGeom>
          <a:solidFill>
            <a:srgbClr val="E7F5F1"/>
          </a:solidFill>
          <a:ln w="12700">
            <a:solidFill>
              <a:srgbClr val="2EA89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5541264"/>
            <a:ext cx="10543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  </a:t>
            </a:r>
            <a:pPr indent="0" marL="0">
              <a:buNone/>
            </a:pPr>
            <a:r>
              <a:rPr lang="en-US" sz="125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source and IP in-house. Replace “trust the vendor” with evidence you own.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6400800"/>
            <a:ext cx="11091672" cy="12802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3" name="Shape 18"/>
          <p:cNvSpPr/>
          <p:nvPr/>
        </p:nvSpPr>
        <p:spPr>
          <a:xfrm>
            <a:off x="548640" y="6473952"/>
            <a:ext cx="204094" cy="204094"/>
          </a:xfrm>
          <a:prstGeom prst="roundRect">
            <a:avLst>
              <a:gd name="adj" fmla="val 13441"/>
            </a:avLst>
          </a:prstGeom>
          <a:solidFill>
            <a:srgbClr val="232D5A"/>
          </a:solidFill>
          <a:ln/>
        </p:spPr>
      </p:sp>
      <p:sp>
        <p:nvSpPr>
          <p:cNvPr id="24" name="Shape 19"/>
          <p:cNvSpPr/>
          <p:nvPr/>
        </p:nvSpPr>
        <p:spPr>
          <a:xfrm>
            <a:off x="581295" y="6506607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5" name="Shape 20"/>
          <p:cNvSpPr/>
          <p:nvPr/>
        </p:nvSpPr>
        <p:spPr>
          <a:xfrm>
            <a:off x="658851" y="6506607"/>
            <a:ext cx="61228" cy="61228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26" name="Shape 21"/>
          <p:cNvSpPr/>
          <p:nvPr/>
        </p:nvSpPr>
        <p:spPr>
          <a:xfrm>
            <a:off x="581295" y="6584163"/>
            <a:ext cx="61228" cy="61228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7" name="Shape 22"/>
          <p:cNvSpPr/>
          <p:nvPr/>
        </p:nvSpPr>
        <p:spPr>
          <a:xfrm>
            <a:off x="658851" y="6584163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8" name="Text 23"/>
          <p:cNvSpPr/>
          <p:nvPr/>
        </p:nvSpPr>
        <p:spPr>
          <a:xfrm>
            <a:off x="820765" y="6455664"/>
            <a:ext cx="1474013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50" kern="0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930" dirty="0"/>
          </a:p>
        </p:txBody>
      </p:sp>
      <p:sp>
        <p:nvSpPr>
          <p:cNvPr id="29" name="Text 24"/>
          <p:cNvSpPr/>
          <p:nvPr/>
        </p:nvSpPr>
        <p:spPr>
          <a:xfrm>
            <a:off x="7982712" y="6455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Relian™  ·  Visionblox LLC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3112" y="64556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· LOCAL · EDUCATION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governments modernizing citizen systems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agencies, counties and cities, school districts, and tribal governments.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088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468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95144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eligibility systems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624328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unemployment, Medicaid-eligibility, or tax systems with attestation for oversight.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273552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" y="343357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35935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419856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Courts, DMV &amp; licensing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3749040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case, licensing, and records systems with data kept on-premise (CJIS / PII).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98264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4558284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718304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544568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School-district SIS &amp; payroll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4873752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student-information and payroll systems with FERPA-safe data handling.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5541264"/>
            <a:ext cx="11091672" cy="566928"/>
          </a:xfrm>
          <a:prstGeom prst="roundRect">
            <a:avLst>
              <a:gd name="adj" fmla="val 6452"/>
            </a:avLst>
          </a:prstGeom>
          <a:solidFill>
            <a:srgbClr val="E7F5F1"/>
          </a:solidFill>
          <a:ln w="12700">
            <a:solidFill>
              <a:srgbClr val="2EA89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5541264"/>
            <a:ext cx="10543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  </a:t>
            </a:r>
            <a:pPr indent="0" marL="0">
              <a:buNone/>
            </a:pPr>
            <a:r>
              <a:rPr lang="en-US" sz="125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fast through cooperative purchasing. US-only, on-premise data residency. Board- and audit-ready evidence.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6400800"/>
            <a:ext cx="11091672" cy="12802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3" name="Shape 18"/>
          <p:cNvSpPr/>
          <p:nvPr/>
        </p:nvSpPr>
        <p:spPr>
          <a:xfrm>
            <a:off x="548640" y="6473952"/>
            <a:ext cx="204094" cy="204094"/>
          </a:xfrm>
          <a:prstGeom prst="roundRect">
            <a:avLst>
              <a:gd name="adj" fmla="val 13441"/>
            </a:avLst>
          </a:prstGeom>
          <a:solidFill>
            <a:srgbClr val="232D5A"/>
          </a:solidFill>
          <a:ln/>
        </p:spPr>
      </p:sp>
      <p:sp>
        <p:nvSpPr>
          <p:cNvPr id="24" name="Shape 19"/>
          <p:cNvSpPr/>
          <p:nvPr/>
        </p:nvSpPr>
        <p:spPr>
          <a:xfrm>
            <a:off x="581295" y="6506607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5" name="Shape 20"/>
          <p:cNvSpPr/>
          <p:nvPr/>
        </p:nvSpPr>
        <p:spPr>
          <a:xfrm>
            <a:off x="658851" y="6506607"/>
            <a:ext cx="61228" cy="61228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26" name="Shape 21"/>
          <p:cNvSpPr/>
          <p:nvPr/>
        </p:nvSpPr>
        <p:spPr>
          <a:xfrm>
            <a:off x="581295" y="6584163"/>
            <a:ext cx="61228" cy="61228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7" name="Shape 22"/>
          <p:cNvSpPr/>
          <p:nvPr/>
        </p:nvSpPr>
        <p:spPr>
          <a:xfrm>
            <a:off x="658851" y="6584163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8" name="Text 23"/>
          <p:cNvSpPr/>
          <p:nvPr/>
        </p:nvSpPr>
        <p:spPr>
          <a:xfrm>
            <a:off x="820765" y="6455664"/>
            <a:ext cx="1474013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50" kern="0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930" dirty="0"/>
          </a:p>
        </p:txBody>
      </p:sp>
      <p:sp>
        <p:nvSpPr>
          <p:cNvPr id="29" name="Text 24"/>
          <p:cNvSpPr/>
          <p:nvPr/>
        </p:nvSpPr>
        <p:spPr>
          <a:xfrm>
            <a:off x="7982712" y="6455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Relian™  ·  Visionblox LLC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3112" y="64556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agencies under modernization &amp; oversight mandates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departments and agencies with legacy IT — and the systems integrators and primes that serve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088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468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95144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legacy-system modernization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624328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non-repudiable equivalence evidence that satisfies IG and GAO oversight.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273552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/>
        </p:spPr>
      </p:sp>
      <p:sp>
        <p:nvSpPr>
          <p:cNvPr id="11" name="Shape 8"/>
          <p:cNvSpPr/>
          <p:nvPr/>
        </p:nvSpPr>
        <p:spPr>
          <a:xfrm>
            <a:off x="804672" y="343357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35935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419856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/ on-premise transformation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3749040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never leaves the enclave and never touches a generative-AI model.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98264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4558284"/>
            <a:ext cx="640080" cy="640080"/>
          </a:xfrm>
          <a:prstGeom prst="roundRect">
            <a:avLst>
              <a:gd name="adj" fmla="val 7143"/>
            </a:avLst>
          </a:prstGeom>
          <a:solidFill>
            <a:srgbClr val="232D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718304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544568"/>
            <a:ext cx="9720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supply-chain integrity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4873752"/>
            <a:ext cx="9720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transformation plus signed provenance, aligned to a zero-trust posture.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5541264"/>
            <a:ext cx="11091672" cy="566928"/>
          </a:xfrm>
          <a:prstGeom prst="roundRect">
            <a:avLst>
              <a:gd name="adj" fmla="val 6452"/>
            </a:avLst>
          </a:prstGeom>
          <a:solidFill>
            <a:srgbClr val="E7F5F1"/>
          </a:solidFill>
          <a:ln w="12700">
            <a:solidFill>
              <a:srgbClr val="2EA89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5541264"/>
            <a:ext cx="10543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  </a:t>
            </a:r>
            <a:pPr indent="0" marL="0">
              <a:buNone/>
            </a:pPr>
            <a:r>
              <a:rPr lang="en-US" sz="125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 as audit evidence. No offshore access. Evidence discipline that supports FISMA, CMMC &amp; FedRAMP programs.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6400800"/>
            <a:ext cx="11091672" cy="12802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3" name="Shape 18"/>
          <p:cNvSpPr/>
          <p:nvPr/>
        </p:nvSpPr>
        <p:spPr>
          <a:xfrm>
            <a:off x="548640" y="6473952"/>
            <a:ext cx="204094" cy="204094"/>
          </a:xfrm>
          <a:prstGeom prst="roundRect">
            <a:avLst>
              <a:gd name="adj" fmla="val 13441"/>
            </a:avLst>
          </a:prstGeom>
          <a:solidFill>
            <a:srgbClr val="232D5A"/>
          </a:solidFill>
          <a:ln/>
        </p:spPr>
      </p:sp>
      <p:sp>
        <p:nvSpPr>
          <p:cNvPr id="24" name="Shape 19"/>
          <p:cNvSpPr/>
          <p:nvPr/>
        </p:nvSpPr>
        <p:spPr>
          <a:xfrm>
            <a:off x="581295" y="6506607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5" name="Shape 20"/>
          <p:cNvSpPr/>
          <p:nvPr/>
        </p:nvSpPr>
        <p:spPr>
          <a:xfrm>
            <a:off x="658851" y="6506607"/>
            <a:ext cx="61228" cy="61228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26" name="Shape 21"/>
          <p:cNvSpPr/>
          <p:nvPr/>
        </p:nvSpPr>
        <p:spPr>
          <a:xfrm>
            <a:off x="581295" y="6584163"/>
            <a:ext cx="61228" cy="61228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7" name="Shape 22"/>
          <p:cNvSpPr/>
          <p:nvPr/>
        </p:nvSpPr>
        <p:spPr>
          <a:xfrm>
            <a:off x="658851" y="6584163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8" name="Text 23"/>
          <p:cNvSpPr/>
          <p:nvPr/>
        </p:nvSpPr>
        <p:spPr>
          <a:xfrm>
            <a:off x="820765" y="6455664"/>
            <a:ext cx="1474013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50" kern="0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930" dirty="0"/>
          </a:p>
        </p:txBody>
      </p:sp>
      <p:sp>
        <p:nvSpPr>
          <p:cNvPr id="29" name="Text 24"/>
          <p:cNvSpPr/>
          <p:nvPr/>
        </p:nvSpPr>
        <p:spPr>
          <a:xfrm>
            <a:off x="7982712" y="6455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Relian™  ·  Visionblox LLC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3112" y="64556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 — LOW-RISK ENTRY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fixed-fee assessments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71516" cy="3063240"/>
          </a:xfrm>
          <a:prstGeom prst="roundRect">
            <a:avLst>
              <a:gd name="adj" fmla="val 1194"/>
            </a:avLst>
          </a:prstGeom>
          <a:solidFill>
            <a:srgbClr val="FFFFFF"/>
          </a:solidFill>
          <a:ln w="15875">
            <a:solidFill>
              <a:srgbClr val="2EA891"/>
            </a:solidFill>
            <a:prstDash val="solid"/>
          </a:ln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7088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EA89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99916" y="1773936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$8K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645920" y="1901952"/>
            <a:ext cx="2436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Code Assessment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651760"/>
            <a:ext cx="4722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signed report you can act on: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017520"/>
            <a:ext cx="46314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inventory &amp; transformation-coverage map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&amp; risk scoring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Migration-scope recommendation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68796" y="1554480"/>
            <a:ext cx="5271516" cy="3063240"/>
          </a:xfrm>
          <a:prstGeom prst="roundRect">
            <a:avLst>
              <a:gd name="adj" fmla="val 1194"/>
            </a:avLst>
          </a:prstGeom>
          <a:solidFill>
            <a:srgbClr val="FFFFFF"/>
          </a:solidFill>
          <a:ln w="15875">
            <a:solidFill>
              <a:srgbClr val="232D5A"/>
            </a:solidFill>
            <a:prstDash val="solid"/>
          </a:ln>
          <a:effectLst>
            <a:outerShdw sx="100000" sy="100000" kx="0" ky="0" algn="bl" rotWithShape="0" blurRad="76200" dist="25400" dir="5400000">
              <a:srgbClr val="B9C0CE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61404" y="1847088"/>
            <a:ext cx="658368" cy="658368"/>
          </a:xfrm>
          <a:prstGeom prst="roundRect">
            <a:avLst>
              <a:gd name="adj" fmla="val 6944"/>
            </a:avLst>
          </a:prstGeom>
          <a:solidFill>
            <a:srgbClr val="232D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996" y="201168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582912" y="177393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$12K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7466076" y="1901952"/>
            <a:ext cx="22539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Discovery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661404" y="2651760"/>
            <a:ext cx="4722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signed report on the data behind the code: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88836" y="3017520"/>
            <a:ext cx="46314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data dictionary &amp; record layouts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inventory &amp; program-to-data lineage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relational target schema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4846320"/>
            <a:ext cx="11091672" cy="960120"/>
          </a:xfrm>
          <a:prstGeom prst="roundRect">
            <a:avLst>
              <a:gd name="adj" fmla="val 3810"/>
            </a:avLst>
          </a:prstGeom>
          <a:solidFill>
            <a:srgbClr val="232D5A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484632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model on your real code before committing to a migration.  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Public-sector buyers can purchase through the State of Montana MAPS cooperative vehicle (SPB26-0608GW) — cooperative purchasing extends to other states, local and tribal governments, and federal agencies.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6400800"/>
            <a:ext cx="11091672" cy="12802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1" name="Shape 17"/>
          <p:cNvSpPr/>
          <p:nvPr/>
        </p:nvSpPr>
        <p:spPr>
          <a:xfrm>
            <a:off x="548640" y="6473952"/>
            <a:ext cx="204094" cy="204094"/>
          </a:xfrm>
          <a:prstGeom prst="roundRect">
            <a:avLst>
              <a:gd name="adj" fmla="val 13441"/>
            </a:avLst>
          </a:prstGeom>
          <a:solidFill>
            <a:srgbClr val="232D5A"/>
          </a:solidFill>
          <a:ln/>
        </p:spPr>
      </p:sp>
      <p:sp>
        <p:nvSpPr>
          <p:cNvPr id="22" name="Shape 18"/>
          <p:cNvSpPr/>
          <p:nvPr/>
        </p:nvSpPr>
        <p:spPr>
          <a:xfrm>
            <a:off x="581295" y="6506607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3" name="Shape 19"/>
          <p:cNvSpPr/>
          <p:nvPr/>
        </p:nvSpPr>
        <p:spPr>
          <a:xfrm>
            <a:off x="658851" y="6506607"/>
            <a:ext cx="61228" cy="61228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24" name="Shape 20"/>
          <p:cNvSpPr/>
          <p:nvPr/>
        </p:nvSpPr>
        <p:spPr>
          <a:xfrm>
            <a:off x="581295" y="6584163"/>
            <a:ext cx="61228" cy="61228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25" name="Shape 21"/>
          <p:cNvSpPr/>
          <p:nvPr/>
        </p:nvSpPr>
        <p:spPr>
          <a:xfrm>
            <a:off x="658851" y="6584163"/>
            <a:ext cx="61228" cy="61228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26" name="Text 22"/>
          <p:cNvSpPr/>
          <p:nvPr/>
        </p:nvSpPr>
        <p:spPr>
          <a:xfrm>
            <a:off x="820765" y="6455664"/>
            <a:ext cx="1474013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spc="150" kern="0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930" dirty="0"/>
          </a:p>
        </p:txBody>
      </p:sp>
      <p:sp>
        <p:nvSpPr>
          <p:cNvPr id="27" name="Text 23"/>
          <p:cNvSpPr/>
          <p:nvPr/>
        </p:nvSpPr>
        <p:spPr>
          <a:xfrm>
            <a:off x="7982712" y="6455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Relian™  ·  Visionblox LLC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183112" y="64556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312725" cy="312725"/>
          </a:xfrm>
          <a:prstGeom prst="roundRect">
            <a:avLst>
              <a:gd name="adj" fmla="val 8772"/>
            </a:avLst>
          </a:prstGeom>
          <a:solidFill>
            <a:srgbClr val="F5F5F0"/>
          </a:solidFill>
          <a:ln/>
        </p:spPr>
      </p:sp>
      <p:sp>
        <p:nvSpPr>
          <p:cNvPr id="4" name="Shape 2"/>
          <p:cNvSpPr/>
          <p:nvPr/>
        </p:nvSpPr>
        <p:spPr>
          <a:xfrm>
            <a:off x="598676" y="552956"/>
            <a:ext cx="93817" cy="93817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5" name="Shape 3"/>
          <p:cNvSpPr/>
          <p:nvPr/>
        </p:nvSpPr>
        <p:spPr>
          <a:xfrm>
            <a:off x="717511" y="552956"/>
            <a:ext cx="93817" cy="93817"/>
          </a:xfrm>
          <a:prstGeom prst="rect">
            <a:avLst/>
          </a:prstGeom>
          <a:solidFill>
            <a:srgbClr val="7FD4C1"/>
          </a:solidFill>
          <a:ln/>
        </p:spPr>
      </p:sp>
      <p:sp>
        <p:nvSpPr>
          <p:cNvPr id="6" name="Shape 4"/>
          <p:cNvSpPr/>
          <p:nvPr/>
        </p:nvSpPr>
        <p:spPr>
          <a:xfrm>
            <a:off x="598676" y="671791"/>
            <a:ext cx="93817" cy="93817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7" name="Shape 5"/>
          <p:cNvSpPr/>
          <p:nvPr/>
        </p:nvSpPr>
        <p:spPr>
          <a:xfrm>
            <a:off x="717511" y="671791"/>
            <a:ext cx="93817" cy="93817"/>
          </a:xfrm>
          <a:prstGeom prst="rect">
            <a:avLst/>
          </a:prstGeom>
          <a:solidFill>
            <a:srgbClr val="2EA891"/>
          </a:solidFill>
          <a:ln/>
        </p:spPr>
      </p:sp>
      <p:sp>
        <p:nvSpPr>
          <p:cNvPr id="8" name="Text 6"/>
          <p:cNvSpPr/>
          <p:nvPr/>
        </p:nvSpPr>
        <p:spPr>
          <a:xfrm>
            <a:off x="965606" y="484632"/>
            <a:ext cx="2258568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VISIONBLOX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it. Don’t just promise it.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532888" cy="1600200"/>
          </a:xfrm>
          <a:prstGeom prst="roundRect">
            <a:avLst>
              <a:gd name="adj" fmla="val 2286"/>
            </a:avLst>
          </a:prstGeom>
          <a:solidFill>
            <a:srgbClr val="2A3560"/>
          </a:solidFill>
          <a:ln/>
        </p:spPr>
      </p:sp>
      <p:sp>
        <p:nvSpPr>
          <p:cNvPr id="11" name="Shape 9"/>
          <p:cNvSpPr/>
          <p:nvPr/>
        </p:nvSpPr>
        <p:spPr>
          <a:xfrm>
            <a:off x="1531620" y="25146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2EA891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656332"/>
            <a:ext cx="283464" cy="2834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32004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35204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equivalence proof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01568" y="2286000"/>
            <a:ext cx="2532888" cy="1600200"/>
          </a:xfrm>
          <a:prstGeom prst="roundRect">
            <a:avLst>
              <a:gd name="adj" fmla="val 2286"/>
            </a:avLst>
          </a:prstGeom>
          <a:solidFill>
            <a:srgbClr val="2A3560"/>
          </a:solidFill>
          <a:ln/>
        </p:spPr>
      </p:sp>
      <p:sp>
        <p:nvSpPr>
          <p:cNvPr id="16" name="Shape 13"/>
          <p:cNvSpPr/>
          <p:nvPr/>
        </p:nvSpPr>
        <p:spPr>
          <a:xfrm>
            <a:off x="4384548" y="25146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2EA89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65633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01568" y="32004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538728" y="35204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outlives us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54496" y="2286000"/>
            <a:ext cx="2532888" cy="1600200"/>
          </a:xfrm>
          <a:prstGeom prst="roundRect">
            <a:avLst>
              <a:gd name="adj" fmla="val 2286"/>
            </a:avLst>
          </a:prstGeom>
          <a:solidFill>
            <a:srgbClr val="2A3560"/>
          </a:solidFill>
          <a:ln/>
        </p:spPr>
      </p:sp>
      <p:sp>
        <p:nvSpPr>
          <p:cNvPr id="21" name="Shape 17"/>
          <p:cNvSpPr/>
          <p:nvPr/>
        </p:nvSpPr>
        <p:spPr>
          <a:xfrm>
            <a:off x="7237476" y="25146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2EA89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656332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54496" y="32004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391656" y="35204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never leaves you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107424" y="2286000"/>
            <a:ext cx="2532888" cy="1600200"/>
          </a:xfrm>
          <a:prstGeom prst="roundRect">
            <a:avLst>
              <a:gd name="adj" fmla="val 2286"/>
            </a:avLst>
          </a:prstGeom>
          <a:solidFill>
            <a:srgbClr val="2A3560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90404" y="25146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2EA89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36" y="2656332"/>
            <a:ext cx="283464" cy="2834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07424" y="32004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D4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244584" y="3520440"/>
            <a:ext cx="2258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neutral referee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4160520"/>
            <a:ext cx="11091672" cy="1600200"/>
          </a:xfrm>
          <a:prstGeom prst="roundRect">
            <a:avLst>
              <a:gd name="adj" fmla="val 2286"/>
            </a:avLst>
          </a:prstGeom>
          <a:solidFill>
            <a:srgbClr val="2A3560"/>
          </a:solidFill>
          <a:ln w="12700">
            <a:solidFill>
              <a:srgbClr val="2EA89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an assessment.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914400" y="480060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Khaalis Wooden, Sr.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Director, Enterprise Capture &amp; Compliance  ·  Visionblox LLC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914400" y="51937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A89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5271516"/>
            <a:ext cx="155448" cy="1554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325880" y="5175504"/>
            <a:ext cx="9994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(256) 988-1130   ·   kwooden@visionblox.com   ·   San Jose, CA / Huntsville, AL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CAGE 9Z4X2   ·   UEI H4X2Z7R9E3E3   ·   NAICS 541511 · 541512 · 541519 · 518210 · 541611 · 541330   ·   Veteran-owned small business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 (APA 7th ed.)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Bernstein, D. J., Duif, N., Lange, T., Schwabe, P., &amp; Yang, B.-Y. (2012). High-speed high-security signatures. Journal of Cryptographic Engineering, 2(2), 77–89.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Lamb, C., &amp; Zacchiroli, S. (2022). Reproducible builds: Increasing the integrity of software supply chains. IEEE Software, 39(2), 62–70. https://doi.org/10.1109/MS.2021.3073045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Merkle, R. C. (1988). A digital signature based on a conventional encryption function. In C. Pomerance (Ed.), Advances in cryptology — CRYPTO ’87 (Lecture Notes in Computer Science, Vol. 293, pp. 369–378). Springer.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Institute of Standards and Technology. (2023). Digital signature standard (DSS) (FIPS PUB 186-5). U.S. Department of Commerce. https://doi.org/10.6028/NIST.FIPS.186-5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Government Accountability Office. (2016). Information technology: Federal agencies need to address aging legacy systems (GAO-16-468). https://www.gao.gov/products/gao-16-468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Government Accountability Office. (2019). Information technology: Agencies need to develop modernization plans for critical legacy systems (GAO-19-471). https://www.gao.gov/products/gao-19-471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State Procurement Services Division. (2026). Master AI products &amp; services contract (SPB26-0608GW-VSNBLX) [Government contract]. State of Montana.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Visionblox LLC  ·  Relian™  ·  Prepared for external distribution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2026-08-17T11:57:38Z</dcterms:created>
  <dcterms:modified xsi:type="dcterms:W3CDTF">2026-08-17T11:57:38Z</dcterms:modified>
</cp:coreProperties>
</file>