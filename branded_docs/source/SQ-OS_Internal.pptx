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Deterministically covered</c:v>
                </c:pt>
              </c:strCache>
            </c:strRef>
          </c:tx>
          <c:spPr>
            <a:solidFill>
              <a:srgbClr val="2EA8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Reference (SQ-OS)</c:v>
                  </c:pt>
                  <c:pt idx="1">
                    <c:v>Spreadsheet binder</c:v>
                  </c:pt>
                  <c:pt idx="2">
                    <c:v>SPC point solution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0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Manual (unmeasured)</c:v>
                </c:pt>
              </c:strCache>
            </c:strRef>
          </c:tx>
          <c:spPr>
            <a:solidFill>
              <a:srgbClr val="F7B8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Reference (SQ-OS)</c:v>
                  </c:pt>
                  <c:pt idx="1">
                    <c:v>Spreadsheet binder</c:v>
                  </c:pt>
                  <c:pt idx="2">
                    <c:v>SPC point solution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18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Structurally incapable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Reference (SQ-OS)</c:v>
                  </c:pt>
                  <c:pt idx="1">
                    <c:v>Spreadsheet binder</c:v>
                  </c:pt>
                  <c:pt idx="2">
                    <c:v>SPC point solution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19</c:v>
                </c:pt>
                <c:pt idx="2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A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E2E2E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Internal, candid framing. We have two hard assets — a committed benchmark and a compiled whitepaper. We do not yet have a product or paying customers. This deck is for a go/no-go on advancing to market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what is real. Two assets done; two things open, one of which (WTP) is the crux.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numbers are all VERIFIED and primary-sourced. The demand thesis rests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slide. The delta is architecture-level, not a tuning gap. Manual cells carry NO fabricated number — that discipline is the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defensibility is PLAUSIBLE, not proven, until we have customers of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deferrals are features of the honesty, not gaps we're hiding. The oracle fast-follow lands during 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is deliberately 'pursue one' — not all three. Discipline over ambition.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point of the internal deck: we pre-commit the exits so we don't rationalize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every unknown up front is the discipline. WTP is SPECULATIVE and is what step 3 exists to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asks. Ask #1 is the real gate; the rest follow from a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ZUUP INNOVATION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SQ-OS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supplier-native compliance &amp; quality operating system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automotive Tier 2–3 long tail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review — thesis stage.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and whitepaper complete; product is the thesis, not yet built.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name — branding TBD  ·  2026-07-14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19695" y="6217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 IN ONE 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boring middle of the automotive chain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affordable, supplier-native compliance &amp; quality OS for the Tier 2–3 long tail, with a part-level traceability / battery-passport backbone as its data spine.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2522144" cy="2286000"/>
          </a:xfrm>
          <a:prstGeom prst="roundRect">
            <a:avLst>
              <a:gd name="adj" fmla="val 320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0040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committed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2064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Deterministic-first corpus, hash-signed, reproducible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36544" y="2971800"/>
            <a:ext cx="2522144" cy="2286000"/>
          </a:xfrm>
          <a:prstGeom prst="roundRect">
            <a:avLst>
              <a:gd name="adj" fmla="val 320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5144" y="320040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65144" y="352044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Whitepaper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65144" y="4343400"/>
            <a:ext cx="2064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IEEE, 35 verified refs, compiled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2971800"/>
            <a:ext cx="2522144" cy="2286000"/>
          </a:xfrm>
          <a:prstGeom prst="roundRect">
            <a:avLst>
              <a:gd name="adj" fmla="val 320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608" y="320040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1608" y="352044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1608" y="4343400"/>
            <a:ext cx="2064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only — not built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29471" y="2971800"/>
            <a:ext cx="2522144" cy="2286000"/>
          </a:xfrm>
          <a:prstGeom prst="roundRect">
            <a:avLst>
              <a:gd name="adj" fmla="val 320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8071" y="320040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58071" y="352044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Willingness-to-pay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58071" y="4343400"/>
            <a:ext cx="2064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 — step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posture: we have rigor, not revenue. This review decides whether the rigor justifies advancing to market discovery.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— THE STRUCTURAL SETTING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margin-crushed, mandate-loaded supply base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supplier EBIT,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5.3% (2023)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36544" y="196596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</p:sp>
      <p:sp>
        <p:nvSpPr>
          <p:cNvPr id="11" name="Text 9"/>
          <p:cNvSpPr/>
          <p:nvPr/>
        </p:nvSpPr>
        <p:spPr>
          <a:xfrm>
            <a:off x="3619424" y="22860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619424" y="324612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25 largest suppliers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9424" y="38862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non-investment grade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9424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33008" y="196596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15888" y="22860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~1–5%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415888" y="324612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cell error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15888" y="38862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binders carry ≥1 error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5888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29471" y="196596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</p:sp>
      <p:sp>
        <p:nvSpPr>
          <p:cNvPr id="21" name="Text 19"/>
          <p:cNvSpPr/>
          <p:nvPr/>
        </p:nvSpPr>
        <p:spPr>
          <a:xfrm>
            <a:off x="9212351" y="22860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2027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212351" y="324612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battery passport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12351" y="38862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— the clock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12351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Cash-starved and mandate-loaded at once — the canonical condition where a low-cost, high-ROI compliance tool finds demand.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Roland Berger / Lazard 2025; Panko spreadsheet-error corpus; Regulation (EU) 2023/1542, Art. 77.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WHITESPACE — MEASURED, NOT ASSERTED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incumbent covers the union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192024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delta is structural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0" y="2468880"/>
            <a:ext cx="3779215" cy="1005840"/>
          </a:xfrm>
          <a:prstGeom prst="roundRect">
            <a:avLst>
              <a:gd name="adj" fmla="val 5455"/>
            </a:avLst>
          </a:prstGeom>
          <a:solidFill>
            <a:srgbClr val="F0F0F0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2578608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binder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2852928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of 37 structurally incapable — every coherence, genealogy, provenance &amp; guardrail case, regardless of operator skill.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3611880"/>
            <a:ext cx="3779215" cy="1005840"/>
          </a:xfrm>
          <a:prstGeom prst="roundRect">
            <a:avLst>
              <a:gd name="adj" fmla="val 5455"/>
            </a:avLst>
          </a:prstGeom>
          <a:solidFill>
            <a:srgbClr val="F0F0F0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3721608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point solution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995928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Granted perfect in-scope correctness, still 29 of 37 incapable — deep but narrow.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4754880"/>
            <a:ext cx="3779215" cy="1005840"/>
          </a:xfrm>
          <a:prstGeom prst="roundRect">
            <a:avLst>
              <a:gd name="adj" fmla="val 5455"/>
            </a:avLst>
          </a:prstGeom>
          <a:solidFill>
            <a:srgbClr val="F0F0F0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0" y="4864608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union no one covers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5138928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Cross-document integrity · trilogy coherence · recall genealogy · tamper-evident records · active guardrails.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6080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052560" y="6053328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over the committed corpus (37 scored cases; manual = capable-by-a-human, no accuracy fabricated).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HOLDS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because the gap is architectural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57200" cy="1097280"/>
          </a:xfrm>
          <a:prstGeom prst="roundRect">
            <a:avLst>
              <a:gd name="adj" fmla="val 12000"/>
            </a:avLst>
          </a:prstGeom>
          <a:solidFill>
            <a:srgbClr val="2EA89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not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37744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passive spreadsheet has no engine for coherence, no graph for genealogy, no signing for provenance. It cannot grow into the union — it would become a different class of system.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57200" cy="1097280"/>
          </a:xfrm>
          <a:prstGeom prst="roundRect">
            <a:avLst>
              <a:gd name="adj" fmla="val 12000"/>
            </a:avLst>
          </a:prstGeom>
          <a:solidFill>
            <a:srgbClr val="2EA89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291840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70332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we hold the quality record — PPAP, FMEA, control plans — we are the system of record. Ripping that out mid-program is a supplier-quality risk no plant wants.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457200" cy="1097280"/>
          </a:xfrm>
          <a:prstGeom prst="roundRect">
            <a:avLst>
              <a:gd name="adj" fmla="val 12000"/>
            </a:avLst>
          </a:prstGeom>
          <a:solidFill>
            <a:srgbClr val="2EA89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617720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stack only grows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502920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IATF 16949 flow-down + AIAG-VDA FMEA + battery passport + Scope-3 — the data asks compound. Each new mandate deepens the moat rather than eroding it.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20240" y="6007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 is logically sound; it is validated once we hold real customers of record.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RIGOR SPINE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Benchmark-first: the bar predates the product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committed a testable bar cryptographically BEFORE building anything — a direct guard against optimizing to a moving target (Goodhart's Law).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0F0F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97480"/>
            <a:ext cx="3454298" cy="502920"/>
          </a:xfrm>
          <a:prstGeom prst="roundRect">
            <a:avLst>
              <a:gd name="adj" fmla="val 14545"/>
            </a:avLst>
          </a:prstGeom>
          <a:solidFill>
            <a:srgbClr val="2EA89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304281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/ MSA math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Genealogy traversal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provenance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FMEA structure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Gap-vs-silent passport logic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69748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0F0F0"/>
          </a:solidFill>
          <a:ln/>
        </p:spPr>
      </p:sp>
      <p:sp>
        <p:nvSpPr>
          <p:cNvPr id="11" name="Shape 9"/>
          <p:cNvSpPr/>
          <p:nvPr/>
        </p:nvSpPr>
        <p:spPr>
          <a:xfrm>
            <a:off x="4368698" y="2697480"/>
            <a:ext cx="3454298" cy="502920"/>
          </a:xfrm>
          <a:prstGeom prst="roundRect">
            <a:avLst>
              <a:gd name="adj" fmla="val 14545"/>
            </a:avLst>
          </a:prstGeom>
          <a:solidFill>
            <a:srgbClr val="F7B801"/>
          </a:solidFill>
          <a:ln/>
        </p:spPr>
      </p:sp>
      <p:sp>
        <p:nvSpPr>
          <p:cNvPr id="12" name="Text 10"/>
          <p:cNvSpPr/>
          <p:nvPr/>
        </p:nvSpPr>
        <p:spPr>
          <a:xfrm>
            <a:off x="4551578" y="27432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Honestly deferred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7298" y="3383280"/>
            <a:ext cx="304281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oracle — needs SQE labeling (κ-gated)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the false-accept metric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7317" y="269748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0F0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7317" y="2697480"/>
            <a:ext cx="3454298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80197" y="27432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required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5917" y="3383280"/>
            <a:ext cx="304281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 level matrix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AIAG-VDA AP table (copyrighted)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field list (finalizing)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metric is false-accept rate — a package that looks done but the customer SQE rejects. That is deferred with the oracle, and named as such.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→ data spine → one adjacent bet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2EA89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0–12 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 / APQP compliance layer priced for single-digit-margin shops. Expand to control plans, FMEA, SPC.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3938" y="210312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232D5A"/>
          </a:solidFill>
          <a:ln/>
        </p:spPr>
      </p:sp>
      <p:sp>
        <p:nvSpPr>
          <p:cNvPr id="11" name="Text 9"/>
          <p:cNvSpPr/>
          <p:nvPr/>
        </p:nvSpPr>
        <p:spPr>
          <a:xfrm>
            <a:off x="4612538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2538" y="26060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12–30 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2538" y="3063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spine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12538" y="37490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Serialization + genealogy + battery passport, ahead of the Feb 2027 clock. Thesis #2 attaches here.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7797" y="210312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F7B801"/>
          </a:solidFill>
          <a:ln/>
        </p:spPr>
      </p:sp>
      <p:sp>
        <p:nvSpPr>
          <p:cNvPr id="16" name="Text 14"/>
          <p:cNvSpPr/>
          <p:nvPr/>
        </p:nvSpPr>
        <p:spPr>
          <a:xfrm>
            <a:off x="8356397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56397" y="26060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18–36 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56397" y="3063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adjacent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356397" y="37490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Gigafactory yield, foundry retrofit, OR distress tooling — each gated on a capability the team must already hold.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Feb 2027 battery-passport deadline is the go-to-market clock for Stage 2 — a fixed forcing function we build toward.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and kills — decided up front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1A21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30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Stage-1 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2039112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25–50 paying sub-$50M suppliers with &lt;90-day payback on SQE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1A214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adoption stalls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3063240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reject the tool → pivot to OEM / Tier-1-sponsored onboarding (they have the leverage to mandate).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22776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1A214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78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fails too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4087368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kill. No forced opportunity narrative — redirect capital.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46904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1A214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029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Stage-2 trigger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5111496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≥30% of Stage-1 customers convert to a data-spine module before Feb 2027.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are called plainly. A wrong-but-comfortable narrative is more expensive than an early no.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HONESTY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yet know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116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Willingness-to-pay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32808" y="2029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23500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clearing the benchmark correlates with what suppliers pay. This is the crux and it is unproven.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8745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6434176" y="20116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oracle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25735" y="2029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34176" y="23500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false-accept metric is only partially scorable until SQE labeling is done.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3832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error rates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32808" y="3401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1248" y="37216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cells are error-prone by literature, but we emit no fabricated per-family number.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3008" y="32461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6434176" y="33832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economics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25735" y="3401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34176" y="37216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Recall-scope-reduction figures are vendor-reported, not independently benchmarked.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7548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demand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32808" y="4773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41248" y="50932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passport-weighted bet inherits EV volume volatility; the deadline is fixed, the volumes are not.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3008" y="46177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34176" y="47548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/ branding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25735" y="4773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34176" y="50932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SQ-OS is a placeholder. No brand decision made.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&amp; ASKS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review needs to unlock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2EA89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2002536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step 3 — market 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Tier 2–3 beachhead with the most acute mandated pain + ability to pay.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998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00200" y="3026664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SQE recruitment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374136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practicing SQEs to label the acceptance oracle — closes the benchmark's open loop.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F0F0F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23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050792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publish or hold the whitepaper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398264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Buyer-facing credibility vs. defensive disclosure vs. internal-only. It names the whitespace publicly.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46904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48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00200" y="5074920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/ brand decision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422392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the SQ-OS placeholder before anything external ships.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is defined. The gap is measured. The clock is running. The decision is whether to advance.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Visionblox LLC / Zuup Innovation Lab</dc:creator>
  <cp:lastModifiedBy>Visionblox LLC / Zuup Innovation Lab</cp:lastModifiedBy>
  <cp:revision>1</cp:revision>
  <dcterms:created xsi:type="dcterms:W3CDTF">2026-07-14T07:21:47Z</dcterms:created>
  <dcterms:modified xsi:type="dcterms:W3CDTF">2026-07-14T07:21:47Z</dcterms:modified>
</cp:coreProperties>
</file>