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Arial"/>
              </a:rPr>
              <a:t>Open here. Frame the whole conversation around proof, not migration. Suggested opener: "Everyone can convert legacy code — Relian is the only way to modernize it and walk away with independent, cryptographic proof that the new system behaves exactly like the old one." Name the three audiences on the slide and tell them you'll focus on the one that fits — Commercial, State/Local/Education, or Federal. Keep the promise concrete: we don't ask you to trust us; we hand you evidence you can verify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Arial"/>
              </a:rPr>
              <a:t>Establish the pain, then reframe it. The problem isn't that COBOL exists — it's that no one can prove a modernized system is equivalent, so projects stall at the board or audit gate. Use the three data points as context (federal legacy systems run 8–51 years; roughly 80% of federal IT spend just keeps existing systems alive; COBOL still runs core systems while its workforce retires — all GAO). Land the key line: every board, examiner, and auditor asks "how do you know the new system does the same thing?" Traditional tools answer "trust us." Relian answers with proof. Tailor the gatekeeper to the room — a board and external auditor in commercial; an IG, GAO, or legislature in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Arial"/>
              </a:rPr>
              <a:t>Define the category — this is the conceptual core. Walk the three layers as a causal chain, not a feature list: (1) the transform is deterministic and rule-based, which is what makes proof possible — you can only sign what you can reproduce; (2) the benchmark is committed cryptographically before the solution exists, so results can't be gamed; (3) attestation turns that into a signed, portable proof anyone can re-derive. Anchor on the one-liner in the box. If asked about AI: the transform path has no black-box AI; optional analysis can use a local, disclosed, open-weight model, and customer source never goes to a generative model. Close on the tagline — the product is the proof, not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Arial"/>
              </a:rPr>
              <a:t>Walk the pipeline left to right and keep returning to the boundary. The single most important point: your source code never leaves your perimeter — only the signed proof artifact travels, and that artifact is the equivalence proof plus the measured metrics plus the inventory of exactly what was and wasn't transformed. Emphasize durability: because it's signed and re-derivable, it stays verifiable even if we're not involved later. For regulated buyers, this is the slide that resolves the "we can't send our source anywhere" objection before they raise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Arial"/>
              </a:rPr>
              <a:t>This is the differentiation centerpiece — spend time here. Read the rows as a story that builds: trust, reproducibility, data residency, then the two that close deals — auditability (non-repudiable evidence, not just an output and an SLA) and independence (we can vouch for anyone's work, not only our own). Land the bottom line: the difference isn't hosting, it's where trust comes from and what you're left holding — a subscription versus an evidence asset you own. Objection to expect: "isn't this just on-prem software?" Answer: on-prem is table stakes; the differentiator is the portable, independently verifiable proof and the referee capability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Arial"/>
              </a:rPr>
              <a:t>This is the category expansion — use it to enlarge the opportunity. Because attestation is decoupled from the transform, Relian can referee any modernization, including one another vendor or tool produced. Concrete hooks: verify a systems integrator's output, provide neutral assurance across a multi-vendor program, or independently confirm a migration a customer already paid for. Position this as an assurance layer and an architectural capability — if pressed on packaging or SLAs, say we can serve as the independent referee and scope it to their program rather than quoting a fixed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Arial"/>
              </a:rPr>
              <a:t>This is the credibility slide — the honesty is the sell. Say the scope out loud on the first pillar: 100% behavioral equivalence is measured on the sealed RELIAN-BENCH held-out suite, across supported COBOL constructs — don't generalize it beyond that. Then determinism (byte-for-byte reproducible), the signed re-derivable ledger, and the discipline that ties it together: every number is measured or withheld, never estimated. Frame "measured or withheld" as a feature auditors love, and note that the same evidence record satisfies an auditor, an IG, and a board — the evidence discipline is the compliance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Arial"/>
              </a:rPr>
              <a:t>Commercial audience. Lead with the two things they care about most: your source and IP stay in-house (critical for banks, insurers, and ISVs), and you get evidence a board or examiner will accept instead of a vendor's assertion. The M&amp;A / technology-due-diligence use case is a differentiated wedge — attesting that an acquired codebase's modernization preserved behavior is something no migration tool offers. Close on the value line: replace "trust the vendor" with evidence you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Arial"/>
              </a:rPr>
              <a:t>State, Local, and Education audience. The accelerator here is cooperative purchasing — public-sector buyers can start fast through the Montana MAPS vehicle without running a full competition, and that extends to other states, locals, tribal governments, and federal agencies. Pair that with the data-residency story: US-only, on-premise, which maps directly to CJIS, PII, and FERPA obligations. Walk whichever of the three use cases fits the room — benefits/eligibility, courts/DMV/licensing, or school-district SIS and payroll. Keep procurement claims to "cooperative purchasing available"; the fixed-fee assessment is the low-friction entry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Arial"/>
              </a:rPr>
              <a:t>Federal audience. The driver is oversight: position attestation as audit evidence an IG or GAO can independently verify — non-repudiable, not a vendor's word. The air-gap point matters: source never leaves the enclave and never touches a generative-AI model. Tie supply-chain integrity to a zero-trust posture. Important guardrail: say the evidence discipline SUPPORTS FISMA, CMMC, and FedRAMP programs — do not claim we hold any of those certifications. If asked directly about certification status, say our posture is available on request and move to the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Arial"/>
              </a:rPr>
              <a:t>This is the call to action — make it easy to say yes. Both assessments are fixed-fee, signed-report diagnostics that de-risk the decision: the $8K Legacy Code Assessment inventories and scores the code and writes the migration scope; the $12K Data Discovery maps the data behind it. The pitch: prove the model on your real code before committing to a full migration. For public-sector buyers, point to the cooperative vehicle for streamlined purchasing; for commercial, it's a straightforward fixed-fee engagement. The assessment output becomes the scope and price for any follow-on work — it pays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Arial"/>
              </a:rPr>
              <a:t>Recap and drive to action. The four pillars are the one-breath summary of the whole deck: Provable, Portable, Private, Independent. The single ask is: start with an assessment — it's low-cost, low-risk, and proves everything on their own code. Leave the contact details and identifiers (CAGE, UEI, NAICS, veteran-owned small business) visible for the procurement or contracting person in the room. Close with the line on the slide: prove it — don't just promise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Arial"/>
              </a:rPr>
              <a:t>For technical evaluators and due-diligence reviewers. These sources back the specific claims: Ed25519 and NIST FIPS 186-5 for the signature scheme behind the attestation; the reproducible-builds paper for determinism as a software-integrity property; and the GAO reports for the legacy-systems and COBOL context on slide 2. Offer this list to any technical or security reviewer who wants to verify the underpinnings.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 Id="rId8"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 Id="rId6"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 Id="rId7"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 Id="rId6"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 Id="rId8"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247"/>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347"/>
          </a:solidFill>
          <a:ln/>
        </p:spPr>
        <p:txBody>
          <a:bodyPr/>
          <a:p/>
        </p:txBody>
      </p:sp>
      <p:sp>
        <p:nvSpPr>
          <p:cNvPr id="9" name="Text 7"/>
          <p:cNvSpPr/>
          <p:nvPr/>
        </p:nvSpPr>
        <p:spPr>
          <a:xfrm>
            <a:off x="7592568" y="658368"/>
            <a:ext cx="4050791" cy="274320"/>
          </a:xfrm>
          <a:prstGeom prst="rect">
            <a:avLst/>
          </a:prstGeom>
          <a:noFill/>
          <a:ln/>
        </p:spPr>
        <p:txBody>
          <a:bodyPr wrap="square" rtlCol="0" anchor="ctr"/>
          <a:lstStyle/>
          <a:p>
            <a:pPr indent="0" marL="0" algn="r">
              <a:buNone/>
            </a:pPr>
            <a:r>
              <a:rPr lang="en-US" sz="1100" b="1" spc="300" kern="0" dirty="0">
                <a:solidFill>
                  <a:srgbClr val="2EA891"/>
                </a:solidFill>
                <a:latin typeface="Arial" pitchFamily="34" charset="0"/>
                <a:ea typeface="Arial" pitchFamily="34" charset="-122"/>
                <a:cs typeface="Arial" pitchFamily="34" charset="-120"/>
              </a:rPr>
              <a:t>BUILD WHAT DOESN’T EXIST YET</a:t>
            </a:r>
            <a:endParaRPr lang="en-US" sz="1100" dirty="0"/>
          </a:p>
        </p:txBody>
      </p:sp>
      <p:pic>
        <p:nvPicPr>
          <p:cNvPr id="23" name="Picture 22" descr="relian_mark_dark.png"/>
          <p:cNvPicPr>
            <a:picLocks noChangeAspect="1"/>
          </p:cNvPicPr>
          <p:nvPr/>
        </p:nvPicPr>
        <p:blipFill>
          <a:blip r:embed="rId1"/>
          <a:stretch>
            <a:fillRect/>
          </a:stretch>
        </p:blipFill>
        <p:spPr>
          <a:xfrm>
            <a:off x="548640" y="1874519"/>
            <a:ext cx="706366" cy="914400"/>
          </a:xfrm>
          <a:prstGeom prst="rect">
            <a:avLst/>
          </a:prstGeom>
        </p:spPr>
      </p:pic>
      <p:sp>
        <p:nvSpPr>
          <p:cNvPr id="12" name="Text 9"/>
          <p:cNvSpPr/>
          <p:nvPr/>
        </p:nvSpPr>
        <p:spPr>
          <a:xfrm>
            <a:off x="548640" y="2926080"/>
            <a:ext cx="11091672" cy="640080"/>
          </a:xfrm>
          <a:prstGeom prst="rect">
            <a:avLst/>
          </a:prstGeom>
          <a:noFill/>
          <a:ln/>
        </p:spPr>
        <p:txBody>
          <a:bodyPr wrap="square" rtlCol="0" anchor="ctr"/>
          <a:lstStyle/>
          <a:p>
            <a:pPr indent="0" marL="0">
              <a:buNone/>
            </a:pPr>
            <a:r>
              <a:rPr lang="en-US" sz="3000" b="1" dirty="0">
                <a:solidFill>
                  <a:srgbClr val="7FD4C1"/>
                </a:solidFill>
                <a:latin typeface="Arial" pitchFamily="34" charset="0"/>
                <a:ea typeface="Arial" pitchFamily="34" charset="-122"/>
                <a:cs typeface="Arial" pitchFamily="34" charset="-120"/>
              </a:rPr>
              <a:t>Relian™</a:t>
            </a:r>
            <a:endParaRPr lang="en-US" sz="3000" dirty="0"/>
          </a:p>
        </p:txBody>
      </p:sp>
      <p:sp>
        <p:nvSpPr>
          <p:cNvPr id="13" name="Text 10"/>
          <p:cNvSpPr/>
          <p:nvPr/>
        </p:nvSpPr>
        <p:spPr>
          <a:xfrm>
            <a:off x="548640" y="3520440"/>
            <a:ext cx="11091672" cy="82296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Verifiable Software Modernization</a:t>
            </a:r>
            <a:endParaRPr lang="en-US" sz="4000" dirty="0"/>
          </a:p>
        </p:txBody>
      </p:sp>
      <p:sp>
        <p:nvSpPr>
          <p:cNvPr id="14" name="Text 11"/>
          <p:cNvSpPr/>
          <p:nvPr/>
        </p:nvSpPr>
        <p:spPr>
          <a:xfrm>
            <a:off x="548640" y="4434840"/>
            <a:ext cx="9262872" cy="640080"/>
          </a:xfrm>
          <a:prstGeom prst="rect">
            <a:avLst/>
          </a:prstGeom>
          <a:noFill/>
          <a:ln/>
        </p:spPr>
        <p:txBody>
          <a:bodyPr wrap="square" rtlCol="0" anchor="ctr"/>
          <a:lstStyle/>
          <a:p>
            <a:pPr indent="0" marL="0">
              <a:buNone/>
            </a:pPr>
            <a:r>
              <a:rPr lang="en-US" sz="1700" i="1" dirty="0">
                <a:solidFill>
                  <a:srgbClr val="F5F5F0"/>
                </a:solidFill>
                <a:latin typeface="Arial" pitchFamily="34" charset="0"/>
                <a:ea typeface="Arial" pitchFamily="34" charset="-122"/>
                <a:cs typeface="Arial" pitchFamily="34" charset="-120"/>
              </a:rPr>
              <a:t>Don’t just migrate legacy code — prove it behaves identically, with cryptographic evidence anyone can verify.</a:t>
            </a:r>
            <a:endParaRPr lang="en-US" sz="1700" dirty="0"/>
          </a:p>
        </p:txBody>
      </p:sp>
      <p:sp>
        <p:nvSpPr>
          <p:cNvPr id="15" name="Shape 12"/>
          <p:cNvSpPr/>
          <p:nvPr/>
        </p:nvSpPr>
        <p:spPr>
          <a:xfrm>
            <a:off x="548640" y="5257800"/>
            <a:ext cx="1444752" cy="457200"/>
          </a:xfrm>
          <a:prstGeom prst="roundRect">
            <a:avLst>
              <a:gd name="adj" fmla="val 8000"/>
            </a:avLst>
          </a:prstGeom>
          <a:solidFill>
            <a:srgbClr val="2A3560"/>
          </a:solidFill>
          <a:ln w="12700">
            <a:solidFill>
              <a:srgbClr val="2EA891"/>
            </a:solidFill>
            <a:prstDash val="solid"/>
          </a:ln>
        </p:spPr>
        <p:txBody>
          <a:bodyPr/>
          <a:p/>
        </p:txBody>
      </p:sp>
      <p:sp>
        <p:nvSpPr>
          <p:cNvPr id="16" name="Text 13"/>
          <p:cNvSpPr/>
          <p:nvPr/>
        </p:nvSpPr>
        <p:spPr>
          <a:xfrm>
            <a:off x="548640" y="5257800"/>
            <a:ext cx="1444752"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Commercial</a:t>
            </a:r>
            <a:endParaRPr lang="en-US" sz="1250" dirty="0"/>
          </a:p>
        </p:txBody>
      </p:sp>
      <p:sp>
        <p:nvSpPr>
          <p:cNvPr id="17" name="Shape 14"/>
          <p:cNvSpPr/>
          <p:nvPr/>
        </p:nvSpPr>
        <p:spPr>
          <a:xfrm>
            <a:off x="2221992" y="5257800"/>
            <a:ext cx="2926080" cy="457200"/>
          </a:xfrm>
          <a:prstGeom prst="roundRect">
            <a:avLst>
              <a:gd name="adj" fmla="val 8000"/>
            </a:avLst>
          </a:prstGeom>
          <a:solidFill>
            <a:srgbClr val="2A3560"/>
          </a:solidFill>
          <a:ln w="12700">
            <a:solidFill>
              <a:srgbClr val="2EA891"/>
            </a:solidFill>
            <a:prstDash val="solid"/>
          </a:ln>
        </p:spPr>
        <p:txBody>
          <a:bodyPr/>
          <a:p/>
        </p:txBody>
      </p:sp>
      <p:sp>
        <p:nvSpPr>
          <p:cNvPr id="18" name="Text 15"/>
          <p:cNvSpPr/>
          <p:nvPr/>
        </p:nvSpPr>
        <p:spPr>
          <a:xfrm>
            <a:off x="2221992" y="5257800"/>
            <a:ext cx="292608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State · Local · Education</a:t>
            </a:r>
            <a:endParaRPr lang="en-US" sz="1250" dirty="0"/>
          </a:p>
        </p:txBody>
      </p:sp>
      <p:sp>
        <p:nvSpPr>
          <p:cNvPr id="19" name="Shape 16"/>
          <p:cNvSpPr/>
          <p:nvPr/>
        </p:nvSpPr>
        <p:spPr>
          <a:xfrm>
            <a:off x="5376672" y="5257800"/>
            <a:ext cx="1148486" cy="457200"/>
          </a:xfrm>
          <a:prstGeom prst="roundRect">
            <a:avLst>
              <a:gd name="adj" fmla="val 8000"/>
            </a:avLst>
          </a:prstGeom>
          <a:solidFill>
            <a:srgbClr val="2A3560"/>
          </a:solidFill>
          <a:ln w="12700">
            <a:solidFill>
              <a:srgbClr val="2EA891"/>
            </a:solidFill>
            <a:prstDash val="solid"/>
          </a:ln>
        </p:spPr>
        <p:txBody>
          <a:bodyPr/>
          <a:p/>
        </p:txBody>
      </p:sp>
      <p:sp>
        <p:nvSpPr>
          <p:cNvPr id="20" name="Text 17"/>
          <p:cNvSpPr/>
          <p:nvPr/>
        </p:nvSpPr>
        <p:spPr>
          <a:xfrm>
            <a:off x="5376672" y="5257800"/>
            <a:ext cx="1148486"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Federal</a:t>
            </a:r>
            <a:endParaRPr lang="en-US" sz="1250" dirty="0"/>
          </a:p>
        </p:txBody>
      </p:sp>
      <p:sp>
        <p:nvSpPr>
          <p:cNvPr id="21" name="Text 18"/>
          <p:cNvSpPr/>
          <p:nvPr/>
        </p:nvSpPr>
        <p:spPr>
          <a:xfrm>
            <a:off x="548640" y="6263640"/>
            <a:ext cx="11091672" cy="320040"/>
          </a:xfrm>
          <a:prstGeom prst="rect">
            <a:avLst/>
          </a:prstGeom>
          <a:noFill/>
          <a:ln/>
        </p:spPr>
        <p:txBody>
          <a:bodyPr wrap="square" rtlCol="0" anchor="ctr"/>
          <a:lstStyle/>
          <a:p>
            <a:pPr indent="0" marL="0">
              <a:buNone/>
            </a:pPr>
            <a:r>
              <a:rPr lang="en-US" sz="1100" dirty="0">
                <a:solidFill>
                  <a:srgbClr val="8892A4"/>
                </a:solidFill>
                <a:latin typeface="Arial" pitchFamily="34" charset="0"/>
                <a:ea typeface="Arial" pitchFamily="34" charset="-122"/>
                <a:cs typeface="Arial" pitchFamily="34" charset="-120"/>
              </a:rPr>
              <a:t>Visionblox LLC  ·  Veteran-owned small business  ·  San Jose, CA / Huntsville, AL</a:t>
            </a:r>
            <a:endParaRPr lang="en-US" sz="1100" dirty="0"/>
          </a:p>
        </p:txBody>
      </p:sp>
      <p:pic>
        <p:nvPicPr>
          <p:cNvPr id="22" name="Picture 21" descr="visionblox-logo-knockout.png"/>
          <p:cNvPicPr>
            <a:picLocks noChangeAspect="1"/>
          </p:cNvPicPr>
          <p:nvPr/>
        </p:nvPicPr>
        <p:blipFill>
          <a:blip r:embed="rId4"/>
          <a:stretch>
            <a:fillRect/>
          </a:stretch>
        </p:blipFill>
        <p:spPr>
          <a:xfrm>
            <a:off x="548640" y="457200"/>
            <a:ext cx="2011680" cy="8472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EA891"/>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548640" y="749808"/>
            <a:ext cx="11091672" cy="731520"/>
          </a:xfrm>
          <a:prstGeom prst="rect">
            <a:avLst/>
          </a:prstGeom>
          <a:noFill/>
          <a:ln/>
        </p:spPr>
        <p:txBody>
          <a:bodyPr wrap="square" rtlCol="0" anchor="ctr"/>
          <a:lstStyle/>
          <a:p>
            <a:pPr indent="0" marL="0">
              <a:buNone/>
            </a:pPr>
            <a:r>
              <a:rPr lang="en-US" sz="2700" b="1" dirty="0">
                <a:solidFill>
                  <a:srgbClr val="232D5A"/>
                </a:solidFill>
                <a:latin typeface="Arial" pitchFamily="34" charset="0"/>
                <a:ea typeface="Arial" pitchFamily="34" charset="-122"/>
                <a:cs typeface="Arial" pitchFamily="34" charset="-120"/>
              </a:rPr>
              <a:t>Modernization is a trust problem — not just a code problem</a:t>
            </a:r>
            <a:endParaRPr lang="en-US" sz="2700" dirty="0"/>
          </a:p>
        </p:txBody>
      </p:sp>
      <p:sp>
        <p:nvSpPr>
          <p:cNvPr id="4" name="Text 2"/>
          <p:cNvSpPr/>
          <p:nvPr/>
        </p:nvSpPr>
        <p:spPr>
          <a:xfrm>
            <a:off x="548640" y="1554480"/>
            <a:ext cx="11091672" cy="731520"/>
          </a:xfrm>
          <a:prstGeom prst="rect">
            <a:avLst/>
          </a:prstGeom>
          <a:noFill/>
          <a:ln/>
        </p:spPr>
        <p:txBody>
          <a:bodyPr wrap="square" rtlCol="0" anchor="ctr"/>
          <a:lstStyle/>
          <a:p>
            <a:pPr indent="0" marL="0">
              <a:buNone/>
            </a:pPr>
            <a:r>
              <a:rPr lang="en-US" sz="1500" dirty="0">
                <a:solidFill>
                  <a:srgbClr val="2E2E2E"/>
                </a:solidFill>
                <a:latin typeface="Arial" pitchFamily="34" charset="0"/>
                <a:ea typeface="Arial" pitchFamily="34" charset="-122"/>
                <a:cs typeface="Arial" pitchFamily="34" charset="-120"/>
              </a:rPr>
              <a:t>Legacy systems still run benefits, banking, courts, and records. The hard part isn’t writing new code — it’s proving the new code behaves exactly like the old. Traditional tools ask you to trust a black box.</a:t>
            </a:r>
            <a:endParaRPr lang="en-US" sz="1500" dirty="0"/>
          </a:p>
        </p:txBody>
      </p:sp>
      <p:sp>
        <p:nvSpPr>
          <p:cNvPr id="5" name="Shape 3"/>
          <p:cNvSpPr/>
          <p:nvPr/>
        </p:nvSpPr>
        <p:spPr>
          <a:xfrm>
            <a:off x="548640" y="2514600"/>
            <a:ext cx="3453384" cy="2468880"/>
          </a:xfrm>
          <a:prstGeom prst="roundRect">
            <a:avLst>
              <a:gd name="adj" fmla="val 1481"/>
            </a:avLst>
          </a:prstGeom>
          <a:solidFill>
            <a:srgbClr val="F0F0F0"/>
          </a:solidFill>
          <a:ln/>
          <a:effectLst>
            <a:outerShdw sx="100000" sy="100000" kx="0" ky="0" algn="bl" rotWithShape="0" blurRad="76200" dist="25400" dir="5400000">
              <a:srgbClr val="B9C0CE">
                <a:alpha val="30000"/>
              </a:srgbClr>
            </a:outerShdw>
          </a:effectLst>
        </p:spPr>
        <p:txBody>
          <a:bodyPr/>
          <a:p/>
        </p:txBody>
      </p:sp>
      <p:sp>
        <p:nvSpPr>
          <p:cNvPr id="6" name="Shape 4"/>
          <p:cNvSpPr/>
          <p:nvPr/>
        </p:nvSpPr>
        <p:spPr>
          <a:xfrm>
            <a:off x="822960" y="2788920"/>
            <a:ext cx="640080" cy="640080"/>
          </a:xfrm>
          <a:prstGeom prst="roundRect">
            <a:avLst>
              <a:gd name="adj" fmla="val 7143"/>
            </a:avLst>
          </a:prstGeom>
          <a:solidFill>
            <a:srgbClr val="232D5A"/>
          </a:solidFill>
          <a:ln/>
        </p:spPr>
        <p:txBody>
          <a:bodyPr/>
          <a:p/>
        </p:txBody>
      </p:sp>
      <p:pic>
        <p:nvPicPr>
          <p:cNvPr id="7" name="Image 0" descr="preencoded.png">    </p:cNvPr>
          <p:cNvPicPr>
            <a:picLocks noChangeAspect="1"/>
          </p:cNvPicPr>
          <p:nvPr/>
        </p:nvPicPr>
        <p:blipFill>
          <a:blip r:embed="rId1"/>
          <a:stretch>
            <a:fillRect/>
          </a:stretch>
        </p:blipFill>
        <p:spPr>
          <a:xfrm>
            <a:off x="982980" y="2948940"/>
            <a:ext cx="320040" cy="320040"/>
          </a:xfrm>
          <a:prstGeom prst="rect">
            <a:avLst/>
          </a:prstGeom>
        </p:spPr>
      </p:pic>
      <p:sp>
        <p:nvSpPr>
          <p:cNvPr id="8" name="Text 5"/>
          <p:cNvSpPr/>
          <p:nvPr/>
        </p:nvSpPr>
        <p:spPr>
          <a:xfrm>
            <a:off x="822960" y="3611880"/>
            <a:ext cx="2904744" cy="640080"/>
          </a:xfrm>
          <a:prstGeom prst="rect">
            <a:avLst/>
          </a:prstGeom>
          <a:noFill/>
          <a:ln/>
        </p:spPr>
        <p:txBody>
          <a:bodyPr wrap="square" rtlCol="0" anchor="ctr"/>
          <a:lstStyle/>
          <a:p>
            <a:pPr indent="0" marL="0">
              <a:buNone/>
            </a:pPr>
            <a:r>
              <a:rPr lang="en-US" sz="3000" b="1" dirty="0">
                <a:solidFill>
                  <a:srgbClr val="2EA891"/>
                </a:solidFill>
                <a:latin typeface="Arial" pitchFamily="34" charset="0"/>
                <a:ea typeface="Arial" pitchFamily="34" charset="-122"/>
                <a:cs typeface="Arial" pitchFamily="34" charset="-120"/>
              </a:rPr>
              <a:t>8–51 yrs</a:t>
            </a:r>
            <a:endParaRPr lang="en-US" sz="3000" dirty="0"/>
          </a:p>
        </p:txBody>
      </p:sp>
      <p:sp>
        <p:nvSpPr>
          <p:cNvPr id="9" name="Text 6"/>
          <p:cNvSpPr/>
          <p:nvPr/>
        </p:nvSpPr>
        <p:spPr>
          <a:xfrm>
            <a:off x="822960" y="4251960"/>
            <a:ext cx="2904744" cy="640080"/>
          </a:xfrm>
          <a:prstGeom prst="rect">
            <a:avLst/>
          </a:prstGeom>
          <a:noFill/>
          <a:ln/>
        </p:spPr>
        <p:txBody>
          <a:bodyPr wrap="square" rtlCol="0" anchor="ctr"/>
          <a:lstStyle/>
          <a:p>
            <a:pPr indent="0" marL="0">
              <a:buNone/>
            </a:pPr>
            <a:r>
              <a:rPr lang="en-US" sz="1250" dirty="0">
                <a:solidFill>
                  <a:srgbClr val="2E2E2E"/>
                </a:solidFill>
                <a:latin typeface="Arial" pitchFamily="34" charset="0"/>
                <a:ea typeface="Arial" pitchFamily="34" charset="-122"/>
                <a:cs typeface="Arial" pitchFamily="34" charset="-120"/>
              </a:rPr>
              <a:t>age of critical federal legacy systems still in service (GAO)</a:t>
            </a:r>
            <a:endParaRPr lang="en-US" sz="1250" dirty="0"/>
          </a:p>
        </p:txBody>
      </p:sp>
      <p:sp>
        <p:nvSpPr>
          <p:cNvPr id="10" name="Shape 7"/>
          <p:cNvSpPr/>
          <p:nvPr/>
        </p:nvSpPr>
        <p:spPr>
          <a:xfrm>
            <a:off x="4367784" y="2514600"/>
            <a:ext cx="3453384" cy="2468880"/>
          </a:xfrm>
          <a:prstGeom prst="roundRect">
            <a:avLst>
              <a:gd name="adj" fmla="val 1481"/>
            </a:avLst>
          </a:prstGeom>
          <a:solidFill>
            <a:srgbClr val="F0F0F0"/>
          </a:solidFill>
          <a:ln/>
          <a:effectLst>
            <a:outerShdw sx="100000" sy="100000" kx="0" ky="0" algn="bl" rotWithShape="0" blurRad="76200" dist="25400" dir="5400000">
              <a:srgbClr val="B9C0CE">
                <a:alpha val="30000"/>
              </a:srgbClr>
            </a:outerShdw>
          </a:effectLst>
        </p:spPr>
        <p:txBody>
          <a:bodyPr/>
          <a:p/>
        </p:txBody>
      </p:sp>
      <p:sp>
        <p:nvSpPr>
          <p:cNvPr id="11" name="Shape 8"/>
          <p:cNvSpPr/>
          <p:nvPr/>
        </p:nvSpPr>
        <p:spPr>
          <a:xfrm>
            <a:off x="4642104" y="2788920"/>
            <a:ext cx="640080" cy="640080"/>
          </a:xfrm>
          <a:prstGeom prst="roundRect">
            <a:avLst>
              <a:gd name="adj" fmla="val 7143"/>
            </a:avLst>
          </a:prstGeom>
          <a:solidFill>
            <a:srgbClr val="232D5A"/>
          </a:solidFill>
          <a:ln/>
        </p:spPr>
        <p:txBody>
          <a:bodyPr/>
          <a:p/>
        </p:txBody>
      </p:sp>
      <p:pic>
        <p:nvPicPr>
          <p:cNvPr id="12" name="Image 1" descr="preencoded.png">    </p:cNvPr>
          <p:cNvPicPr>
            <a:picLocks noChangeAspect="1"/>
          </p:cNvPicPr>
          <p:nvPr/>
        </p:nvPicPr>
        <p:blipFill>
          <a:blip r:embed="rId2"/>
          <a:stretch>
            <a:fillRect/>
          </a:stretch>
        </p:blipFill>
        <p:spPr>
          <a:xfrm>
            <a:off x="4802124" y="2948940"/>
            <a:ext cx="320040" cy="320040"/>
          </a:xfrm>
          <a:prstGeom prst="rect">
            <a:avLst/>
          </a:prstGeom>
        </p:spPr>
      </p:pic>
      <p:sp>
        <p:nvSpPr>
          <p:cNvPr id="13" name="Text 9"/>
          <p:cNvSpPr/>
          <p:nvPr/>
        </p:nvSpPr>
        <p:spPr>
          <a:xfrm>
            <a:off x="4642104" y="3611880"/>
            <a:ext cx="2904744" cy="640080"/>
          </a:xfrm>
          <a:prstGeom prst="rect">
            <a:avLst/>
          </a:prstGeom>
          <a:noFill/>
          <a:ln/>
        </p:spPr>
        <p:txBody>
          <a:bodyPr wrap="square" rtlCol="0" anchor="ctr"/>
          <a:lstStyle/>
          <a:p>
            <a:pPr indent="0" marL="0">
              <a:buNone/>
            </a:pPr>
            <a:r>
              <a:rPr lang="en-US" sz="3000" b="1" dirty="0">
                <a:solidFill>
                  <a:srgbClr val="2EA891"/>
                </a:solidFill>
                <a:latin typeface="Arial" pitchFamily="34" charset="0"/>
                <a:ea typeface="Arial" pitchFamily="34" charset="-122"/>
                <a:cs typeface="Arial" pitchFamily="34" charset="-120"/>
              </a:rPr>
              <a:t>COBOL</a:t>
            </a:r>
            <a:endParaRPr lang="en-US" sz="3000" dirty="0"/>
          </a:p>
        </p:txBody>
      </p:sp>
      <p:sp>
        <p:nvSpPr>
          <p:cNvPr id="14" name="Text 10"/>
          <p:cNvSpPr/>
          <p:nvPr/>
        </p:nvSpPr>
        <p:spPr>
          <a:xfrm>
            <a:off x="4642104" y="4251960"/>
            <a:ext cx="2904744" cy="640080"/>
          </a:xfrm>
          <a:prstGeom prst="rect">
            <a:avLst/>
          </a:prstGeom>
          <a:noFill/>
          <a:ln/>
        </p:spPr>
        <p:txBody>
          <a:bodyPr wrap="square" rtlCol="0" anchor="ctr"/>
          <a:lstStyle/>
          <a:p>
            <a:pPr indent="0" marL="0">
              <a:buNone/>
            </a:pPr>
            <a:r>
              <a:rPr lang="en-US" sz="1250" dirty="0">
                <a:solidFill>
                  <a:srgbClr val="2E2E2E"/>
                </a:solidFill>
                <a:latin typeface="Arial" pitchFamily="34" charset="0"/>
                <a:ea typeface="Arial" pitchFamily="34" charset="-122"/>
                <a:cs typeface="Arial" pitchFamily="34" charset="-120"/>
              </a:rPr>
              <a:t>still runs core systems as the workforce that maintains it retires</a:t>
            </a:r>
            <a:endParaRPr lang="en-US" sz="1250" dirty="0"/>
          </a:p>
        </p:txBody>
      </p:sp>
      <p:sp>
        <p:nvSpPr>
          <p:cNvPr id="15" name="Shape 11"/>
          <p:cNvSpPr/>
          <p:nvPr/>
        </p:nvSpPr>
        <p:spPr>
          <a:xfrm>
            <a:off x="8186928" y="2514600"/>
            <a:ext cx="3453384" cy="2468880"/>
          </a:xfrm>
          <a:prstGeom prst="roundRect">
            <a:avLst>
              <a:gd name="adj" fmla="val 1481"/>
            </a:avLst>
          </a:prstGeom>
          <a:solidFill>
            <a:srgbClr val="F0F0F0"/>
          </a:solidFill>
          <a:ln/>
          <a:effectLst>
            <a:outerShdw sx="100000" sy="100000" kx="0" ky="0" algn="bl" rotWithShape="0" blurRad="76200" dist="25400" dir="5400000">
              <a:srgbClr val="B9C0CE">
                <a:alpha val="30000"/>
              </a:srgbClr>
            </a:outerShdw>
          </a:effectLst>
        </p:spPr>
        <p:txBody>
          <a:bodyPr/>
          <a:p/>
        </p:txBody>
      </p:sp>
      <p:sp>
        <p:nvSpPr>
          <p:cNvPr id="16" name="Shape 12"/>
          <p:cNvSpPr/>
          <p:nvPr/>
        </p:nvSpPr>
        <p:spPr>
          <a:xfrm>
            <a:off x="8461248" y="2788920"/>
            <a:ext cx="640080" cy="640080"/>
          </a:xfrm>
          <a:prstGeom prst="roundRect">
            <a:avLst>
              <a:gd name="adj" fmla="val 7143"/>
            </a:avLst>
          </a:prstGeom>
          <a:solidFill>
            <a:srgbClr val="232D5A"/>
          </a:solidFill>
          <a:ln/>
        </p:spPr>
        <p:txBody>
          <a:bodyPr/>
          <a:p/>
        </p:txBody>
      </p:sp>
      <p:pic>
        <p:nvPicPr>
          <p:cNvPr id="17" name="Image 2" descr="preencoded.png">    </p:cNvPr>
          <p:cNvPicPr>
            <a:picLocks noChangeAspect="1"/>
          </p:cNvPicPr>
          <p:nvPr/>
        </p:nvPicPr>
        <p:blipFill>
          <a:blip r:embed="rId3"/>
          <a:stretch>
            <a:fillRect/>
          </a:stretch>
        </p:blipFill>
        <p:spPr>
          <a:xfrm>
            <a:off x="8621268" y="2948940"/>
            <a:ext cx="320040" cy="320040"/>
          </a:xfrm>
          <a:prstGeom prst="rect">
            <a:avLst/>
          </a:prstGeom>
        </p:spPr>
      </p:pic>
      <p:sp>
        <p:nvSpPr>
          <p:cNvPr id="18" name="Text 13"/>
          <p:cNvSpPr/>
          <p:nvPr/>
        </p:nvSpPr>
        <p:spPr>
          <a:xfrm>
            <a:off x="8461248" y="3611880"/>
            <a:ext cx="2904744" cy="640080"/>
          </a:xfrm>
          <a:prstGeom prst="rect">
            <a:avLst/>
          </a:prstGeom>
          <a:noFill/>
          <a:ln/>
        </p:spPr>
        <p:txBody>
          <a:bodyPr wrap="square" rtlCol="0" anchor="ctr"/>
          <a:lstStyle/>
          <a:p>
            <a:pPr indent="0" marL="0">
              <a:buNone/>
            </a:pPr>
            <a:r>
              <a:rPr lang="en-US" sz="3000" b="1" dirty="0">
                <a:solidFill>
                  <a:srgbClr val="2EA891"/>
                </a:solidFill>
                <a:latin typeface="Arial" pitchFamily="34" charset="0"/>
                <a:ea typeface="Arial" pitchFamily="34" charset="-122"/>
                <a:cs typeface="Arial" pitchFamily="34" charset="-120"/>
              </a:rPr>
              <a:t>~80%</a:t>
            </a:r>
            <a:endParaRPr lang="en-US" sz="3000" dirty="0"/>
          </a:p>
        </p:txBody>
      </p:sp>
      <p:sp>
        <p:nvSpPr>
          <p:cNvPr id="19" name="Text 14"/>
          <p:cNvSpPr/>
          <p:nvPr/>
        </p:nvSpPr>
        <p:spPr>
          <a:xfrm>
            <a:off x="8461248" y="4251960"/>
            <a:ext cx="2904744" cy="640080"/>
          </a:xfrm>
          <a:prstGeom prst="rect">
            <a:avLst/>
          </a:prstGeom>
          <a:noFill/>
          <a:ln/>
        </p:spPr>
        <p:txBody>
          <a:bodyPr wrap="square" rtlCol="0" anchor="ctr"/>
          <a:lstStyle/>
          <a:p>
            <a:pPr indent="0" marL="0">
              <a:buNone/>
            </a:pPr>
            <a:r>
              <a:rPr lang="en-US" sz="1250" dirty="0">
                <a:solidFill>
                  <a:srgbClr val="2E2E2E"/>
                </a:solidFill>
                <a:latin typeface="Arial" pitchFamily="34" charset="0"/>
                <a:ea typeface="Arial" pitchFamily="34" charset="-122"/>
                <a:cs typeface="Arial" pitchFamily="34" charset="-120"/>
              </a:rPr>
              <a:t>of federal IT spend goes to operating &amp; maintaining existing systems (GAO)</a:t>
            </a:r>
            <a:endParaRPr lang="en-US" sz="1250" dirty="0"/>
          </a:p>
        </p:txBody>
      </p:sp>
      <p:sp>
        <p:nvSpPr>
          <p:cNvPr id="20" name="Text 15"/>
          <p:cNvSpPr/>
          <p:nvPr/>
        </p:nvSpPr>
        <p:spPr>
          <a:xfrm>
            <a:off x="548640" y="5212080"/>
            <a:ext cx="11091672" cy="548640"/>
          </a:xfrm>
          <a:prstGeom prst="rect">
            <a:avLst/>
          </a:prstGeom>
          <a:noFill/>
          <a:ln/>
        </p:spPr>
        <p:txBody>
          <a:bodyPr wrap="square" rtlCol="0" anchor="ctr"/>
          <a:lstStyle/>
          <a:p>
            <a:pPr indent="0" marL="0">
              <a:buNone/>
            </a:pPr>
            <a:r>
              <a:rPr lang="en-US" sz="1350" b="1" i="1" dirty="0">
                <a:solidFill>
                  <a:srgbClr val="232D5A"/>
                </a:solidFill>
                <a:latin typeface="Arial" pitchFamily="34" charset="0"/>
                <a:ea typeface="Arial" pitchFamily="34" charset="-122"/>
                <a:cs typeface="Arial" pitchFamily="34" charset="-120"/>
              </a:rPr>
              <a:t>The question every board, examiner, and auditor asks: “how do you know the new system does the same thing?”  Relian answers it with proof.</a:t>
            </a:r>
            <a:endParaRPr lang="en-US" sz="1350" dirty="0"/>
          </a:p>
        </p:txBody>
      </p:sp>
      <p:sp>
        <p:nvSpPr>
          <p:cNvPr id="21" name="Shape 16"/>
          <p:cNvSpPr/>
          <p:nvPr/>
        </p:nvSpPr>
        <p:spPr>
          <a:xfrm>
            <a:off x="548640" y="6364224"/>
            <a:ext cx="11091672" cy="25603"/>
          </a:xfrm>
          <a:prstGeom prst="rect">
            <a:avLst/>
          </a:prstGeom>
          <a:solidFill>
            <a:srgbClr val="F7B801"/>
          </a:solidFill>
          <a:ln/>
        </p:spPr>
        <p:txBody>
          <a:bodyPr/>
          <a:p/>
        </p:txBody>
      </p:sp>
      <p:sp>
        <p:nvSpPr>
          <p:cNvPr id="28" name="Text 23"/>
          <p:cNvSpPr/>
          <p:nvPr/>
        </p:nvSpPr>
        <p:spPr>
          <a:xfrm>
            <a:off x="7982712" y="6455664"/>
            <a:ext cx="3108960" cy="292608"/>
          </a:xfrm>
          <a:prstGeom prst="rect">
            <a:avLst/>
          </a:prstGeom>
          <a:noFill/>
          <a:ln/>
        </p:spPr>
        <p:txBody>
          <a:bodyPr wrap="square" rtlCol="0" anchor="ctr"/>
          <a:lstStyle/>
          <a:p>
            <a:pPr algn="r" indent="0" marL="0">
              <a:buNone/>
            </a:pPr>
            <a:r>
              <a:rPr lang="en-US" sz="900" dirty="0">
                <a:solidFill>
                  <a:srgbClr val="8892A4"/>
                </a:solidFill>
                <a:latin typeface="Arial" pitchFamily="34" charset="0"/>
                <a:ea typeface="Arial" pitchFamily="34" charset="-122"/>
                <a:cs typeface="Arial" pitchFamily="34" charset="-120"/>
              </a:rPr>
              <a:t>Relian™  ·  Visionblox LLC</a:t>
            </a:r>
            <a:endParaRPr lang="en-US" sz="900" dirty="0"/>
          </a:p>
        </p:txBody>
      </p:sp>
      <p:sp>
        <p:nvSpPr>
          <p:cNvPr id="29" name="Text 24"/>
          <p:cNvSpPr/>
          <p:nvPr/>
        </p:nvSpPr>
        <p:spPr>
          <a:xfrm>
            <a:off x="11183112" y="6455664"/>
            <a:ext cx="457200" cy="292608"/>
          </a:xfrm>
          <a:prstGeom prst="rect">
            <a:avLst/>
          </a:prstGeom>
          <a:noFill/>
          <a:ln/>
        </p:spPr>
        <p:txBody>
          <a:bodyPr wrap="square" rtlCol="0" anchor="ctr"/>
          <a:lstStyle/>
          <a:p>
            <a:pPr algn="r" indent="0" marL="0">
              <a:buNone/>
            </a:pPr>
            <a:r>
              <a:rPr lang="en-US" sz="900" dirty="0">
                <a:solidFill>
                  <a:srgbClr val="8892A4"/>
                </a:solidFill>
                <a:latin typeface="Arial" pitchFamily="34" charset="0"/>
                <a:ea typeface="Arial" pitchFamily="34" charset="-122"/>
                <a:cs typeface="Arial" pitchFamily="34" charset="-120"/>
              </a:rPr>
              <a:t>2</a:t>
            </a:r>
            <a:endParaRPr lang="en-US" sz="900" dirty="0"/>
          </a:p>
        </p:txBody>
      </p:sp>
      <p:pic>
        <p:nvPicPr>
          <p:cNvPr id="30" name="Picture 29" descr="visionblox-logo.png"/>
          <p:cNvPicPr>
            <a:picLocks noChangeAspect="1"/>
          </p:cNvPicPr>
          <p:nvPr/>
        </p:nvPicPr>
        <p:blipFill>
          <a:blip r:embed="rId6"/>
          <a:stretch>
            <a:fillRect/>
          </a:stretch>
        </p:blipFill>
        <p:spPr>
          <a:xfrm>
            <a:off x="548640" y="6391656"/>
            <a:ext cx="914400" cy="38510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247"/>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347"/>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7FD4C1"/>
                </a:solidFill>
                <a:latin typeface="Arial" pitchFamily="34" charset="0"/>
                <a:ea typeface="Arial" pitchFamily="34" charset="-122"/>
                <a:cs typeface="Arial" pitchFamily="34" charset="-120"/>
              </a:rPr>
              <a:t>WHAT RELIAN IS</a:t>
            </a:r>
            <a:endParaRPr lang="en-US" sz="1200" dirty="0"/>
          </a:p>
        </p:txBody>
      </p:sp>
      <p:sp>
        <p:nvSpPr>
          <p:cNvPr id="4" name="Text 2"/>
          <p:cNvSpPr/>
          <p:nvPr/>
        </p:nvSpPr>
        <p:spPr>
          <a:xfrm>
            <a:off x="548640" y="777240"/>
            <a:ext cx="11091672" cy="6400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An independent transformation-attestation substrate</a:t>
            </a:r>
            <a:endParaRPr lang="en-US" sz="2600" dirty="0"/>
          </a:p>
        </p:txBody>
      </p:sp>
      <p:sp>
        <p:nvSpPr>
          <p:cNvPr id="5" name="Shape 3"/>
          <p:cNvSpPr/>
          <p:nvPr/>
        </p:nvSpPr>
        <p:spPr>
          <a:xfrm>
            <a:off x="548640" y="1554480"/>
            <a:ext cx="11091672" cy="777240"/>
          </a:xfrm>
          <a:prstGeom prst="roundRect">
            <a:avLst>
              <a:gd name="adj" fmla="val 4706"/>
            </a:avLst>
          </a:prstGeom>
          <a:solidFill>
            <a:srgbClr val="2A3560"/>
          </a:solidFill>
          <a:ln w="12700">
            <a:solidFill>
              <a:srgbClr val="2EA891"/>
            </a:solidFill>
            <a:prstDash val="solid"/>
          </a:ln>
        </p:spPr>
        <p:txBody>
          <a:bodyPr/>
          <a:p/>
        </p:txBody>
      </p:sp>
      <p:sp>
        <p:nvSpPr>
          <p:cNvPr id="6" name="Text 4"/>
          <p:cNvSpPr/>
          <p:nvPr/>
        </p:nvSpPr>
        <p:spPr>
          <a:xfrm>
            <a:off x="822960" y="1554480"/>
            <a:ext cx="10543032" cy="777240"/>
          </a:xfrm>
          <a:prstGeom prst="rect">
            <a:avLst/>
          </a:prstGeom>
          <a:noFill/>
          <a:ln/>
        </p:spPr>
        <p:txBody>
          <a:bodyPr wrap="square" rtlCol="0" anchor="ctr"/>
          <a:lstStyle/>
          <a:p>
            <a:pPr indent="0" marL="0">
              <a:buNone/>
            </a:pPr>
            <a:r>
              <a:rPr lang="en-US" sz="1500" i="1" dirty="0">
                <a:solidFill>
                  <a:srgbClr val="F5F5F0"/>
                </a:solidFill>
                <a:latin typeface="Arial" pitchFamily="34" charset="0"/>
                <a:ea typeface="Arial" pitchFamily="34" charset="-122"/>
                <a:cs typeface="Arial" pitchFamily="34" charset="-120"/>
              </a:rPr>
              <a:t>Relian does one thing no migration vendor can do for itself: </a:t>
            </a:r>
            <a:pPr indent="0" marL="0">
              <a:buNone/>
            </a:pPr>
            <a:r>
              <a:rPr lang="en-US" sz="1500" b="1" i="1" dirty="0">
                <a:solidFill>
                  <a:srgbClr val="FFFFFF"/>
                </a:solidFill>
                <a:latin typeface="Arial" pitchFamily="34" charset="0"/>
                <a:ea typeface="Arial" pitchFamily="34" charset="-122"/>
                <a:cs typeface="Arial" pitchFamily="34" charset="-120"/>
              </a:rPr>
              <a:t>independently prove that modernized code behaves identically to the original.</a:t>
            </a:r>
            <a:endParaRPr lang="en-US" sz="1500" dirty="0"/>
          </a:p>
        </p:txBody>
      </p:sp>
      <p:sp>
        <p:nvSpPr>
          <p:cNvPr id="7" name="Shape 5"/>
          <p:cNvSpPr/>
          <p:nvPr/>
        </p:nvSpPr>
        <p:spPr>
          <a:xfrm>
            <a:off x="548640" y="2606040"/>
            <a:ext cx="3453384" cy="2697480"/>
          </a:xfrm>
          <a:prstGeom prst="roundRect">
            <a:avLst>
              <a:gd name="adj" fmla="val 1356"/>
            </a:avLst>
          </a:prstGeom>
          <a:solidFill>
            <a:srgbClr val="2A3560"/>
          </a:solidFill>
          <a:ln/>
        </p:spPr>
        <p:txBody>
          <a:bodyPr/>
          <a:p/>
        </p:txBody>
      </p:sp>
      <p:sp>
        <p:nvSpPr>
          <p:cNvPr id="8" name="Shape 6"/>
          <p:cNvSpPr/>
          <p:nvPr/>
        </p:nvSpPr>
        <p:spPr>
          <a:xfrm>
            <a:off x="841248" y="2880360"/>
            <a:ext cx="658368" cy="658368"/>
          </a:xfrm>
          <a:prstGeom prst="roundRect">
            <a:avLst>
              <a:gd name="adj" fmla="val 6944"/>
            </a:avLst>
          </a:prstGeom>
          <a:solidFill>
            <a:srgbClr val="2EA891"/>
          </a:solidFill>
          <a:ln/>
        </p:spPr>
        <p:txBody>
          <a:bodyPr/>
          <a:p/>
        </p:txBody>
      </p:sp>
      <p:pic>
        <p:nvPicPr>
          <p:cNvPr id="9" name="Image 0" descr="preencoded.png">    </p:cNvPr>
          <p:cNvPicPr>
            <a:picLocks noChangeAspect="1"/>
          </p:cNvPicPr>
          <p:nvPr/>
        </p:nvPicPr>
        <p:blipFill>
          <a:blip r:embed="rId1"/>
          <a:stretch>
            <a:fillRect/>
          </a:stretch>
        </p:blipFill>
        <p:spPr>
          <a:xfrm>
            <a:off x="1005840" y="3044952"/>
            <a:ext cx="329184" cy="329184"/>
          </a:xfrm>
          <a:prstGeom prst="rect">
            <a:avLst/>
          </a:prstGeom>
        </p:spPr>
      </p:pic>
      <p:sp>
        <p:nvSpPr>
          <p:cNvPr id="10" name="Text 7"/>
          <p:cNvSpPr/>
          <p:nvPr/>
        </p:nvSpPr>
        <p:spPr>
          <a:xfrm>
            <a:off x="3224784" y="2834640"/>
            <a:ext cx="640080" cy="640080"/>
          </a:xfrm>
          <a:prstGeom prst="rect">
            <a:avLst/>
          </a:prstGeom>
          <a:noFill/>
          <a:ln/>
        </p:spPr>
        <p:txBody>
          <a:bodyPr wrap="square" rtlCol="0" anchor="ctr"/>
          <a:lstStyle/>
          <a:p>
            <a:pPr algn="r" indent="0" marL="0">
              <a:buNone/>
            </a:pPr>
            <a:r>
              <a:rPr lang="en-US" sz="3400" b="1" dirty="0">
                <a:solidFill>
                  <a:srgbClr val="3B487A"/>
                </a:solidFill>
                <a:latin typeface="Arial" pitchFamily="34" charset="0"/>
                <a:ea typeface="Arial" pitchFamily="34" charset="-122"/>
                <a:cs typeface="Arial" pitchFamily="34" charset="-120"/>
              </a:rPr>
              <a:t>1</a:t>
            </a:r>
            <a:endParaRPr lang="en-US" sz="3400" dirty="0"/>
          </a:p>
        </p:txBody>
      </p:sp>
      <p:sp>
        <p:nvSpPr>
          <p:cNvPr id="11" name="Text 8"/>
          <p:cNvSpPr/>
          <p:nvPr/>
        </p:nvSpPr>
        <p:spPr>
          <a:xfrm>
            <a:off x="841248" y="3703320"/>
            <a:ext cx="2904744" cy="5486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Deterministic transformation</a:t>
            </a:r>
            <a:endParaRPr lang="en-US" sz="1600" dirty="0"/>
          </a:p>
        </p:txBody>
      </p:sp>
      <p:sp>
        <p:nvSpPr>
          <p:cNvPr id="12" name="Text 9"/>
          <p:cNvSpPr/>
          <p:nvPr/>
        </p:nvSpPr>
        <p:spPr>
          <a:xfrm>
            <a:off x="841248" y="4251960"/>
            <a:ext cx="2904744" cy="960120"/>
          </a:xfrm>
          <a:prstGeom prst="rect">
            <a:avLst/>
          </a:prstGeom>
          <a:noFill/>
          <a:ln/>
        </p:spPr>
        <p:txBody>
          <a:bodyPr wrap="square" rtlCol="0" anchor="ctr"/>
          <a:lstStyle/>
          <a:p>
            <a:pPr indent="0" marL="0">
              <a:buNone/>
            </a:pPr>
            <a:r>
              <a:rPr lang="en-US" sz="1200" dirty="0">
                <a:solidFill>
                  <a:srgbClr val="F5F5F0"/>
                </a:solidFill>
                <a:latin typeface="Arial" pitchFamily="34" charset="0"/>
                <a:ea typeface="Arial" pitchFamily="34" charset="-122"/>
                <a:cs typeface="Arial" pitchFamily="34" charset="-120"/>
              </a:rPr>
              <a:t>A reproducible, rule-based engine converts legacy code — the same input always yields the same output, with no black-box AI in the transform path.</a:t>
            </a:r>
            <a:endParaRPr lang="en-US" sz="1200" dirty="0"/>
          </a:p>
        </p:txBody>
      </p:sp>
      <p:sp>
        <p:nvSpPr>
          <p:cNvPr id="13" name="Shape 10"/>
          <p:cNvSpPr/>
          <p:nvPr/>
        </p:nvSpPr>
        <p:spPr>
          <a:xfrm>
            <a:off x="4367784" y="2606040"/>
            <a:ext cx="3453384" cy="2697480"/>
          </a:xfrm>
          <a:prstGeom prst="roundRect">
            <a:avLst>
              <a:gd name="adj" fmla="val 1356"/>
            </a:avLst>
          </a:prstGeom>
          <a:solidFill>
            <a:srgbClr val="2A3560"/>
          </a:solidFill>
          <a:ln/>
        </p:spPr>
        <p:txBody>
          <a:bodyPr/>
          <a:p/>
        </p:txBody>
      </p:sp>
      <p:sp>
        <p:nvSpPr>
          <p:cNvPr id="14" name="Shape 11"/>
          <p:cNvSpPr/>
          <p:nvPr/>
        </p:nvSpPr>
        <p:spPr>
          <a:xfrm>
            <a:off x="4660392" y="2880360"/>
            <a:ext cx="658368" cy="658368"/>
          </a:xfrm>
          <a:prstGeom prst="roundRect">
            <a:avLst>
              <a:gd name="adj" fmla="val 6944"/>
            </a:avLst>
          </a:prstGeom>
          <a:solidFill>
            <a:srgbClr val="2EA891"/>
          </a:solidFill>
          <a:ln/>
        </p:spPr>
        <p:txBody>
          <a:bodyPr/>
          <a:p/>
        </p:txBody>
      </p:sp>
      <p:pic>
        <p:nvPicPr>
          <p:cNvPr id="15" name="Image 1" descr="preencoded.png">    </p:cNvPr>
          <p:cNvPicPr>
            <a:picLocks noChangeAspect="1"/>
          </p:cNvPicPr>
          <p:nvPr/>
        </p:nvPicPr>
        <p:blipFill>
          <a:blip r:embed="rId2"/>
          <a:stretch>
            <a:fillRect/>
          </a:stretch>
        </p:blipFill>
        <p:spPr>
          <a:xfrm>
            <a:off x="4824984" y="3044952"/>
            <a:ext cx="329184" cy="329184"/>
          </a:xfrm>
          <a:prstGeom prst="rect">
            <a:avLst/>
          </a:prstGeom>
        </p:spPr>
      </p:pic>
      <p:sp>
        <p:nvSpPr>
          <p:cNvPr id="16" name="Text 12"/>
          <p:cNvSpPr/>
          <p:nvPr/>
        </p:nvSpPr>
        <p:spPr>
          <a:xfrm>
            <a:off x="7043928" y="2834640"/>
            <a:ext cx="640080" cy="640080"/>
          </a:xfrm>
          <a:prstGeom prst="rect">
            <a:avLst/>
          </a:prstGeom>
          <a:noFill/>
          <a:ln/>
        </p:spPr>
        <p:txBody>
          <a:bodyPr wrap="square" rtlCol="0" anchor="ctr"/>
          <a:lstStyle/>
          <a:p>
            <a:pPr algn="r" indent="0" marL="0">
              <a:buNone/>
            </a:pPr>
            <a:r>
              <a:rPr lang="en-US" sz="3400" b="1" dirty="0">
                <a:solidFill>
                  <a:srgbClr val="3B487A"/>
                </a:solidFill>
                <a:latin typeface="Arial" pitchFamily="34" charset="0"/>
                <a:ea typeface="Arial" pitchFamily="34" charset="-122"/>
                <a:cs typeface="Arial" pitchFamily="34" charset="-120"/>
              </a:rPr>
              <a:t>2</a:t>
            </a:r>
            <a:endParaRPr lang="en-US" sz="3400" dirty="0"/>
          </a:p>
        </p:txBody>
      </p:sp>
      <p:sp>
        <p:nvSpPr>
          <p:cNvPr id="17" name="Text 13"/>
          <p:cNvSpPr/>
          <p:nvPr/>
        </p:nvSpPr>
        <p:spPr>
          <a:xfrm>
            <a:off x="4660392" y="3703320"/>
            <a:ext cx="2904744" cy="5486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Committed benchmarking</a:t>
            </a:r>
            <a:endParaRPr lang="en-US" sz="1600" dirty="0"/>
          </a:p>
        </p:txBody>
      </p:sp>
      <p:sp>
        <p:nvSpPr>
          <p:cNvPr id="18" name="Text 14"/>
          <p:cNvSpPr/>
          <p:nvPr/>
        </p:nvSpPr>
        <p:spPr>
          <a:xfrm>
            <a:off x="4660392" y="4251960"/>
            <a:ext cx="2904744" cy="960120"/>
          </a:xfrm>
          <a:prstGeom prst="rect">
            <a:avLst/>
          </a:prstGeom>
          <a:noFill/>
          <a:ln/>
        </p:spPr>
        <p:txBody>
          <a:bodyPr wrap="square" rtlCol="0" anchor="ctr"/>
          <a:lstStyle/>
          <a:p>
            <a:pPr indent="0" marL="0">
              <a:buNone/>
            </a:pPr>
            <a:r>
              <a:rPr lang="en-US" sz="1200" dirty="0">
                <a:solidFill>
                  <a:srgbClr val="F5F5F0"/>
                </a:solidFill>
                <a:latin typeface="Arial" pitchFamily="34" charset="0"/>
                <a:ea typeface="Arial" pitchFamily="34" charset="-122"/>
                <a:cs typeface="Arial" pitchFamily="34" charset="-120"/>
              </a:rPr>
              <a:t>Behavioral equivalence is measured against a test suite cryptographically committed before the solution existed — so the results can’t be gamed.</a:t>
            </a:r>
            <a:endParaRPr lang="en-US" sz="1200" dirty="0"/>
          </a:p>
        </p:txBody>
      </p:sp>
      <p:sp>
        <p:nvSpPr>
          <p:cNvPr id="19" name="Shape 15"/>
          <p:cNvSpPr/>
          <p:nvPr/>
        </p:nvSpPr>
        <p:spPr>
          <a:xfrm>
            <a:off x="8186928" y="2606040"/>
            <a:ext cx="3453384" cy="2697480"/>
          </a:xfrm>
          <a:prstGeom prst="roundRect">
            <a:avLst>
              <a:gd name="adj" fmla="val 1356"/>
            </a:avLst>
          </a:prstGeom>
          <a:solidFill>
            <a:srgbClr val="2A3560"/>
          </a:solidFill>
          <a:ln/>
        </p:spPr>
        <p:txBody>
          <a:bodyPr/>
          <a:p/>
        </p:txBody>
      </p:sp>
      <p:sp>
        <p:nvSpPr>
          <p:cNvPr id="20" name="Shape 16"/>
          <p:cNvSpPr/>
          <p:nvPr/>
        </p:nvSpPr>
        <p:spPr>
          <a:xfrm>
            <a:off x="8479536" y="2880360"/>
            <a:ext cx="658368" cy="658368"/>
          </a:xfrm>
          <a:prstGeom prst="roundRect">
            <a:avLst>
              <a:gd name="adj" fmla="val 6944"/>
            </a:avLst>
          </a:prstGeom>
          <a:solidFill>
            <a:srgbClr val="2EA891"/>
          </a:solidFill>
          <a:ln/>
        </p:spPr>
        <p:txBody>
          <a:bodyPr/>
          <a:p/>
        </p:txBody>
      </p:sp>
      <p:pic>
        <p:nvPicPr>
          <p:cNvPr id="21" name="Image 2" descr="preencoded.png">    </p:cNvPr>
          <p:cNvPicPr>
            <a:picLocks noChangeAspect="1"/>
          </p:cNvPicPr>
          <p:nvPr/>
        </p:nvPicPr>
        <p:blipFill>
          <a:blip r:embed="rId3"/>
          <a:stretch>
            <a:fillRect/>
          </a:stretch>
        </p:blipFill>
        <p:spPr>
          <a:xfrm>
            <a:off x="8644128" y="3044952"/>
            <a:ext cx="329184" cy="329184"/>
          </a:xfrm>
          <a:prstGeom prst="rect">
            <a:avLst/>
          </a:prstGeom>
        </p:spPr>
      </p:pic>
      <p:sp>
        <p:nvSpPr>
          <p:cNvPr id="22" name="Text 17"/>
          <p:cNvSpPr/>
          <p:nvPr/>
        </p:nvSpPr>
        <p:spPr>
          <a:xfrm>
            <a:off x="10863072" y="2834640"/>
            <a:ext cx="640080" cy="640080"/>
          </a:xfrm>
          <a:prstGeom prst="rect">
            <a:avLst/>
          </a:prstGeom>
          <a:noFill/>
          <a:ln/>
        </p:spPr>
        <p:txBody>
          <a:bodyPr wrap="square" rtlCol="0" anchor="ctr"/>
          <a:lstStyle/>
          <a:p>
            <a:pPr algn="r" indent="0" marL="0">
              <a:buNone/>
            </a:pPr>
            <a:r>
              <a:rPr lang="en-US" sz="3400" b="1" dirty="0">
                <a:solidFill>
                  <a:srgbClr val="3B487A"/>
                </a:solidFill>
                <a:latin typeface="Arial" pitchFamily="34" charset="0"/>
                <a:ea typeface="Arial" pitchFamily="34" charset="-122"/>
                <a:cs typeface="Arial" pitchFamily="34" charset="-120"/>
              </a:rPr>
              <a:t>3</a:t>
            </a:r>
            <a:endParaRPr lang="en-US" sz="3400" dirty="0"/>
          </a:p>
        </p:txBody>
      </p:sp>
      <p:sp>
        <p:nvSpPr>
          <p:cNvPr id="23" name="Text 18"/>
          <p:cNvSpPr/>
          <p:nvPr/>
        </p:nvSpPr>
        <p:spPr>
          <a:xfrm>
            <a:off x="8479536" y="3703320"/>
            <a:ext cx="2904744" cy="5486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Cryptographic attestation</a:t>
            </a:r>
            <a:endParaRPr lang="en-US" sz="1600" dirty="0"/>
          </a:p>
        </p:txBody>
      </p:sp>
      <p:sp>
        <p:nvSpPr>
          <p:cNvPr id="24" name="Text 19"/>
          <p:cNvSpPr/>
          <p:nvPr/>
        </p:nvSpPr>
        <p:spPr>
          <a:xfrm>
            <a:off x="8479536" y="4251960"/>
            <a:ext cx="2904744" cy="960120"/>
          </a:xfrm>
          <a:prstGeom prst="rect">
            <a:avLst/>
          </a:prstGeom>
          <a:noFill/>
          <a:ln/>
        </p:spPr>
        <p:txBody>
          <a:bodyPr wrap="square" rtlCol="0" anchor="ctr"/>
          <a:lstStyle/>
          <a:p>
            <a:pPr indent="0" marL="0">
              <a:buNone/>
            </a:pPr>
            <a:r>
              <a:rPr lang="en-US" sz="1200" dirty="0">
                <a:solidFill>
                  <a:srgbClr val="F5F5F0"/>
                </a:solidFill>
                <a:latin typeface="Arial" pitchFamily="34" charset="0"/>
                <a:ea typeface="Arial" pitchFamily="34" charset="-122"/>
                <a:cs typeface="Arial" pitchFamily="34" charset="-120"/>
              </a:rPr>
              <a:t>Every transformation yields a signed, hash-chained proof of equivalence that anyone can independently re-derive and verify.</a:t>
            </a:r>
            <a:endParaRPr lang="en-US" sz="1200" dirty="0"/>
          </a:p>
        </p:txBody>
      </p:sp>
      <p:sp>
        <p:nvSpPr>
          <p:cNvPr id="25" name="Text 20"/>
          <p:cNvSpPr/>
          <p:nvPr/>
        </p:nvSpPr>
        <p:spPr>
          <a:xfrm>
            <a:off x="548640" y="5532120"/>
            <a:ext cx="11091672" cy="365760"/>
          </a:xfrm>
          <a:prstGeom prst="rect">
            <a:avLst/>
          </a:prstGeom>
          <a:noFill/>
          <a:ln/>
        </p:spPr>
        <p:txBody>
          <a:bodyPr wrap="square" rtlCol="0" anchor="ctr"/>
          <a:lstStyle/>
          <a:p>
            <a:pPr algn="ctr" indent="0" marL="0">
              <a:buNone/>
            </a:pPr>
            <a:r>
              <a:rPr lang="en-US" sz="1500" b="1" i="1" dirty="0">
                <a:solidFill>
                  <a:srgbClr val="F7B801"/>
                </a:solidFill>
                <a:latin typeface="Arial" pitchFamily="34" charset="0"/>
                <a:ea typeface="Arial" pitchFamily="34" charset="-122"/>
                <a:cs typeface="Arial" pitchFamily="34" charset="-120"/>
              </a:rPr>
              <a:t>The product is the proof — not the pipeline.</a:t>
            </a:r>
            <a:endParaRPr lang="en-US" sz="1500" dirty="0"/>
          </a:p>
        </p:txBody>
      </p:sp>
      <p:sp>
        <p:nvSpPr>
          <p:cNvPr id="26" name="Rectangle 25"/>
          <p:cNvSpPr/>
          <p:nvPr/>
        </p:nvSpPr>
        <p:spPr>
          <a:xfrm>
            <a:off x="548640" y="6364224"/>
            <a:ext cx="11094720" cy="25603"/>
          </a:xfrm>
          <a:prstGeom prst="rect">
            <a:avLst/>
          </a:prstGeom>
          <a:solidFill>
            <a:srgbClr val="F7B8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visionblox-logo-knockout.png"/>
          <p:cNvPicPr>
            <a:picLocks noChangeAspect="1"/>
          </p:cNvPicPr>
          <p:nvPr/>
        </p:nvPicPr>
        <p:blipFill>
          <a:blip r:embed="rId6"/>
          <a:stretch>
            <a:fillRect/>
          </a:stretch>
        </p:blipFill>
        <p:spPr>
          <a:xfrm>
            <a:off x="548640" y="6391656"/>
            <a:ext cx="914400" cy="38510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EA891"/>
                </a:solidFill>
                <a:latin typeface="Arial" pitchFamily="34" charset="0"/>
                <a:ea typeface="Arial" pitchFamily="34" charset="-122"/>
                <a:cs typeface="Arial" pitchFamily="34" charset="-120"/>
              </a:rPr>
              <a:t>HOW IT WORKS</a:t>
            </a:r>
            <a:endParaRPr lang="en-US" sz="1200" dirty="0"/>
          </a:p>
        </p:txBody>
      </p:sp>
      <p:sp>
        <p:nvSpPr>
          <p:cNvPr id="3" name="Text 1"/>
          <p:cNvSpPr/>
          <p:nvPr/>
        </p:nvSpPr>
        <p:spPr>
          <a:xfrm>
            <a:off x="548640" y="749808"/>
            <a:ext cx="11091672" cy="731520"/>
          </a:xfrm>
          <a:prstGeom prst="rect">
            <a:avLst/>
          </a:prstGeom>
          <a:noFill/>
          <a:ln/>
        </p:spPr>
        <p:txBody>
          <a:bodyPr wrap="square" rtlCol="0" anchor="ctr"/>
          <a:lstStyle/>
          <a:p>
            <a:pPr indent="0" marL="0">
              <a:buNone/>
            </a:pPr>
            <a:r>
              <a:rPr lang="en-US" sz="2700" b="1" dirty="0">
                <a:solidFill>
                  <a:srgbClr val="232D5A"/>
                </a:solidFill>
                <a:latin typeface="Arial" pitchFamily="34" charset="0"/>
                <a:ea typeface="Arial" pitchFamily="34" charset="-122"/>
                <a:cs typeface="Arial" pitchFamily="34" charset="-120"/>
              </a:rPr>
              <a:t>The source stays home — only the proof travels</a:t>
            </a:r>
            <a:endParaRPr lang="en-US" sz="2700" dirty="0"/>
          </a:p>
        </p:txBody>
      </p:sp>
      <p:sp>
        <p:nvSpPr>
          <p:cNvPr id="4" name="Shape 2"/>
          <p:cNvSpPr/>
          <p:nvPr/>
        </p:nvSpPr>
        <p:spPr>
          <a:xfrm>
            <a:off x="548640" y="1965960"/>
            <a:ext cx="1669694" cy="2286000"/>
          </a:xfrm>
          <a:prstGeom prst="roundRect">
            <a:avLst>
              <a:gd name="adj" fmla="val 2191"/>
            </a:avLst>
          </a:prstGeom>
          <a:solidFill>
            <a:srgbClr val="F0F0F0"/>
          </a:solidFill>
          <a:ln w="12700">
            <a:solidFill>
              <a:srgbClr val="DDE2EA"/>
            </a:solidFill>
            <a:prstDash val="solid"/>
          </a:ln>
          <a:effectLst>
            <a:outerShdw sx="100000" sy="100000" kx="0" ky="0" algn="bl" rotWithShape="0" blurRad="76200" dist="25400" dir="5400000">
              <a:srgbClr val="B9C0CE">
                <a:alpha val="30000"/>
              </a:srgbClr>
            </a:outerShdw>
          </a:effectLst>
        </p:spPr>
        <p:txBody>
          <a:bodyPr/>
          <a:p/>
        </p:txBody>
      </p:sp>
      <p:sp>
        <p:nvSpPr>
          <p:cNvPr id="5" name="Shape 3"/>
          <p:cNvSpPr/>
          <p:nvPr/>
        </p:nvSpPr>
        <p:spPr>
          <a:xfrm>
            <a:off x="1063447" y="2240280"/>
            <a:ext cx="640080" cy="640080"/>
          </a:xfrm>
          <a:prstGeom prst="roundRect">
            <a:avLst>
              <a:gd name="adj" fmla="val 7143"/>
            </a:avLst>
          </a:prstGeom>
          <a:solidFill>
            <a:srgbClr val="232D5A"/>
          </a:solidFill>
          <a:ln/>
        </p:spPr>
        <p:txBody>
          <a:bodyPr/>
          <a:p/>
        </p:txBody>
      </p:sp>
      <p:pic>
        <p:nvPicPr>
          <p:cNvPr id="6" name="Image 0" descr="preencoded.png">    </p:cNvPr>
          <p:cNvPicPr>
            <a:picLocks noChangeAspect="1"/>
          </p:cNvPicPr>
          <p:nvPr/>
        </p:nvPicPr>
        <p:blipFill>
          <a:blip r:embed="rId1"/>
          <a:stretch>
            <a:fillRect/>
          </a:stretch>
        </p:blipFill>
        <p:spPr>
          <a:xfrm>
            <a:off x="1223467" y="2400300"/>
            <a:ext cx="320040" cy="320040"/>
          </a:xfrm>
          <a:prstGeom prst="rect">
            <a:avLst/>
          </a:prstGeom>
        </p:spPr>
      </p:pic>
      <p:sp>
        <p:nvSpPr>
          <p:cNvPr id="7" name="Text 4"/>
          <p:cNvSpPr/>
          <p:nvPr/>
        </p:nvSpPr>
        <p:spPr>
          <a:xfrm>
            <a:off x="658368" y="3063240"/>
            <a:ext cx="1450238" cy="502920"/>
          </a:xfrm>
          <a:prstGeom prst="rect">
            <a:avLst/>
          </a:prstGeom>
          <a:noFill/>
          <a:ln/>
        </p:spPr>
        <p:txBody>
          <a:bodyPr wrap="square" rtlCol="0" anchor="t"/>
          <a:lstStyle/>
          <a:p>
            <a:pPr algn="ctr" indent="0" marL="0">
              <a:buNone/>
            </a:pPr>
            <a:r>
              <a:rPr lang="en-US" sz="1250" b="1" dirty="0">
                <a:solidFill>
                  <a:srgbClr val="232D5A"/>
                </a:solidFill>
                <a:latin typeface="Arial" pitchFamily="34" charset="0"/>
                <a:ea typeface="Arial" pitchFamily="34" charset="-122"/>
                <a:cs typeface="Arial" pitchFamily="34" charset="-120"/>
              </a:rPr>
              <a:t>Your legacy source</a:t>
            </a:r>
            <a:endParaRPr lang="en-US" sz="1250" dirty="0"/>
          </a:p>
        </p:txBody>
      </p:sp>
      <p:sp>
        <p:nvSpPr>
          <p:cNvPr id="8" name="Text 5"/>
          <p:cNvSpPr/>
          <p:nvPr/>
        </p:nvSpPr>
        <p:spPr>
          <a:xfrm>
            <a:off x="658368" y="3566160"/>
            <a:ext cx="1450238" cy="548640"/>
          </a:xfrm>
          <a:prstGeom prst="rect">
            <a:avLst/>
          </a:prstGeom>
          <a:noFill/>
          <a:ln/>
        </p:spPr>
        <p:txBody>
          <a:bodyPr wrap="square" rtlCol="0" anchor="t"/>
          <a:lstStyle/>
          <a:p>
            <a:pPr algn="ctr" indent="0" marL="0">
              <a:buNone/>
            </a:pPr>
            <a:r>
              <a:rPr lang="en-US" sz="1100" dirty="0">
                <a:solidFill>
                  <a:srgbClr val="2E2E2E"/>
                </a:solidFill>
                <a:latin typeface="Arial" pitchFamily="34" charset="0"/>
                <a:ea typeface="Arial" pitchFamily="34" charset="-122"/>
                <a:cs typeface="Arial" pitchFamily="34" charset="-120"/>
              </a:rPr>
              <a:t>stays inside your perimeter</a:t>
            </a:r>
            <a:endParaRPr lang="en-US" sz="1100" dirty="0"/>
          </a:p>
        </p:txBody>
      </p:sp>
      <p:sp>
        <p:nvSpPr>
          <p:cNvPr id="9" name="Text 6"/>
          <p:cNvSpPr/>
          <p:nvPr/>
        </p:nvSpPr>
        <p:spPr>
          <a:xfrm>
            <a:off x="2236622" y="2651760"/>
            <a:ext cx="320040" cy="822960"/>
          </a:xfrm>
          <a:prstGeom prst="rect">
            <a:avLst/>
          </a:prstGeom>
          <a:noFill/>
          <a:ln/>
        </p:spPr>
        <p:txBody>
          <a:bodyPr wrap="square" rtlCol="0" anchor="ctr"/>
          <a:lstStyle/>
          <a:p>
            <a:pPr algn="ctr" indent="0" marL="0">
              <a:buNone/>
            </a:pPr>
            <a:r>
              <a:rPr lang="en-US" sz="2600" b="1" dirty="0">
                <a:solidFill>
                  <a:srgbClr val="2EA891"/>
                </a:solidFill>
                <a:latin typeface="Arial" pitchFamily="34" charset="0"/>
                <a:ea typeface="Arial" pitchFamily="34" charset="-122"/>
                <a:cs typeface="Arial" pitchFamily="34" charset="-120"/>
              </a:rPr>
              <a:t>→</a:t>
            </a:r>
            <a:endParaRPr lang="en-US" sz="2600" dirty="0"/>
          </a:p>
        </p:txBody>
      </p:sp>
      <p:sp>
        <p:nvSpPr>
          <p:cNvPr id="10" name="Shape 7"/>
          <p:cNvSpPr/>
          <p:nvPr/>
        </p:nvSpPr>
        <p:spPr>
          <a:xfrm>
            <a:off x="2904134" y="1965960"/>
            <a:ext cx="1669694" cy="2286000"/>
          </a:xfrm>
          <a:prstGeom prst="roundRect">
            <a:avLst>
              <a:gd name="adj" fmla="val 2191"/>
            </a:avLst>
          </a:prstGeom>
          <a:solidFill>
            <a:srgbClr val="FFFFFF"/>
          </a:solidFill>
          <a:ln w="12700">
            <a:solidFill>
              <a:srgbClr val="DDE2EA"/>
            </a:solidFill>
            <a:prstDash val="solid"/>
          </a:ln>
          <a:effectLst>
            <a:outerShdw sx="100000" sy="100000" kx="0" ky="0" algn="bl" rotWithShape="0" blurRad="76200" dist="25400" dir="5400000">
              <a:srgbClr val="B9C0CE">
                <a:alpha val="30000"/>
              </a:srgbClr>
            </a:outerShdw>
          </a:effectLst>
        </p:spPr>
        <p:txBody>
          <a:bodyPr/>
          <a:p/>
        </p:txBody>
      </p:sp>
      <p:sp>
        <p:nvSpPr>
          <p:cNvPr id="11" name="Shape 8"/>
          <p:cNvSpPr/>
          <p:nvPr/>
        </p:nvSpPr>
        <p:spPr>
          <a:xfrm>
            <a:off x="3418942" y="2240280"/>
            <a:ext cx="640080" cy="640080"/>
          </a:xfrm>
          <a:prstGeom prst="roundRect">
            <a:avLst>
              <a:gd name="adj" fmla="val 7143"/>
            </a:avLst>
          </a:prstGeom>
          <a:solidFill>
            <a:srgbClr val="232D5A"/>
          </a:solidFill>
          <a:ln/>
        </p:spPr>
        <p:txBody>
          <a:bodyPr/>
          <a:p/>
        </p:txBody>
      </p:sp>
      <p:pic>
        <p:nvPicPr>
          <p:cNvPr id="12" name="Image 1" descr="preencoded.png">    </p:cNvPr>
          <p:cNvPicPr>
            <a:picLocks noChangeAspect="1"/>
          </p:cNvPicPr>
          <p:nvPr/>
        </p:nvPicPr>
        <p:blipFill>
          <a:blip r:embed="rId2"/>
          <a:stretch>
            <a:fillRect/>
          </a:stretch>
        </p:blipFill>
        <p:spPr>
          <a:xfrm>
            <a:off x="3578962" y="2400300"/>
            <a:ext cx="320040" cy="320040"/>
          </a:xfrm>
          <a:prstGeom prst="rect">
            <a:avLst/>
          </a:prstGeom>
        </p:spPr>
      </p:pic>
      <p:sp>
        <p:nvSpPr>
          <p:cNvPr id="13" name="Text 9"/>
          <p:cNvSpPr/>
          <p:nvPr/>
        </p:nvSpPr>
        <p:spPr>
          <a:xfrm>
            <a:off x="3013862" y="3063240"/>
            <a:ext cx="1450238" cy="502920"/>
          </a:xfrm>
          <a:prstGeom prst="rect">
            <a:avLst/>
          </a:prstGeom>
          <a:noFill/>
          <a:ln/>
        </p:spPr>
        <p:txBody>
          <a:bodyPr wrap="square" rtlCol="0" anchor="t"/>
          <a:lstStyle/>
          <a:p>
            <a:pPr algn="ctr" indent="0" marL="0">
              <a:buNone/>
            </a:pPr>
            <a:r>
              <a:rPr lang="en-US" sz="1250" b="1" dirty="0">
                <a:solidFill>
                  <a:srgbClr val="232D5A"/>
                </a:solidFill>
                <a:latin typeface="Arial" pitchFamily="34" charset="0"/>
                <a:ea typeface="Arial" pitchFamily="34" charset="-122"/>
                <a:cs typeface="Arial" pitchFamily="34" charset="-120"/>
              </a:rPr>
              <a:t>Deterministic transform</a:t>
            </a:r>
            <a:endParaRPr lang="en-US" sz="1250" dirty="0"/>
          </a:p>
        </p:txBody>
      </p:sp>
      <p:sp>
        <p:nvSpPr>
          <p:cNvPr id="14" name="Text 10"/>
          <p:cNvSpPr/>
          <p:nvPr/>
        </p:nvSpPr>
        <p:spPr>
          <a:xfrm>
            <a:off x="3013862" y="3566160"/>
            <a:ext cx="1450238" cy="548640"/>
          </a:xfrm>
          <a:prstGeom prst="rect">
            <a:avLst/>
          </a:prstGeom>
          <a:noFill/>
          <a:ln/>
        </p:spPr>
        <p:txBody>
          <a:bodyPr wrap="square" rtlCol="0" anchor="t"/>
          <a:lstStyle/>
          <a:p>
            <a:pPr algn="ctr" indent="0" marL="0">
              <a:buNone/>
            </a:pPr>
            <a:r>
              <a:rPr lang="en-US" sz="1100" dirty="0">
                <a:solidFill>
                  <a:srgbClr val="2E2E2E"/>
                </a:solidFill>
                <a:latin typeface="Arial" pitchFamily="34" charset="0"/>
                <a:ea typeface="Arial" pitchFamily="34" charset="-122"/>
                <a:cs typeface="Arial" pitchFamily="34" charset="-120"/>
              </a:rPr>
              <a:t>reproducible conversion</a:t>
            </a:r>
            <a:endParaRPr lang="en-US" sz="1100" dirty="0"/>
          </a:p>
        </p:txBody>
      </p:sp>
      <p:sp>
        <p:nvSpPr>
          <p:cNvPr id="15" name="Text 11"/>
          <p:cNvSpPr/>
          <p:nvPr/>
        </p:nvSpPr>
        <p:spPr>
          <a:xfrm>
            <a:off x="4592117" y="2651760"/>
            <a:ext cx="320040" cy="822960"/>
          </a:xfrm>
          <a:prstGeom prst="rect">
            <a:avLst/>
          </a:prstGeom>
          <a:noFill/>
          <a:ln/>
        </p:spPr>
        <p:txBody>
          <a:bodyPr wrap="square" rtlCol="0" anchor="ctr"/>
          <a:lstStyle/>
          <a:p>
            <a:pPr algn="ctr" indent="0" marL="0">
              <a:buNone/>
            </a:pPr>
            <a:r>
              <a:rPr lang="en-US" sz="2600" b="1" dirty="0">
                <a:solidFill>
                  <a:srgbClr val="2EA891"/>
                </a:solidFill>
                <a:latin typeface="Arial" pitchFamily="34" charset="0"/>
                <a:ea typeface="Arial" pitchFamily="34" charset="-122"/>
                <a:cs typeface="Arial" pitchFamily="34" charset="-120"/>
              </a:rPr>
              <a:t>→</a:t>
            </a:r>
            <a:endParaRPr lang="en-US" sz="2600" dirty="0"/>
          </a:p>
        </p:txBody>
      </p:sp>
      <p:sp>
        <p:nvSpPr>
          <p:cNvPr id="16" name="Shape 12"/>
          <p:cNvSpPr/>
          <p:nvPr/>
        </p:nvSpPr>
        <p:spPr>
          <a:xfrm>
            <a:off x="5259629" y="1965960"/>
            <a:ext cx="1669694" cy="2286000"/>
          </a:xfrm>
          <a:prstGeom prst="roundRect">
            <a:avLst>
              <a:gd name="adj" fmla="val 2191"/>
            </a:avLst>
          </a:prstGeom>
          <a:solidFill>
            <a:srgbClr val="FFFFFF"/>
          </a:solidFill>
          <a:ln w="12700">
            <a:solidFill>
              <a:srgbClr val="DDE2EA"/>
            </a:solidFill>
            <a:prstDash val="solid"/>
          </a:ln>
          <a:effectLst>
            <a:outerShdw sx="100000" sy="100000" kx="0" ky="0" algn="bl" rotWithShape="0" blurRad="76200" dist="25400" dir="5400000">
              <a:srgbClr val="B9C0CE">
                <a:alpha val="30000"/>
              </a:srgbClr>
            </a:outerShdw>
          </a:effectLst>
        </p:spPr>
        <p:txBody>
          <a:bodyPr/>
          <a:p/>
        </p:txBody>
      </p:sp>
      <p:sp>
        <p:nvSpPr>
          <p:cNvPr id="17" name="Shape 13"/>
          <p:cNvSpPr/>
          <p:nvPr/>
        </p:nvSpPr>
        <p:spPr>
          <a:xfrm>
            <a:off x="5774436" y="2240280"/>
            <a:ext cx="640080" cy="640080"/>
          </a:xfrm>
          <a:prstGeom prst="roundRect">
            <a:avLst>
              <a:gd name="adj" fmla="val 7143"/>
            </a:avLst>
          </a:prstGeom>
          <a:solidFill>
            <a:srgbClr val="232D5A"/>
          </a:solidFill>
          <a:ln/>
        </p:spPr>
        <p:txBody>
          <a:bodyPr/>
          <a:p/>
        </p:txBody>
      </p:sp>
      <p:pic>
        <p:nvPicPr>
          <p:cNvPr id="18" name="Image 2" descr="preencoded.png">    </p:cNvPr>
          <p:cNvPicPr>
            <a:picLocks noChangeAspect="1"/>
          </p:cNvPicPr>
          <p:nvPr/>
        </p:nvPicPr>
        <p:blipFill>
          <a:blip r:embed="rId3"/>
          <a:stretch>
            <a:fillRect/>
          </a:stretch>
        </p:blipFill>
        <p:spPr>
          <a:xfrm>
            <a:off x="5934456" y="2400300"/>
            <a:ext cx="320040" cy="320040"/>
          </a:xfrm>
          <a:prstGeom prst="rect">
            <a:avLst/>
          </a:prstGeom>
        </p:spPr>
      </p:pic>
      <p:sp>
        <p:nvSpPr>
          <p:cNvPr id="19" name="Text 14"/>
          <p:cNvSpPr/>
          <p:nvPr/>
        </p:nvSpPr>
        <p:spPr>
          <a:xfrm>
            <a:off x="5369357" y="3063240"/>
            <a:ext cx="1450238" cy="502920"/>
          </a:xfrm>
          <a:prstGeom prst="rect">
            <a:avLst/>
          </a:prstGeom>
          <a:noFill/>
          <a:ln/>
        </p:spPr>
        <p:txBody>
          <a:bodyPr wrap="square" rtlCol="0" anchor="t"/>
          <a:lstStyle/>
          <a:p>
            <a:pPr algn="ctr" indent="0" marL="0">
              <a:buNone/>
            </a:pPr>
            <a:r>
              <a:rPr lang="en-US" sz="1250" b="1" dirty="0">
                <a:solidFill>
                  <a:srgbClr val="232D5A"/>
                </a:solidFill>
                <a:latin typeface="Arial" pitchFamily="34" charset="0"/>
                <a:ea typeface="Arial" pitchFamily="34" charset="-122"/>
                <a:cs typeface="Arial" pitchFamily="34" charset="-120"/>
              </a:rPr>
              <a:t>Equivalence measured</a:t>
            </a:r>
            <a:endParaRPr lang="en-US" sz="1250" dirty="0"/>
          </a:p>
        </p:txBody>
      </p:sp>
      <p:sp>
        <p:nvSpPr>
          <p:cNvPr id="20" name="Text 15"/>
          <p:cNvSpPr/>
          <p:nvPr/>
        </p:nvSpPr>
        <p:spPr>
          <a:xfrm>
            <a:off x="5369357" y="3566160"/>
            <a:ext cx="1450238" cy="548640"/>
          </a:xfrm>
          <a:prstGeom prst="rect">
            <a:avLst/>
          </a:prstGeom>
          <a:noFill/>
          <a:ln/>
        </p:spPr>
        <p:txBody>
          <a:bodyPr wrap="square" rtlCol="0" anchor="t"/>
          <a:lstStyle/>
          <a:p>
            <a:pPr algn="ctr" indent="0" marL="0">
              <a:buNone/>
            </a:pPr>
            <a:r>
              <a:rPr lang="en-US" sz="1100" dirty="0">
                <a:solidFill>
                  <a:srgbClr val="2E2E2E"/>
                </a:solidFill>
                <a:latin typeface="Arial" pitchFamily="34" charset="0"/>
                <a:ea typeface="Arial" pitchFamily="34" charset="-122"/>
                <a:cs typeface="Arial" pitchFamily="34" charset="-120"/>
              </a:rPr>
              <a:t>vs. the committed benchmark</a:t>
            </a:r>
            <a:endParaRPr lang="en-US" sz="1100" dirty="0"/>
          </a:p>
        </p:txBody>
      </p:sp>
      <p:sp>
        <p:nvSpPr>
          <p:cNvPr id="21" name="Text 16"/>
          <p:cNvSpPr/>
          <p:nvPr/>
        </p:nvSpPr>
        <p:spPr>
          <a:xfrm>
            <a:off x="6947611" y="2651760"/>
            <a:ext cx="320040" cy="822960"/>
          </a:xfrm>
          <a:prstGeom prst="rect">
            <a:avLst/>
          </a:prstGeom>
          <a:noFill/>
          <a:ln/>
        </p:spPr>
        <p:txBody>
          <a:bodyPr wrap="square" rtlCol="0" anchor="ctr"/>
          <a:lstStyle/>
          <a:p>
            <a:pPr algn="ctr" indent="0" marL="0">
              <a:buNone/>
            </a:pPr>
            <a:r>
              <a:rPr lang="en-US" sz="2600" b="1" dirty="0">
                <a:solidFill>
                  <a:srgbClr val="2EA891"/>
                </a:solidFill>
                <a:latin typeface="Arial" pitchFamily="34" charset="0"/>
                <a:ea typeface="Arial" pitchFamily="34" charset="-122"/>
                <a:cs typeface="Arial" pitchFamily="34" charset="-120"/>
              </a:rPr>
              <a:t>→</a:t>
            </a:r>
            <a:endParaRPr lang="en-US" sz="2600" dirty="0"/>
          </a:p>
        </p:txBody>
      </p:sp>
      <p:sp>
        <p:nvSpPr>
          <p:cNvPr id="22" name="Shape 17"/>
          <p:cNvSpPr/>
          <p:nvPr/>
        </p:nvSpPr>
        <p:spPr>
          <a:xfrm>
            <a:off x="7615123" y="1965960"/>
            <a:ext cx="1669694" cy="2286000"/>
          </a:xfrm>
          <a:prstGeom prst="roundRect">
            <a:avLst>
              <a:gd name="adj" fmla="val 2191"/>
            </a:avLst>
          </a:prstGeom>
          <a:solidFill>
            <a:srgbClr val="FFFFFF"/>
          </a:solidFill>
          <a:ln w="12700">
            <a:solidFill>
              <a:srgbClr val="DDE2EA"/>
            </a:solidFill>
            <a:prstDash val="solid"/>
          </a:ln>
          <a:effectLst>
            <a:outerShdw sx="100000" sy="100000" kx="0" ky="0" algn="bl" rotWithShape="0" blurRad="76200" dist="25400" dir="5400000">
              <a:srgbClr val="B9C0CE">
                <a:alpha val="30000"/>
              </a:srgbClr>
            </a:outerShdw>
          </a:effectLst>
        </p:spPr>
        <p:txBody>
          <a:bodyPr/>
          <a:p/>
        </p:txBody>
      </p:sp>
      <p:sp>
        <p:nvSpPr>
          <p:cNvPr id="23" name="Shape 18"/>
          <p:cNvSpPr/>
          <p:nvPr/>
        </p:nvSpPr>
        <p:spPr>
          <a:xfrm>
            <a:off x="8129930" y="2240280"/>
            <a:ext cx="640080" cy="640080"/>
          </a:xfrm>
          <a:prstGeom prst="roundRect">
            <a:avLst>
              <a:gd name="adj" fmla="val 7143"/>
            </a:avLst>
          </a:prstGeom>
          <a:solidFill>
            <a:srgbClr val="232D5A"/>
          </a:solidFill>
          <a:ln/>
        </p:spPr>
        <p:txBody>
          <a:bodyPr/>
          <a:p/>
        </p:txBody>
      </p:sp>
      <p:pic>
        <p:nvPicPr>
          <p:cNvPr id="24" name="Image 3" descr="preencoded.png">    </p:cNvPr>
          <p:cNvPicPr>
            <a:picLocks noChangeAspect="1"/>
          </p:cNvPicPr>
          <p:nvPr/>
        </p:nvPicPr>
        <p:blipFill>
          <a:blip r:embed="rId4"/>
          <a:stretch>
            <a:fillRect/>
          </a:stretch>
        </p:blipFill>
        <p:spPr>
          <a:xfrm>
            <a:off x="8289950" y="2400300"/>
            <a:ext cx="320040" cy="320040"/>
          </a:xfrm>
          <a:prstGeom prst="rect">
            <a:avLst/>
          </a:prstGeom>
        </p:spPr>
      </p:pic>
      <p:sp>
        <p:nvSpPr>
          <p:cNvPr id="25" name="Text 19"/>
          <p:cNvSpPr/>
          <p:nvPr/>
        </p:nvSpPr>
        <p:spPr>
          <a:xfrm>
            <a:off x="7724851" y="3063240"/>
            <a:ext cx="1450238" cy="502920"/>
          </a:xfrm>
          <a:prstGeom prst="rect">
            <a:avLst/>
          </a:prstGeom>
          <a:noFill/>
          <a:ln/>
        </p:spPr>
        <p:txBody>
          <a:bodyPr wrap="square" rtlCol="0" anchor="t"/>
          <a:lstStyle/>
          <a:p>
            <a:pPr algn="ctr" indent="0" marL="0">
              <a:buNone/>
            </a:pPr>
            <a:r>
              <a:rPr lang="en-US" sz="1250" b="1" dirty="0">
                <a:solidFill>
                  <a:srgbClr val="232D5A"/>
                </a:solidFill>
                <a:latin typeface="Arial" pitchFamily="34" charset="0"/>
                <a:ea typeface="Arial" pitchFamily="34" charset="-122"/>
                <a:cs typeface="Arial" pitchFamily="34" charset="-120"/>
              </a:rPr>
              <a:t>Signed attestation</a:t>
            </a:r>
            <a:endParaRPr lang="en-US" sz="1250" dirty="0"/>
          </a:p>
        </p:txBody>
      </p:sp>
      <p:sp>
        <p:nvSpPr>
          <p:cNvPr id="26" name="Text 20"/>
          <p:cNvSpPr/>
          <p:nvPr/>
        </p:nvSpPr>
        <p:spPr>
          <a:xfrm>
            <a:off x="7724851" y="3566160"/>
            <a:ext cx="1450238" cy="548640"/>
          </a:xfrm>
          <a:prstGeom prst="rect">
            <a:avLst/>
          </a:prstGeom>
          <a:noFill/>
          <a:ln/>
        </p:spPr>
        <p:txBody>
          <a:bodyPr wrap="square" rtlCol="0" anchor="t"/>
          <a:lstStyle/>
          <a:p>
            <a:pPr algn="ctr" indent="0" marL="0">
              <a:buNone/>
            </a:pPr>
            <a:r>
              <a:rPr lang="en-US" sz="1100" dirty="0">
                <a:solidFill>
                  <a:srgbClr val="2E2E2E"/>
                </a:solidFill>
                <a:latin typeface="Arial" pitchFamily="34" charset="0"/>
                <a:ea typeface="Arial" pitchFamily="34" charset="-122"/>
                <a:cs typeface="Arial" pitchFamily="34" charset="-120"/>
              </a:rPr>
              <a:t>hash-chained, Ed25519</a:t>
            </a:r>
            <a:endParaRPr lang="en-US" sz="1100" dirty="0"/>
          </a:p>
        </p:txBody>
      </p:sp>
      <p:sp>
        <p:nvSpPr>
          <p:cNvPr id="27" name="Text 21"/>
          <p:cNvSpPr/>
          <p:nvPr/>
        </p:nvSpPr>
        <p:spPr>
          <a:xfrm>
            <a:off x="9303106" y="2651760"/>
            <a:ext cx="320040" cy="822960"/>
          </a:xfrm>
          <a:prstGeom prst="rect">
            <a:avLst/>
          </a:prstGeom>
          <a:noFill/>
          <a:ln/>
        </p:spPr>
        <p:txBody>
          <a:bodyPr wrap="square" rtlCol="0" anchor="ctr"/>
          <a:lstStyle/>
          <a:p>
            <a:pPr algn="ctr" indent="0" marL="0">
              <a:buNone/>
            </a:pPr>
            <a:r>
              <a:rPr lang="en-US" sz="2600" b="1" dirty="0">
                <a:solidFill>
                  <a:srgbClr val="2EA891"/>
                </a:solidFill>
                <a:latin typeface="Arial" pitchFamily="34" charset="0"/>
                <a:ea typeface="Arial" pitchFamily="34" charset="-122"/>
                <a:cs typeface="Arial" pitchFamily="34" charset="-120"/>
              </a:rPr>
              <a:t>→</a:t>
            </a:r>
            <a:endParaRPr lang="en-US" sz="2600" dirty="0"/>
          </a:p>
        </p:txBody>
      </p:sp>
      <p:sp>
        <p:nvSpPr>
          <p:cNvPr id="28" name="Shape 22"/>
          <p:cNvSpPr/>
          <p:nvPr/>
        </p:nvSpPr>
        <p:spPr>
          <a:xfrm>
            <a:off x="9970618" y="1965960"/>
            <a:ext cx="1669694" cy="2286000"/>
          </a:xfrm>
          <a:prstGeom prst="roundRect">
            <a:avLst>
              <a:gd name="adj" fmla="val 2191"/>
            </a:avLst>
          </a:prstGeom>
          <a:solidFill>
            <a:srgbClr val="E7F5F1"/>
          </a:solidFill>
          <a:ln w="15875">
            <a:solidFill>
              <a:srgbClr val="2EA891"/>
            </a:solidFill>
            <a:prstDash val="solid"/>
          </a:ln>
          <a:effectLst>
            <a:outerShdw sx="100000" sy="100000" kx="0" ky="0" algn="bl" rotWithShape="0" blurRad="76200" dist="25400" dir="5400000">
              <a:srgbClr val="B9C0CE">
                <a:alpha val="30000"/>
              </a:srgbClr>
            </a:outerShdw>
          </a:effectLst>
        </p:spPr>
        <p:txBody>
          <a:bodyPr/>
          <a:p/>
        </p:txBody>
      </p:sp>
      <p:sp>
        <p:nvSpPr>
          <p:cNvPr id="29" name="Shape 23"/>
          <p:cNvSpPr/>
          <p:nvPr/>
        </p:nvSpPr>
        <p:spPr>
          <a:xfrm>
            <a:off x="10485425" y="2240280"/>
            <a:ext cx="640080" cy="640080"/>
          </a:xfrm>
          <a:prstGeom prst="roundRect">
            <a:avLst>
              <a:gd name="adj" fmla="val 7143"/>
            </a:avLst>
          </a:prstGeom>
          <a:solidFill>
            <a:srgbClr val="2EA891"/>
          </a:solidFill>
          <a:ln/>
        </p:spPr>
        <p:txBody>
          <a:bodyPr/>
          <a:p/>
        </p:txBody>
      </p:sp>
      <p:pic>
        <p:nvPicPr>
          <p:cNvPr id="30" name="Image 4" descr="preencoded.png">    </p:cNvPr>
          <p:cNvPicPr>
            <a:picLocks noChangeAspect="1"/>
          </p:cNvPicPr>
          <p:nvPr/>
        </p:nvPicPr>
        <p:blipFill>
          <a:blip r:embed="rId5"/>
          <a:stretch>
            <a:fillRect/>
          </a:stretch>
        </p:blipFill>
        <p:spPr>
          <a:xfrm>
            <a:off x="10645445" y="2400300"/>
            <a:ext cx="320040" cy="320040"/>
          </a:xfrm>
          <a:prstGeom prst="rect">
            <a:avLst/>
          </a:prstGeom>
        </p:spPr>
      </p:pic>
      <p:sp>
        <p:nvSpPr>
          <p:cNvPr id="31" name="Text 24"/>
          <p:cNvSpPr/>
          <p:nvPr/>
        </p:nvSpPr>
        <p:spPr>
          <a:xfrm>
            <a:off x="10080346" y="3063240"/>
            <a:ext cx="1450238" cy="502920"/>
          </a:xfrm>
          <a:prstGeom prst="rect">
            <a:avLst/>
          </a:prstGeom>
          <a:noFill/>
          <a:ln/>
        </p:spPr>
        <p:txBody>
          <a:bodyPr wrap="square" rtlCol="0" anchor="t"/>
          <a:lstStyle/>
          <a:p>
            <a:pPr algn="ctr" indent="0" marL="0">
              <a:buNone/>
            </a:pPr>
            <a:r>
              <a:rPr lang="en-US" sz="1250" b="1" dirty="0">
                <a:solidFill>
                  <a:srgbClr val="232D5A"/>
                </a:solidFill>
                <a:latin typeface="Arial" pitchFamily="34" charset="0"/>
                <a:ea typeface="Arial" pitchFamily="34" charset="-122"/>
                <a:cs typeface="Arial" pitchFamily="34" charset="-120"/>
              </a:rPr>
              <a:t>Portable proof</a:t>
            </a:r>
            <a:endParaRPr lang="en-US" sz="1250" dirty="0"/>
          </a:p>
        </p:txBody>
      </p:sp>
      <p:sp>
        <p:nvSpPr>
          <p:cNvPr id="32" name="Text 25"/>
          <p:cNvSpPr/>
          <p:nvPr/>
        </p:nvSpPr>
        <p:spPr>
          <a:xfrm>
            <a:off x="10080346" y="3566160"/>
            <a:ext cx="1450238" cy="548640"/>
          </a:xfrm>
          <a:prstGeom prst="rect">
            <a:avLst/>
          </a:prstGeom>
          <a:noFill/>
          <a:ln/>
        </p:spPr>
        <p:txBody>
          <a:bodyPr wrap="square" rtlCol="0" anchor="t"/>
          <a:lstStyle/>
          <a:p>
            <a:pPr algn="ctr" indent="0" marL="0">
              <a:buNone/>
            </a:pPr>
            <a:r>
              <a:rPr lang="en-US" sz="1100" dirty="0">
                <a:solidFill>
                  <a:srgbClr val="2E2E2E"/>
                </a:solidFill>
                <a:latin typeface="Arial" pitchFamily="34" charset="0"/>
                <a:ea typeface="Arial" pitchFamily="34" charset="-122"/>
                <a:cs typeface="Arial" pitchFamily="34" charset="-120"/>
              </a:rPr>
              <a:t>you verify it independently</a:t>
            </a:r>
            <a:endParaRPr lang="en-US" sz="1100" dirty="0"/>
          </a:p>
        </p:txBody>
      </p:sp>
      <p:sp>
        <p:nvSpPr>
          <p:cNvPr id="33" name="Shape 26"/>
          <p:cNvSpPr/>
          <p:nvPr/>
        </p:nvSpPr>
        <p:spPr>
          <a:xfrm>
            <a:off x="548640" y="4617720"/>
            <a:ext cx="11091672" cy="1005840"/>
          </a:xfrm>
          <a:prstGeom prst="roundRect">
            <a:avLst>
              <a:gd name="adj" fmla="val 3636"/>
            </a:avLst>
          </a:prstGeom>
          <a:solidFill>
            <a:srgbClr val="232D5A"/>
          </a:solidFill>
          <a:ln/>
        </p:spPr>
        <p:txBody>
          <a:bodyPr/>
          <a:p/>
        </p:txBody>
      </p:sp>
      <p:sp>
        <p:nvSpPr>
          <p:cNvPr id="34" name="Text 27"/>
          <p:cNvSpPr/>
          <p:nvPr/>
        </p:nvSpPr>
        <p:spPr>
          <a:xfrm>
            <a:off x="868680" y="4617720"/>
            <a:ext cx="10451592" cy="1005840"/>
          </a:xfrm>
          <a:prstGeom prst="rect">
            <a:avLst/>
          </a:prstGeom>
          <a:noFill/>
          <a:ln/>
        </p:spPr>
        <p:txBody>
          <a:bodyPr wrap="square" rtlCol="0" anchor="ctr"/>
          <a:lstStyle/>
          <a:p>
            <a:pPr indent="0" marL="0">
              <a:buNone/>
            </a:pPr>
            <a:r>
              <a:rPr lang="en-US" sz="1350" b="1" dirty="0">
                <a:solidFill>
                  <a:srgbClr val="FFFFFF"/>
                </a:solidFill>
                <a:latin typeface="Arial" pitchFamily="34" charset="0"/>
                <a:ea typeface="Arial" pitchFamily="34" charset="-122"/>
                <a:cs typeface="Arial" pitchFamily="34" charset="-120"/>
              </a:rPr>
              <a:t>What crosses the line is a portable artifact, not your code:  </a:t>
            </a:r>
            <a:pPr indent="0" marL="0">
              <a:buNone/>
            </a:pPr>
            <a:r>
              <a:rPr lang="en-US" sz="1350" dirty="0">
                <a:solidFill>
                  <a:srgbClr val="F5F5F0"/>
                </a:solidFill>
                <a:latin typeface="Arial" pitchFamily="34" charset="0"/>
                <a:ea typeface="Arial" pitchFamily="34" charset="-122"/>
                <a:cs typeface="Arial" pitchFamily="34" charset="-120"/>
              </a:rPr>
              <a:t>the equivalence proof, the measured metrics, and the inventory of exactly what was — and was not — transformed. It stays verifiable even if we’re not in the room.</a:t>
            </a:r>
            <a:endParaRPr lang="en-US" sz="1350" dirty="0"/>
          </a:p>
        </p:txBody>
      </p:sp>
      <p:sp>
        <p:nvSpPr>
          <p:cNvPr id="35" name="Shape 28"/>
          <p:cNvSpPr/>
          <p:nvPr/>
        </p:nvSpPr>
        <p:spPr>
          <a:xfrm>
            <a:off x="548640" y="6364224"/>
            <a:ext cx="11091672" cy="25603"/>
          </a:xfrm>
          <a:prstGeom prst="rect">
            <a:avLst/>
          </a:prstGeom>
          <a:solidFill>
            <a:srgbClr val="F7B801"/>
          </a:solidFill>
          <a:ln/>
        </p:spPr>
        <p:txBody>
          <a:bodyPr/>
          <a:p/>
        </p:txBody>
      </p:sp>
      <p:sp>
        <p:nvSpPr>
          <p:cNvPr id="42" name="Text 35"/>
          <p:cNvSpPr/>
          <p:nvPr/>
        </p:nvSpPr>
        <p:spPr>
          <a:xfrm>
            <a:off x="7982712" y="6455664"/>
            <a:ext cx="3108960" cy="292608"/>
          </a:xfrm>
          <a:prstGeom prst="rect">
            <a:avLst/>
          </a:prstGeom>
          <a:noFill/>
          <a:ln/>
        </p:spPr>
        <p:txBody>
          <a:bodyPr wrap="square" rtlCol="0" anchor="ctr"/>
          <a:lstStyle/>
          <a:p>
            <a:pPr algn="r" indent="0" marL="0">
              <a:buNone/>
            </a:pPr>
            <a:r>
              <a:rPr lang="en-US" sz="900" dirty="0">
                <a:solidFill>
                  <a:srgbClr val="8892A4"/>
                </a:solidFill>
                <a:latin typeface="Arial" pitchFamily="34" charset="0"/>
                <a:ea typeface="Arial" pitchFamily="34" charset="-122"/>
                <a:cs typeface="Arial" pitchFamily="34" charset="-120"/>
              </a:rPr>
              <a:t>Relian™  ·  Visionblox LLC</a:t>
            </a:r>
            <a:endParaRPr lang="en-US" sz="900" dirty="0"/>
          </a:p>
        </p:txBody>
      </p:sp>
      <p:sp>
        <p:nvSpPr>
          <p:cNvPr id="43" name="Text 36"/>
          <p:cNvSpPr/>
          <p:nvPr/>
        </p:nvSpPr>
        <p:spPr>
          <a:xfrm>
            <a:off x="11183112" y="6455664"/>
            <a:ext cx="457200" cy="292608"/>
          </a:xfrm>
          <a:prstGeom prst="rect">
            <a:avLst/>
          </a:prstGeom>
          <a:noFill/>
          <a:ln/>
        </p:spPr>
        <p:txBody>
          <a:bodyPr wrap="square" rtlCol="0" anchor="ctr"/>
          <a:lstStyle/>
          <a:p>
            <a:pPr algn="r" indent="0" marL="0">
              <a:buNone/>
            </a:pPr>
            <a:r>
              <a:rPr lang="en-US" sz="900" dirty="0">
                <a:solidFill>
                  <a:srgbClr val="8892A4"/>
                </a:solidFill>
                <a:latin typeface="Arial" pitchFamily="34" charset="0"/>
                <a:ea typeface="Arial" pitchFamily="34" charset="-122"/>
                <a:cs typeface="Arial" pitchFamily="34" charset="-120"/>
              </a:rPr>
              <a:t>4</a:t>
            </a:r>
            <a:endParaRPr lang="en-US" sz="900" dirty="0"/>
          </a:p>
        </p:txBody>
      </p:sp>
      <p:pic>
        <p:nvPicPr>
          <p:cNvPr id="44" name="Picture 43" descr="visionblox-logo.png"/>
          <p:cNvPicPr>
            <a:picLocks noChangeAspect="1"/>
          </p:cNvPicPr>
          <p:nvPr/>
        </p:nvPicPr>
        <p:blipFill>
          <a:blip r:embed="rId8"/>
          <a:stretch>
            <a:fillRect/>
          </a:stretch>
        </p:blipFill>
        <p:spPr>
          <a:xfrm>
            <a:off x="548640" y="6391656"/>
            <a:ext cx="914400" cy="38510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EA891"/>
                </a:solidFill>
                <a:latin typeface="Arial" pitchFamily="34" charset="0"/>
                <a:ea typeface="Arial" pitchFamily="34" charset="-122"/>
                <a:cs typeface="Arial" pitchFamily="34" charset="-120"/>
              </a:rPr>
              <a:t>WHY A SUBSTRATE, NOT A SAAS</a:t>
            </a:r>
            <a:endParaRPr lang="en-US" sz="1200" dirty="0"/>
          </a:p>
        </p:txBody>
      </p:sp>
      <p:sp>
        <p:nvSpPr>
          <p:cNvPr id="3" name="Text 1"/>
          <p:cNvSpPr/>
          <p:nvPr/>
        </p:nvSpPr>
        <p:spPr>
          <a:xfrm>
            <a:off x="548640" y="749808"/>
            <a:ext cx="11091672" cy="731520"/>
          </a:xfrm>
          <a:prstGeom prst="rect">
            <a:avLst/>
          </a:prstGeom>
          <a:noFill/>
          <a:ln/>
        </p:spPr>
        <p:txBody>
          <a:bodyPr wrap="square" rtlCol="0" anchor="ctr"/>
          <a:lstStyle/>
          <a:p>
            <a:pPr indent="0" marL="0">
              <a:buNone/>
            </a:pPr>
            <a:r>
              <a:rPr lang="en-US" sz="2700" b="1" dirty="0">
                <a:solidFill>
                  <a:srgbClr val="232D5A"/>
                </a:solidFill>
                <a:latin typeface="Arial" pitchFamily="34" charset="0"/>
                <a:ea typeface="Arial" pitchFamily="34" charset="-122"/>
                <a:cs typeface="Arial" pitchFamily="34" charset="-120"/>
              </a:rPr>
              <a:t>You rent a SaaS. You own a substrate’s proof.</a:t>
            </a:r>
            <a:endParaRPr lang="en-US" sz="2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468880"/>
                <a:gridCol w="4297680"/>
                <a:gridCol w="4325112"/>
              </a:tblGrid>
              <a:tr h="457200">
                <a:tc>
                  <a:txBody>
                    <a:bodyPr/>
                    <a:lstStyle/>
                    <a:p>
                      <a:pPr algn="l" indent="0" marL="0">
                        <a:buNone/>
                      </a:pPr>
                      <a:endParaRPr lang="en-US" sz="13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232D5A"/>
                    </a:solidFill>
                  </a:tcPr>
                </a:tc>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Typical SaaS migration tool</a:t>
                      </a:r>
                      <a:endParaRPr lang="en-US" sz="13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232D5A"/>
                    </a:solidFill>
                  </a:tcPr>
                </a:tc>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Relian — verifiable substrate</a:t>
                      </a:r>
                      <a:endParaRPr lang="en-US" sz="13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232D5A"/>
                    </a:solidFill>
                  </a:tcPr>
                </a:tc>
              </a:tr>
              <a:tr h="566928">
                <a:tc>
                  <a:txBody>
                    <a:bodyPr/>
                    <a:lstStyle/>
                    <a:p>
                      <a:pPr algn="l" indent="0" marL="0">
                        <a:buNone/>
                      </a:pPr>
                      <a:r>
                        <a:rPr lang="en-US" sz="1200" b="1" dirty="0">
                          <a:solidFill>
                            <a:srgbClr val="2A3560"/>
                          </a:solidFill>
                          <a:latin typeface="Arial" pitchFamily="34" charset="0"/>
                          <a:ea typeface="Arial" pitchFamily="34" charset="-122"/>
                          <a:cs typeface="Arial" pitchFamily="34" charset="-120"/>
                        </a:rPr>
                        <a:t>Trust model</a:t>
                      </a:r>
                      <a:endParaRPr lang="en-US" sz="12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8892A4"/>
                          </a:solidFill>
                          <a:latin typeface="Arial" pitchFamily="34" charset="0"/>
                          <a:ea typeface="Arial" pitchFamily="34" charset="-122"/>
                          <a:cs typeface="Arial" pitchFamily="34" charset="-120"/>
                        </a:rPr>
                        <a:t>Trust the vendor’s black box</a:t>
                      </a:r>
                      <a:endParaRPr lang="en-US" sz="12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232D5A"/>
                          </a:solidFill>
                          <a:latin typeface="Arial" pitchFamily="34" charset="0"/>
                          <a:ea typeface="Arial" pitchFamily="34" charset="-122"/>
                          <a:cs typeface="Arial" pitchFamily="34" charset="-120"/>
                        </a:rPr>
                        <a:t>Verify the proof yourself</a:t>
                      </a:r>
                      <a:endParaRPr lang="en-US" sz="12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E7F5F1"/>
                    </a:solidFill>
                  </a:tcPr>
                </a:tc>
              </a:tr>
              <a:tr h="658368">
                <a:tc>
                  <a:txBody>
                    <a:bodyPr/>
                    <a:lstStyle/>
                    <a:p>
                      <a:pPr algn="l" indent="0" marL="0">
                        <a:buNone/>
                      </a:pPr>
                      <a:r>
                        <a:rPr lang="en-US" sz="1200" b="1" dirty="0">
                          <a:solidFill>
                            <a:srgbClr val="2A3560"/>
                          </a:solidFill>
                          <a:latin typeface="Arial" pitchFamily="34" charset="0"/>
                          <a:ea typeface="Arial" pitchFamily="34" charset="-122"/>
                          <a:cs typeface="Arial" pitchFamily="34" charset="-120"/>
                        </a:rPr>
                        <a:t>Transformation</a:t>
                      </a:r>
                      <a:endParaRPr lang="en-US" sz="12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8892A4"/>
                          </a:solidFill>
                          <a:latin typeface="Arial" pitchFamily="34" charset="0"/>
                          <a:ea typeface="Arial" pitchFamily="34" charset="-122"/>
                          <a:cs typeface="Arial" pitchFamily="34" charset="-120"/>
                        </a:rPr>
                        <a:t>Non-deterministic AI; hard to reproduce</a:t>
                      </a:r>
                      <a:endParaRPr lang="en-US" sz="12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232D5A"/>
                          </a:solidFill>
                          <a:latin typeface="Arial" pitchFamily="34" charset="0"/>
                          <a:ea typeface="Arial" pitchFamily="34" charset="-122"/>
                          <a:cs typeface="Arial" pitchFamily="34" charset="-120"/>
                        </a:rPr>
                        <a:t>Deterministic &amp; reproducible — no black-box AI in the path</a:t>
                      </a:r>
                      <a:endParaRPr lang="en-US" sz="12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E7F5F1"/>
                    </a:solidFill>
                  </a:tcPr>
                </a:tc>
              </a:tr>
              <a:tr h="566928">
                <a:tc>
                  <a:txBody>
                    <a:bodyPr/>
                    <a:lstStyle/>
                    <a:p>
                      <a:pPr algn="l" indent="0" marL="0">
                        <a:buNone/>
                      </a:pPr>
                      <a:r>
                        <a:rPr lang="en-US" sz="1200" b="1" dirty="0">
                          <a:solidFill>
                            <a:srgbClr val="2A3560"/>
                          </a:solidFill>
                          <a:latin typeface="Arial" pitchFamily="34" charset="0"/>
                          <a:ea typeface="Arial" pitchFamily="34" charset="-122"/>
                          <a:cs typeface="Arial" pitchFamily="34" charset="-120"/>
                        </a:rPr>
                        <a:t>Your source code</a:t>
                      </a:r>
                      <a:endParaRPr lang="en-US" sz="12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8892A4"/>
                          </a:solidFill>
                          <a:latin typeface="Arial" pitchFamily="34" charset="0"/>
                          <a:ea typeface="Arial" pitchFamily="34" charset="-122"/>
                          <a:cs typeface="Arial" pitchFamily="34" charset="-120"/>
                        </a:rPr>
                        <a:t>Uploaded to the vendor’s cloud</a:t>
                      </a:r>
                      <a:endParaRPr lang="en-US" sz="12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232D5A"/>
                          </a:solidFill>
                          <a:latin typeface="Arial" pitchFamily="34" charset="0"/>
                          <a:ea typeface="Arial" pitchFamily="34" charset="-122"/>
                          <a:cs typeface="Arial" pitchFamily="34" charset="-120"/>
                        </a:rPr>
                        <a:t>Never leaves your perimeter</a:t>
                      </a:r>
                      <a:endParaRPr lang="en-US" sz="12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E7F5F1"/>
                    </a:solidFill>
                  </a:tcPr>
                </a:tc>
              </a:tr>
              <a:tr h="566928">
                <a:tc>
                  <a:txBody>
                    <a:bodyPr/>
                    <a:lstStyle/>
                    <a:p>
                      <a:pPr algn="l" indent="0" marL="0">
                        <a:buNone/>
                      </a:pPr>
                      <a:r>
                        <a:rPr lang="en-US" sz="1200" b="1" dirty="0">
                          <a:solidFill>
                            <a:srgbClr val="2A3560"/>
                          </a:solidFill>
                          <a:latin typeface="Arial" pitchFamily="34" charset="0"/>
                          <a:ea typeface="Arial" pitchFamily="34" charset="-122"/>
                          <a:cs typeface="Arial" pitchFamily="34" charset="-120"/>
                        </a:rPr>
                        <a:t>If the vendor exits</a:t>
                      </a:r>
                      <a:endParaRPr lang="en-US" sz="12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8892A4"/>
                          </a:solidFill>
                          <a:latin typeface="Arial" pitchFamily="34" charset="0"/>
                          <a:ea typeface="Arial" pitchFamily="34" charset="-122"/>
                          <a:cs typeface="Arial" pitchFamily="34" charset="-120"/>
                        </a:rPr>
                        <a:t>Access &amp; assurance evaporate</a:t>
                      </a:r>
                      <a:endParaRPr lang="en-US" sz="12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232D5A"/>
                          </a:solidFill>
                          <a:latin typeface="Arial" pitchFamily="34" charset="0"/>
                          <a:ea typeface="Arial" pitchFamily="34" charset="-122"/>
                          <a:cs typeface="Arial" pitchFamily="34" charset="-120"/>
                        </a:rPr>
                        <a:t>The signed proof persists &amp; stays verifiable</a:t>
                      </a:r>
                      <a:endParaRPr lang="en-US" sz="12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E7F5F1"/>
                    </a:solidFill>
                  </a:tcPr>
                </a:tc>
              </a:tr>
              <a:tr h="566928">
                <a:tc>
                  <a:txBody>
                    <a:bodyPr/>
                    <a:lstStyle/>
                    <a:p>
                      <a:pPr algn="l" indent="0" marL="0">
                        <a:buNone/>
                      </a:pPr>
                      <a:r>
                        <a:rPr lang="en-US" sz="1200" b="1" dirty="0">
                          <a:solidFill>
                            <a:srgbClr val="2A3560"/>
                          </a:solidFill>
                          <a:latin typeface="Arial" pitchFamily="34" charset="0"/>
                          <a:ea typeface="Arial" pitchFamily="34" charset="-122"/>
                          <a:cs typeface="Arial" pitchFamily="34" charset="-120"/>
                        </a:rPr>
                        <a:t>Auditability</a:t>
                      </a:r>
                      <a:endParaRPr lang="en-US" sz="12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8892A4"/>
                          </a:solidFill>
                          <a:latin typeface="Arial" pitchFamily="34" charset="0"/>
                          <a:ea typeface="Arial" pitchFamily="34" charset="-122"/>
                          <a:cs typeface="Arial" pitchFamily="34" charset="-120"/>
                        </a:rPr>
                        <a:t>An output plus an SLA</a:t>
                      </a:r>
                      <a:endParaRPr lang="en-US" sz="12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232D5A"/>
                          </a:solidFill>
                          <a:latin typeface="Arial" pitchFamily="34" charset="0"/>
                          <a:ea typeface="Arial" pitchFamily="34" charset="-122"/>
                          <a:cs typeface="Arial" pitchFamily="34" charset="-120"/>
                        </a:rPr>
                        <a:t>Non-repudiable evidence for auditors, IG &amp; boards</a:t>
                      </a:r>
                      <a:endParaRPr lang="en-US" sz="12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E7F5F1"/>
                    </a:solidFill>
                  </a:tcPr>
                </a:tc>
              </a:tr>
              <a:tr h="566928">
                <a:tc>
                  <a:txBody>
                    <a:bodyPr/>
                    <a:lstStyle/>
                    <a:p>
                      <a:pPr algn="l" indent="0" marL="0">
                        <a:buNone/>
                      </a:pPr>
                      <a:r>
                        <a:rPr lang="en-US" sz="1200" b="1" dirty="0">
                          <a:solidFill>
                            <a:srgbClr val="2A3560"/>
                          </a:solidFill>
                          <a:latin typeface="Arial" pitchFamily="34" charset="0"/>
                          <a:ea typeface="Arial" pitchFamily="34" charset="-122"/>
                          <a:cs typeface="Arial" pitchFamily="34" charset="-120"/>
                        </a:rPr>
                        <a:t>Who it can vouch for</a:t>
                      </a:r>
                      <a:endParaRPr lang="en-US" sz="12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8892A4"/>
                          </a:solidFill>
                          <a:latin typeface="Arial" pitchFamily="34" charset="0"/>
                          <a:ea typeface="Arial" pitchFamily="34" charset="-122"/>
                          <a:cs typeface="Arial" pitchFamily="34" charset="-120"/>
                        </a:rPr>
                        <a:t>Only its own output</a:t>
                      </a:r>
                      <a:endParaRPr lang="en-US" sz="12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232D5A"/>
                          </a:solidFill>
                          <a:latin typeface="Arial" pitchFamily="34" charset="0"/>
                          <a:ea typeface="Arial" pitchFamily="34" charset="-122"/>
                          <a:cs typeface="Arial" pitchFamily="34" charset="-120"/>
                        </a:rPr>
                        <a:t>Any vendor’s migration — the independent referee</a:t>
                      </a:r>
                      <a:endParaRPr lang="en-US" sz="1200" dirty="0">
                        <a:latin typeface="Arial" charset="0"/>
                        <a:ea typeface="Arial" charset="0"/>
                        <a:cs typeface="Arial" charset="0"/>
                      </a:endParaRPr>
                    </a:p>
                  </a:txBody>
                  <a:tcPr marL="76200" marR="76200" marT="76200" marB="76200" anchor="ctr">
                    <a:lnL w="12700" cap="flat" cmpd="sng" algn="ctr">
                      <a:solidFill>
                        <a:srgbClr val="DFE3EA"/>
                      </a:solidFill>
                      <a:prstDash val="solid"/>
                      <a:round/>
                      <a:headEnd type="none" w="med" len="med"/>
                      <a:tailEnd type="none" w="med" len="med"/>
                    </a:lnL>
                    <a:lnR w="12700" cap="flat" cmpd="sng" algn="ctr">
                      <a:solidFill>
                        <a:srgbClr val="DFE3EA"/>
                      </a:solidFill>
                      <a:prstDash val="solid"/>
                      <a:round/>
                      <a:headEnd type="none" w="med" len="med"/>
                      <a:tailEnd type="none" w="med" len="med"/>
                    </a:lnR>
                    <a:lnT w="12700" cap="flat" cmpd="sng" algn="ctr">
                      <a:solidFill>
                        <a:srgbClr val="DFE3EA"/>
                      </a:solidFill>
                      <a:prstDash val="solid"/>
                      <a:round/>
                      <a:headEnd type="none" w="med" len="med"/>
                      <a:tailEnd type="none" w="med" len="med"/>
                    </a:lnT>
                    <a:lnB w="12700" cap="flat" cmpd="sng" algn="ctr">
                      <a:solidFill>
                        <a:srgbClr val="DFE3EA"/>
                      </a:solidFill>
                      <a:prstDash val="solid"/>
                      <a:round/>
                      <a:headEnd type="none" w="med" len="med"/>
                      <a:tailEnd type="none" w="med" len="med"/>
                    </a:lnB>
                    <a:solidFill>
                      <a:srgbClr val="E7F5F1"/>
                    </a:solidFill>
                  </a:tcPr>
                </a:tc>
              </a:tr>
            </a:tbl>
          </a:graphicData>
        </a:graphic>
      </p:graphicFrame>
      <p:sp>
        <p:nvSpPr>
          <p:cNvPr id="5" name="Text 2"/>
          <p:cNvSpPr/>
          <p:nvPr/>
        </p:nvSpPr>
        <p:spPr>
          <a:xfrm>
            <a:off x="548640" y="5806440"/>
            <a:ext cx="11091672" cy="320040"/>
          </a:xfrm>
          <a:prstGeom prst="rect">
            <a:avLst/>
          </a:prstGeom>
          <a:noFill/>
          <a:ln/>
        </p:spPr>
        <p:txBody>
          <a:bodyPr wrap="square" rtlCol="0" anchor="ctr"/>
          <a:lstStyle/>
          <a:p>
            <a:pPr algn="ctr" indent="0" marL="0">
              <a:buNone/>
            </a:pPr>
            <a:r>
              <a:rPr lang="en-US" sz="1300" i="1" dirty="0">
                <a:solidFill>
                  <a:srgbClr val="232D5A"/>
                </a:solidFill>
                <a:latin typeface="Arial" pitchFamily="34" charset="0"/>
                <a:ea typeface="Arial" pitchFamily="34" charset="-122"/>
                <a:cs typeface="Arial" pitchFamily="34" charset="-120"/>
              </a:rPr>
              <a:t>The difference isn’t hosting — it’s where trust comes from, and what you’re left holding.</a:t>
            </a:r>
            <a:endParaRPr lang="en-US" sz="1300" dirty="0"/>
          </a:p>
        </p:txBody>
      </p:sp>
      <p:sp>
        <p:nvSpPr>
          <p:cNvPr id="6" name="Shape 3"/>
          <p:cNvSpPr/>
          <p:nvPr/>
        </p:nvSpPr>
        <p:spPr>
          <a:xfrm>
            <a:off x="548640" y="6364224"/>
            <a:ext cx="11091672" cy="25603"/>
          </a:xfrm>
          <a:prstGeom prst="rect">
            <a:avLst/>
          </a:prstGeom>
          <a:solidFill>
            <a:srgbClr val="F7B801"/>
          </a:solidFill>
          <a:ln/>
        </p:spPr>
        <p:txBody>
          <a:bodyPr/>
          <a:p/>
        </p:txBody>
      </p:sp>
      <p:sp>
        <p:nvSpPr>
          <p:cNvPr id="13" name="Text 10"/>
          <p:cNvSpPr/>
          <p:nvPr/>
        </p:nvSpPr>
        <p:spPr>
          <a:xfrm>
            <a:off x="7982712" y="6455664"/>
            <a:ext cx="3108960" cy="292608"/>
          </a:xfrm>
          <a:prstGeom prst="rect">
            <a:avLst/>
          </a:prstGeom>
          <a:noFill/>
          <a:ln/>
        </p:spPr>
        <p:txBody>
          <a:bodyPr wrap="square" rtlCol="0" anchor="ctr"/>
          <a:lstStyle/>
          <a:p>
            <a:pPr algn="r" indent="0" marL="0">
              <a:buNone/>
            </a:pPr>
            <a:r>
              <a:rPr lang="en-US" sz="900" dirty="0">
                <a:solidFill>
                  <a:srgbClr val="8892A4"/>
                </a:solidFill>
                <a:latin typeface="Arial" pitchFamily="34" charset="0"/>
                <a:ea typeface="Arial" pitchFamily="34" charset="-122"/>
                <a:cs typeface="Arial" pitchFamily="34" charset="-120"/>
              </a:rPr>
              <a:t>Relian™  ·  Visionblox LLC</a:t>
            </a:r>
            <a:endParaRPr lang="en-US" sz="900" dirty="0"/>
          </a:p>
        </p:txBody>
      </p:sp>
      <p:sp>
        <p:nvSpPr>
          <p:cNvPr id="14" name="Text 11"/>
          <p:cNvSpPr/>
          <p:nvPr/>
        </p:nvSpPr>
        <p:spPr>
          <a:xfrm>
            <a:off x="11183112" y="6455664"/>
            <a:ext cx="457200" cy="292608"/>
          </a:xfrm>
          <a:prstGeom prst="rect">
            <a:avLst/>
          </a:prstGeom>
          <a:noFill/>
          <a:ln/>
        </p:spPr>
        <p:txBody>
          <a:bodyPr wrap="square" rtlCol="0" anchor="ctr"/>
          <a:lstStyle/>
          <a:p>
            <a:pPr algn="r" indent="0" marL="0">
              <a:buNone/>
            </a:pPr>
            <a:r>
              <a:rPr lang="en-US" sz="900" dirty="0">
                <a:solidFill>
                  <a:srgbClr val="8892A4"/>
                </a:solidFill>
                <a:latin typeface="Arial" pitchFamily="34" charset="0"/>
                <a:ea typeface="Arial" pitchFamily="34" charset="-122"/>
                <a:cs typeface="Arial" pitchFamily="34" charset="-120"/>
              </a:rPr>
              <a:t>5</a:t>
            </a:r>
            <a:endParaRPr lang="en-US" sz="900" dirty="0"/>
          </a:p>
        </p:txBody>
      </p:sp>
      <p:pic>
        <p:nvPicPr>
          <p:cNvPr id="15" name="Picture 14" descr="visionblox-logo.png"/>
          <p:cNvPicPr>
            <a:picLocks noChangeAspect="1"/>
          </p:cNvPicPr>
          <p:nvPr/>
        </p:nvPicPr>
        <p:blipFill>
          <a:blip r:embed="rId3"/>
          <a:stretch>
            <a:fillRect/>
          </a:stretch>
        </p:blipFill>
        <p:spPr>
          <a:xfrm>
            <a:off x="548640" y="6391656"/>
            <a:ext cx="914400" cy="3851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247"/>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347"/>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7FD4C1"/>
                </a:solidFill>
                <a:latin typeface="Arial" pitchFamily="34" charset="0"/>
                <a:ea typeface="Arial" pitchFamily="34" charset="-122"/>
                <a:cs typeface="Arial" pitchFamily="34" charset="-120"/>
              </a:rPr>
              <a:t>THE REFEREE MODEL</a:t>
            </a:r>
            <a:endParaRPr lang="en-US" sz="1200" dirty="0"/>
          </a:p>
        </p:txBody>
      </p:sp>
      <p:sp>
        <p:nvSpPr>
          <p:cNvPr id="4" name="Text 2"/>
          <p:cNvSpPr/>
          <p:nvPr/>
        </p:nvSpPr>
        <p:spPr>
          <a:xfrm>
            <a:off x="548640" y="777240"/>
            <a:ext cx="11091672" cy="64008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Relian can verify anyone’s migration — even one we didn’t run</a:t>
            </a:r>
            <a:endParaRPr lang="en-US" sz="2500" dirty="0"/>
          </a:p>
        </p:txBody>
      </p:sp>
      <p:sp>
        <p:nvSpPr>
          <p:cNvPr id="5" name="Text 3"/>
          <p:cNvSpPr/>
          <p:nvPr/>
        </p:nvSpPr>
        <p:spPr>
          <a:xfrm>
            <a:off x="548640" y="1554480"/>
            <a:ext cx="11091672" cy="914400"/>
          </a:xfrm>
          <a:prstGeom prst="rect">
            <a:avLst/>
          </a:prstGeom>
          <a:noFill/>
          <a:ln/>
        </p:spPr>
        <p:txBody>
          <a:bodyPr wrap="square" rtlCol="0" anchor="ctr"/>
          <a:lstStyle/>
          <a:p>
            <a:pPr indent="0" marL="0">
              <a:buNone/>
            </a:pPr>
            <a:r>
              <a:rPr lang="en-US" sz="1500" dirty="0">
                <a:solidFill>
                  <a:srgbClr val="F5F5F0"/>
                </a:solidFill>
                <a:latin typeface="Arial" pitchFamily="34" charset="0"/>
                <a:ea typeface="Arial" pitchFamily="34" charset="-122"/>
                <a:cs typeface="Arial" pitchFamily="34" charset="-120"/>
              </a:rPr>
              <a:t>Because the attestation is independent of the transform, Relian can act as the neutral referee for modernization: point it at any vendor’s output plus a committed benchmark, and it returns a signed equivalence verdict. That makes Relian an assurance layer, not just a tool.</a:t>
            </a:r>
            <a:endParaRPr lang="en-US" sz="1500" dirty="0"/>
          </a:p>
        </p:txBody>
      </p:sp>
      <p:sp>
        <p:nvSpPr>
          <p:cNvPr id="6" name="Shape 4"/>
          <p:cNvSpPr/>
          <p:nvPr/>
        </p:nvSpPr>
        <p:spPr>
          <a:xfrm>
            <a:off x="548640" y="2743200"/>
            <a:ext cx="3453384" cy="2377440"/>
          </a:xfrm>
          <a:prstGeom prst="roundRect">
            <a:avLst>
              <a:gd name="adj" fmla="val 1538"/>
            </a:avLst>
          </a:prstGeom>
          <a:solidFill>
            <a:srgbClr val="2A3560"/>
          </a:solidFill>
          <a:ln/>
        </p:spPr>
        <p:txBody>
          <a:bodyPr/>
          <a:p/>
        </p:txBody>
      </p:sp>
      <p:sp>
        <p:nvSpPr>
          <p:cNvPr id="7" name="Shape 5"/>
          <p:cNvSpPr/>
          <p:nvPr/>
        </p:nvSpPr>
        <p:spPr>
          <a:xfrm>
            <a:off x="841248" y="3017520"/>
            <a:ext cx="640080" cy="640080"/>
          </a:xfrm>
          <a:prstGeom prst="roundRect">
            <a:avLst>
              <a:gd name="adj" fmla="val 7143"/>
            </a:avLst>
          </a:prstGeom>
          <a:solidFill>
            <a:srgbClr val="2EA891"/>
          </a:solidFill>
          <a:ln/>
        </p:spPr>
        <p:txBody>
          <a:bodyPr/>
          <a:p/>
        </p:txBody>
      </p:sp>
      <p:pic>
        <p:nvPicPr>
          <p:cNvPr id="8" name="Image 0" descr="preencoded.png">    </p:cNvPr>
          <p:cNvPicPr>
            <a:picLocks noChangeAspect="1"/>
          </p:cNvPicPr>
          <p:nvPr/>
        </p:nvPicPr>
        <p:blipFill>
          <a:blip r:embed="rId1"/>
          <a:stretch>
            <a:fillRect/>
          </a:stretch>
        </p:blipFill>
        <p:spPr>
          <a:xfrm>
            <a:off x="1001268" y="3177540"/>
            <a:ext cx="320040" cy="320040"/>
          </a:xfrm>
          <a:prstGeom prst="rect">
            <a:avLst/>
          </a:prstGeom>
        </p:spPr>
      </p:pic>
      <p:sp>
        <p:nvSpPr>
          <p:cNvPr id="9" name="Text 6"/>
          <p:cNvSpPr/>
          <p:nvPr/>
        </p:nvSpPr>
        <p:spPr>
          <a:xfrm>
            <a:off x="841248" y="3794760"/>
            <a:ext cx="2904744" cy="457200"/>
          </a:xfrm>
          <a:prstGeom prst="rect">
            <a:avLst/>
          </a:prstGeom>
          <a:noFill/>
          <a:ln/>
        </p:spPr>
        <p:txBody>
          <a:bodyPr wrap="square" rtlCol="0" anchor="ctr"/>
          <a:lstStyle/>
          <a:p>
            <a:pPr indent="0" marL="0">
              <a:buNone/>
            </a:pPr>
            <a:r>
              <a:rPr lang="en-US" sz="1600" b="1" dirty="0">
                <a:solidFill>
                  <a:srgbClr val="7FD4C1"/>
                </a:solidFill>
                <a:latin typeface="Arial" pitchFamily="34" charset="0"/>
                <a:ea typeface="Arial" pitchFamily="34" charset="-122"/>
                <a:cs typeface="Arial" pitchFamily="34" charset="-120"/>
              </a:rPr>
              <a:t>Independent</a:t>
            </a:r>
            <a:endParaRPr lang="en-US" sz="1600" dirty="0"/>
          </a:p>
        </p:txBody>
      </p:sp>
      <p:sp>
        <p:nvSpPr>
          <p:cNvPr id="10" name="Text 7"/>
          <p:cNvSpPr/>
          <p:nvPr/>
        </p:nvSpPr>
        <p:spPr>
          <a:xfrm>
            <a:off x="841248" y="4251960"/>
            <a:ext cx="2904744" cy="777240"/>
          </a:xfrm>
          <a:prstGeom prst="rect">
            <a:avLst/>
          </a:prstGeom>
          <a:noFill/>
          <a:ln/>
        </p:spPr>
        <p:txBody>
          <a:bodyPr wrap="square" rtlCol="0" anchor="ctr"/>
          <a:lstStyle/>
          <a:p>
            <a:pPr indent="0" marL="0">
              <a:buNone/>
            </a:pPr>
            <a:r>
              <a:rPr lang="en-US" sz="1200" dirty="0">
                <a:solidFill>
                  <a:srgbClr val="F5F5F0"/>
                </a:solidFill>
                <a:latin typeface="Arial" pitchFamily="34" charset="0"/>
                <a:ea typeface="Arial" pitchFamily="34" charset="-122"/>
                <a:cs typeface="Arial" pitchFamily="34" charset="-120"/>
              </a:rPr>
              <a:t>Assurance is decoupled from the party doing the work — the referee doesn’t play for either side.</a:t>
            </a:r>
            <a:endParaRPr lang="en-US" sz="1200" dirty="0"/>
          </a:p>
        </p:txBody>
      </p:sp>
      <p:sp>
        <p:nvSpPr>
          <p:cNvPr id="11" name="Shape 8"/>
          <p:cNvSpPr/>
          <p:nvPr/>
        </p:nvSpPr>
        <p:spPr>
          <a:xfrm>
            <a:off x="4367784" y="2743200"/>
            <a:ext cx="3453384" cy="2377440"/>
          </a:xfrm>
          <a:prstGeom prst="roundRect">
            <a:avLst>
              <a:gd name="adj" fmla="val 1538"/>
            </a:avLst>
          </a:prstGeom>
          <a:solidFill>
            <a:srgbClr val="2A3560"/>
          </a:solidFill>
          <a:ln/>
        </p:spPr>
        <p:txBody>
          <a:bodyPr/>
          <a:p/>
        </p:txBody>
      </p:sp>
      <p:sp>
        <p:nvSpPr>
          <p:cNvPr id="12" name="Shape 9"/>
          <p:cNvSpPr/>
          <p:nvPr/>
        </p:nvSpPr>
        <p:spPr>
          <a:xfrm>
            <a:off x="4660392" y="3017520"/>
            <a:ext cx="640080" cy="640080"/>
          </a:xfrm>
          <a:prstGeom prst="roundRect">
            <a:avLst>
              <a:gd name="adj" fmla="val 7143"/>
            </a:avLst>
          </a:prstGeom>
          <a:solidFill>
            <a:srgbClr val="2EA891"/>
          </a:solidFill>
          <a:ln/>
        </p:spPr>
        <p:txBody>
          <a:bodyPr/>
          <a:p/>
        </p:txBody>
      </p:sp>
      <p:pic>
        <p:nvPicPr>
          <p:cNvPr id="13" name="Image 1" descr="preencoded.png">    </p:cNvPr>
          <p:cNvPicPr>
            <a:picLocks noChangeAspect="1"/>
          </p:cNvPicPr>
          <p:nvPr/>
        </p:nvPicPr>
        <p:blipFill>
          <a:blip r:embed="rId2"/>
          <a:stretch>
            <a:fillRect/>
          </a:stretch>
        </p:blipFill>
        <p:spPr>
          <a:xfrm>
            <a:off x="4820412" y="3177540"/>
            <a:ext cx="320040" cy="320040"/>
          </a:xfrm>
          <a:prstGeom prst="rect">
            <a:avLst/>
          </a:prstGeom>
        </p:spPr>
      </p:pic>
      <p:sp>
        <p:nvSpPr>
          <p:cNvPr id="14" name="Text 10"/>
          <p:cNvSpPr/>
          <p:nvPr/>
        </p:nvSpPr>
        <p:spPr>
          <a:xfrm>
            <a:off x="4660392" y="3794760"/>
            <a:ext cx="2904744" cy="457200"/>
          </a:xfrm>
          <a:prstGeom prst="rect">
            <a:avLst/>
          </a:prstGeom>
          <a:noFill/>
          <a:ln/>
        </p:spPr>
        <p:txBody>
          <a:bodyPr wrap="square" rtlCol="0" anchor="ctr"/>
          <a:lstStyle/>
          <a:p>
            <a:pPr indent="0" marL="0">
              <a:buNone/>
            </a:pPr>
            <a:r>
              <a:rPr lang="en-US" sz="1600" b="1" dirty="0">
                <a:solidFill>
                  <a:srgbClr val="7FD4C1"/>
                </a:solidFill>
                <a:latin typeface="Arial" pitchFamily="34" charset="0"/>
                <a:ea typeface="Arial" pitchFamily="34" charset="-122"/>
                <a:cs typeface="Arial" pitchFamily="34" charset="-120"/>
              </a:rPr>
              <a:t>Portable</a:t>
            </a:r>
            <a:endParaRPr lang="en-US" sz="1600" dirty="0"/>
          </a:p>
        </p:txBody>
      </p:sp>
      <p:sp>
        <p:nvSpPr>
          <p:cNvPr id="15" name="Text 11"/>
          <p:cNvSpPr/>
          <p:nvPr/>
        </p:nvSpPr>
        <p:spPr>
          <a:xfrm>
            <a:off x="4660392" y="4251960"/>
            <a:ext cx="2904744" cy="777240"/>
          </a:xfrm>
          <a:prstGeom prst="rect">
            <a:avLst/>
          </a:prstGeom>
          <a:noFill/>
          <a:ln/>
        </p:spPr>
        <p:txBody>
          <a:bodyPr wrap="square" rtlCol="0" anchor="ctr"/>
          <a:lstStyle/>
          <a:p>
            <a:pPr indent="0" marL="0">
              <a:buNone/>
            </a:pPr>
            <a:r>
              <a:rPr lang="en-US" sz="1200" dirty="0">
                <a:solidFill>
                  <a:srgbClr val="F5F5F0"/>
                </a:solidFill>
                <a:latin typeface="Arial" pitchFamily="34" charset="0"/>
                <a:ea typeface="Arial" pitchFamily="34" charset="-122"/>
                <a:cs typeface="Arial" pitchFamily="34" charset="-120"/>
              </a:rPr>
              <a:t>The proof travels with the code and outlives any single vendor, tool, or contract.</a:t>
            </a:r>
            <a:endParaRPr lang="en-US" sz="1200" dirty="0"/>
          </a:p>
        </p:txBody>
      </p:sp>
      <p:sp>
        <p:nvSpPr>
          <p:cNvPr id="16" name="Shape 12"/>
          <p:cNvSpPr/>
          <p:nvPr/>
        </p:nvSpPr>
        <p:spPr>
          <a:xfrm>
            <a:off x="8186928" y="2743200"/>
            <a:ext cx="3453384" cy="2377440"/>
          </a:xfrm>
          <a:prstGeom prst="roundRect">
            <a:avLst>
              <a:gd name="adj" fmla="val 1538"/>
            </a:avLst>
          </a:prstGeom>
          <a:solidFill>
            <a:srgbClr val="2A3560"/>
          </a:solidFill>
          <a:ln/>
        </p:spPr>
        <p:txBody>
          <a:bodyPr/>
          <a:p/>
        </p:txBody>
      </p:sp>
      <p:sp>
        <p:nvSpPr>
          <p:cNvPr id="17" name="Shape 13"/>
          <p:cNvSpPr/>
          <p:nvPr/>
        </p:nvSpPr>
        <p:spPr>
          <a:xfrm>
            <a:off x="8479536" y="3017520"/>
            <a:ext cx="640080" cy="640080"/>
          </a:xfrm>
          <a:prstGeom prst="roundRect">
            <a:avLst>
              <a:gd name="adj" fmla="val 7143"/>
            </a:avLst>
          </a:prstGeom>
          <a:solidFill>
            <a:srgbClr val="2EA891"/>
          </a:solidFill>
          <a:ln/>
        </p:spPr>
        <p:txBody>
          <a:bodyPr/>
          <a:p/>
        </p:txBody>
      </p:sp>
      <p:pic>
        <p:nvPicPr>
          <p:cNvPr id="18" name="Image 2" descr="preencoded.png">    </p:cNvPr>
          <p:cNvPicPr>
            <a:picLocks noChangeAspect="1"/>
          </p:cNvPicPr>
          <p:nvPr/>
        </p:nvPicPr>
        <p:blipFill>
          <a:blip r:embed="rId3"/>
          <a:stretch>
            <a:fillRect/>
          </a:stretch>
        </p:blipFill>
        <p:spPr>
          <a:xfrm>
            <a:off x="8639556" y="3177540"/>
            <a:ext cx="320040" cy="320040"/>
          </a:xfrm>
          <a:prstGeom prst="rect">
            <a:avLst/>
          </a:prstGeom>
        </p:spPr>
      </p:pic>
      <p:sp>
        <p:nvSpPr>
          <p:cNvPr id="19" name="Text 14"/>
          <p:cNvSpPr/>
          <p:nvPr/>
        </p:nvSpPr>
        <p:spPr>
          <a:xfrm>
            <a:off x="8479536" y="3794760"/>
            <a:ext cx="2904744" cy="457200"/>
          </a:xfrm>
          <a:prstGeom prst="rect">
            <a:avLst/>
          </a:prstGeom>
          <a:noFill/>
          <a:ln/>
        </p:spPr>
        <p:txBody>
          <a:bodyPr wrap="square" rtlCol="0" anchor="ctr"/>
          <a:lstStyle/>
          <a:p>
            <a:pPr indent="0" marL="0">
              <a:buNone/>
            </a:pPr>
            <a:r>
              <a:rPr lang="en-US" sz="1600" b="1" dirty="0">
                <a:solidFill>
                  <a:srgbClr val="7FD4C1"/>
                </a:solidFill>
                <a:latin typeface="Arial" pitchFamily="34" charset="0"/>
                <a:ea typeface="Arial" pitchFamily="34" charset="-122"/>
                <a:cs typeface="Arial" pitchFamily="34" charset="-120"/>
              </a:rPr>
              <a:t>Universal</a:t>
            </a:r>
            <a:endParaRPr lang="en-US" sz="1600" dirty="0"/>
          </a:p>
        </p:txBody>
      </p:sp>
      <p:sp>
        <p:nvSpPr>
          <p:cNvPr id="20" name="Text 15"/>
          <p:cNvSpPr/>
          <p:nvPr/>
        </p:nvSpPr>
        <p:spPr>
          <a:xfrm>
            <a:off x="8479536" y="4251960"/>
            <a:ext cx="2904744" cy="777240"/>
          </a:xfrm>
          <a:prstGeom prst="rect">
            <a:avLst/>
          </a:prstGeom>
          <a:noFill/>
          <a:ln/>
        </p:spPr>
        <p:txBody>
          <a:bodyPr wrap="square" rtlCol="0" anchor="ctr"/>
          <a:lstStyle/>
          <a:p>
            <a:pPr indent="0" marL="0">
              <a:buNone/>
            </a:pPr>
            <a:r>
              <a:rPr lang="en-US" sz="1200" dirty="0">
                <a:solidFill>
                  <a:srgbClr val="F5F5F0"/>
                </a:solidFill>
                <a:latin typeface="Arial" pitchFamily="34" charset="0"/>
                <a:ea typeface="Arial" pitchFamily="34" charset="-122"/>
                <a:cs typeface="Arial" pitchFamily="34" charset="-120"/>
              </a:rPr>
              <a:t>One assurance layer across tools and vendors — extended to each new language pair benchmark-first.</a:t>
            </a:r>
            <a:endParaRPr lang="en-US" sz="1200" dirty="0"/>
          </a:p>
        </p:txBody>
      </p:sp>
      <p:sp>
        <p:nvSpPr>
          <p:cNvPr id="21" name="Text 16"/>
          <p:cNvSpPr/>
          <p:nvPr/>
        </p:nvSpPr>
        <p:spPr>
          <a:xfrm>
            <a:off x="548640" y="5394960"/>
            <a:ext cx="11091672" cy="365760"/>
          </a:xfrm>
          <a:prstGeom prst="rect">
            <a:avLst/>
          </a:prstGeom>
          <a:noFill/>
          <a:ln/>
        </p:spPr>
        <p:txBody>
          <a:bodyPr wrap="square" rtlCol="0" anchor="ctr"/>
          <a:lstStyle/>
          <a:p>
            <a:pPr algn="ctr" indent="0" marL="0">
              <a:buNone/>
            </a:pPr>
            <a:r>
              <a:rPr lang="en-US" sz="1500" b="1" i="1" dirty="0">
                <a:solidFill>
                  <a:srgbClr val="F7B801"/>
                </a:solidFill>
                <a:latin typeface="Arial" pitchFamily="34" charset="0"/>
                <a:ea typeface="Arial" pitchFamily="34" charset="-122"/>
                <a:cs typeface="Arial" pitchFamily="34" charset="-120"/>
              </a:rPr>
              <a:t>Not just a migration tool — an assurance layer for modernization.</a:t>
            </a:r>
            <a:endParaRPr lang="en-US" sz="1500" dirty="0"/>
          </a:p>
        </p:txBody>
      </p:sp>
      <p:sp>
        <p:nvSpPr>
          <p:cNvPr id="22" name="Rectangle 21"/>
          <p:cNvSpPr/>
          <p:nvPr/>
        </p:nvSpPr>
        <p:spPr>
          <a:xfrm>
            <a:off x="548640" y="6364224"/>
            <a:ext cx="11094720" cy="25603"/>
          </a:xfrm>
          <a:prstGeom prst="rect">
            <a:avLst/>
          </a:prstGeom>
          <a:solidFill>
            <a:srgbClr val="F7B8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visionblox-logo-knockout.png"/>
          <p:cNvPicPr>
            <a:picLocks noChangeAspect="1"/>
          </p:cNvPicPr>
          <p:nvPr/>
        </p:nvPicPr>
        <p:blipFill>
          <a:blip r:embed="rId6"/>
          <a:stretch>
            <a:fillRect/>
          </a:stretch>
        </p:blipFill>
        <p:spPr>
          <a:xfrm>
            <a:off x="548640" y="6391656"/>
            <a:ext cx="914400" cy="38510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EA891"/>
                </a:solidFill>
                <a:latin typeface="Arial" pitchFamily="34" charset="0"/>
                <a:ea typeface="Arial" pitchFamily="34" charset="-122"/>
                <a:cs typeface="Arial" pitchFamily="34" charset="-120"/>
              </a:rPr>
              <a:t>THE EVIDENCE DISCIPLINE</a:t>
            </a:r>
            <a:endParaRPr lang="en-US" sz="1200" dirty="0"/>
          </a:p>
        </p:txBody>
      </p:sp>
      <p:sp>
        <p:nvSpPr>
          <p:cNvPr id="3" name="Text 1"/>
          <p:cNvSpPr/>
          <p:nvPr/>
        </p:nvSpPr>
        <p:spPr>
          <a:xfrm>
            <a:off x="548640" y="749808"/>
            <a:ext cx="11091672" cy="731520"/>
          </a:xfrm>
          <a:prstGeom prst="rect">
            <a:avLst/>
          </a:prstGeom>
          <a:noFill/>
          <a:ln/>
        </p:spPr>
        <p:txBody>
          <a:bodyPr wrap="square" rtlCol="0" anchor="ctr"/>
          <a:lstStyle/>
          <a:p>
            <a:pPr indent="0" marL="0">
              <a:buNone/>
            </a:pPr>
            <a:r>
              <a:rPr lang="en-US" sz="2700" b="1" dirty="0">
                <a:solidFill>
                  <a:srgbClr val="232D5A"/>
                </a:solidFill>
                <a:latin typeface="Arial" pitchFamily="34" charset="0"/>
                <a:ea typeface="Arial" pitchFamily="34" charset="-122"/>
                <a:cs typeface="Arial" pitchFamily="34" charset="-120"/>
              </a:rPr>
              <a:t>Proof, measured — not asserted</a:t>
            </a:r>
            <a:endParaRPr lang="en-US" sz="2700" dirty="0"/>
          </a:p>
        </p:txBody>
      </p:sp>
      <p:sp>
        <p:nvSpPr>
          <p:cNvPr id="4" name="Shape 2"/>
          <p:cNvSpPr/>
          <p:nvPr/>
        </p:nvSpPr>
        <p:spPr>
          <a:xfrm>
            <a:off x="548640" y="1600200"/>
            <a:ext cx="5271516" cy="1874520"/>
          </a:xfrm>
          <a:prstGeom prst="roundRect">
            <a:avLst>
              <a:gd name="adj" fmla="val 1951"/>
            </a:avLst>
          </a:prstGeom>
          <a:solidFill>
            <a:srgbClr val="F0F0F0"/>
          </a:solidFill>
          <a:ln/>
          <a:effectLst>
            <a:outerShdw sx="100000" sy="100000" kx="0" ky="0" algn="bl" rotWithShape="0" blurRad="76200" dist="25400" dir="5400000">
              <a:srgbClr val="B9C0CE">
                <a:alpha val="30000"/>
              </a:srgbClr>
            </a:outerShdw>
          </a:effectLst>
        </p:spPr>
        <p:txBody>
          <a:bodyPr/>
          <a:p/>
        </p:txBody>
      </p:sp>
      <p:sp>
        <p:nvSpPr>
          <p:cNvPr id="5" name="Shape 3"/>
          <p:cNvSpPr/>
          <p:nvPr/>
        </p:nvSpPr>
        <p:spPr>
          <a:xfrm>
            <a:off x="841248" y="1892808"/>
            <a:ext cx="658368" cy="658368"/>
          </a:xfrm>
          <a:prstGeom prst="roundRect">
            <a:avLst>
              <a:gd name="adj" fmla="val 6944"/>
            </a:avLst>
          </a:prstGeom>
          <a:solidFill>
            <a:srgbClr val="2EA891"/>
          </a:solidFill>
          <a:ln/>
        </p:spPr>
        <p:txBody>
          <a:bodyPr/>
          <a:p/>
        </p:txBody>
      </p:sp>
      <p:pic>
        <p:nvPicPr>
          <p:cNvPr id="6" name="Image 0" descr="preencoded.png">    </p:cNvPr>
          <p:cNvPicPr>
            <a:picLocks noChangeAspect="1"/>
          </p:cNvPicPr>
          <p:nvPr/>
        </p:nvPicPr>
        <p:blipFill>
          <a:blip r:embed="rId1"/>
          <a:stretch>
            <a:fillRect/>
          </a:stretch>
        </p:blipFill>
        <p:spPr>
          <a:xfrm>
            <a:off x="1005840" y="2057400"/>
            <a:ext cx="329184" cy="329184"/>
          </a:xfrm>
          <a:prstGeom prst="rect">
            <a:avLst/>
          </a:prstGeom>
        </p:spPr>
      </p:pic>
      <p:sp>
        <p:nvSpPr>
          <p:cNvPr id="7" name="Text 4"/>
          <p:cNvSpPr/>
          <p:nvPr/>
        </p:nvSpPr>
        <p:spPr>
          <a:xfrm>
            <a:off x="1691640" y="1874520"/>
            <a:ext cx="3899916" cy="457200"/>
          </a:xfrm>
          <a:prstGeom prst="rect">
            <a:avLst/>
          </a:prstGeom>
          <a:noFill/>
          <a:ln/>
        </p:spPr>
        <p:txBody>
          <a:bodyPr wrap="square" rtlCol="0" anchor="ctr"/>
          <a:lstStyle/>
          <a:p>
            <a:pPr indent="0" marL="0">
              <a:buNone/>
            </a:pPr>
            <a:r>
              <a:rPr lang="en-US" sz="2000" b="1" dirty="0">
                <a:solidFill>
                  <a:srgbClr val="232D5A"/>
                </a:solidFill>
                <a:latin typeface="Arial" pitchFamily="34" charset="0"/>
                <a:ea typeface="Arial" pitchFamily="34" charset="-122"/>
                <a:cs typeface="Arial" pitchFamily="34" charset="-120"/>
              </a:rPr>
              <a:t>BER 1.0000</a:t>
            </a:r>
            <a:endParaRPr lang="en-US" sz="2000" dirty="0"/>
          </a:p>
        </p:txBody>
      </p:sp>
      <p:sp>
        <p:nvSpPr>
          <p:cNvPr id="8" name="Text 5"/>
          <p:cNvSpPr/>
          <p:nvPr/>
        </p:nvSpPr>
        <p:spPr>
          <a:xfrm>
            <a:off x="841248" y="2651760"/>
            <a:ext cx="4722876" cy="320040"/>
          </a:xfrm>
          <a:prstGeom prst="rect">
            <a:avLst/>
          </a:prstGeom>
          <a:noFill/>
          <a:ln/>
        </p:spPr>
        <p:txBody>
          <a:bodyPr wrap="square" rtlCol="0" anchor="ctr"/>
          <a:lstStyle/>
          <a:p>
            <a:pPr indent="0" marL="0">
              <a:buNone/>
            </a:pPr>
            <a:r>
              <a:rPr lang="en-US" sz="1400" b="1" dirty="0">
                <a:solidFill>
                  <a:srgbClr val="2EA891"/>
                </a:solidFill>
                <a:latin typeface="Arial" pitchFamily="34" charset="0"/>
                <a:ea typeface="Arial" pitchFamily="34" charset="-122"/>
                <a:cs typeface="Arial" pitchFamily="34" charset="-120"/>
              </a:rPr>
              <a:t>100% behavioral equivalence</a:t>
            </a:r>
            <a:endParaRPr lang="en-US" sz="1400" dirty="0"/>
          </a:p>
        </p:txBody>
      </p:sp>
      <p:sp>
        <p:nvSpPr>
          <p:cNvPr id="9" name="Text 6"/>
          <p:cNvSpPr/>
          <p:nvPr/>
        </p:nvSpPr>
        <p:spPr>
          <a:xfrm>
            <a:off x="841248" y="2953512"/>
            <a:ext cx="4722876" cy="457200"/>
          </a:xfrm>
          <a:prstGeom prst="rect">
            <a:avLst/>
          </a:prstGeom>
          <a:noFill/>
          <a:ln/>
        </p:spPr>
        <p:txBody>
          <a:bodyPr wrap="square" rtlCol="0" anchor="ctr"/>
          <a:lstStyle/>
          <a:p>
            <a:pPr indent="0" marL="0">
              <a:buNone/>
            </a:pPr>
            <a:r>
              <a:rPr lang="en-US" sz="1200" dirty="0">
                <a:solidFill>
                  <a:srgbClr val="2E2E2E"/>
                </a:solidFill>
                <a:latin typeface="Arial" pitchFamily="34" charset="0"/>
                <a:ea typeface="Arial" pitchFamily="34" charset="-122"/>
                <a:cs typeface="Arial" pitchFamily="34" charset="-120"/>
              </a:rPr>
              <a:t>on the sealed RELIAN-BENCH held-out suite, across supported COBOL constructs.</a:t>
            </a:r>
            <a:endParaRPr lang="en-US" sz="1200" dirty="0"/>
          </a:p>
        </p:txBody>
      </p:sp>
      <p:sp>
        <p:nvSpPr>
          <p:cNvPr id="10" name="Shape 7"/>
          <p:cNvSpPr/>
          <p:nvPr/>
        </p:nvSpPr>
        <p:spPr>
          <a:xfrm>
            <a:off x="6368796" y="1600200"/>
            <a:ext cx="5271516" cy="1874520"/>
          </a:xfrm>
          <a:prstGeom prst="roundRect">
            <a:avLst>
              <a:gd name="adj" fmla="val 1951"/>
            </a:avLst>
          </a:prstGeom>
          <a:solidFill>
            <a:srgbClr val="F0F0F0"/>
          </a:solidFill>
          <a:ln/>
          <a:effectLst>
            <a:outerShdw sx="100000" sy="100000" kx="0" ky="0" algn="bl" rotWithShape="0" blurRad="76200" dist="25400" dir="5400000">
              <a:srgbClr val="B9C0CE">
                <a:alpha val="30000"/>
              </a:srgbClr>
            </a:outerShdw>
          </a:effectLst>
        </p:spPr>
        <p:txBody>
          <a:bodyPr/>
          <a:p/>
        </p:txBody>
      </p:sp>
      <p:sp>
        <p:nvSpPr>
          <p:cNvPr id="11" name="Shape 8"/>
          <p:cNvSpPr/>
          <p:nvPr/>
        </p:nvSpPr>
        <p:spPr>
          <a:xfrm>
            <a:off x="6661404" y="1892808"/>
            <a:ext cx="658368" cy="658368"/>
          </a:xfrm>
          <a:prstGeom prst="roundRect">
            <a:avLst>
              <a:gd name="adj" fmla="val 6944"/>
            </a:avLst>
          </a:prstGeom>
          <a:solidFill>
            <a:srgbClr val="2EA891"/>
          </a:solidFill>
          <a:ln/>
        </p:spPr>
        <p:txBody>
          <a:bodyPr/>
          <a:p/>
        </p:txBody>
      </p:sp>
      <p:pic>
        <p:nvPicPr>
          <p:cNvPr id="12" name="Image 1" descr="preencoded.png">    </p:cNvPr>
          <p:cNvPicPr>
            <a:picLocks noChangeAspect="1"/>
          </p:cNvPicPr>
          <p:nvPr/>
        </p:nvPicPr>
        <p:blipFill>
          <a:blip r:embed="rId2"/>
          <a:stretch>
            <a:fillRect/>
          </a:stretch>
        </p:blipFill>
        <p:spPr>
          <a:xfrm>
            <a:off x="6825996" y="2057400"/>
            <a:ext cx="329184" cy="329184"/>
          </a:xfrm>
          <a:prstGeom prst="rect">
            <a:avLst/>
          </a:prstGeom>
        </p:spPr>
      </p:pic>
      <p:sp>
        <p:nvSpPr>
          <p:cNvPr id="13" name="Text 9"/>
          <p:cNvSpPr/>
          <p:nvPr/>
        </p:nvSpPr>
        <p:spPr>
          <a:xfrm>
            <a:off x="7511796" y="1874520"/>
            <a:ext cx="3899916" cy="457200"/>
          </a:xfrm>
          <a:prstGeom prst="rect">
            <a:avLst/>
          </a:prstGeom>
          <a:noFill/>
          <a:ln/>
        </p:spPr>
        <p:txBody>
          <a:bodyPr wrap="square" rtlCol="0" anchor="ctr"/>
          <a:lstStyle/>
          <a:p>
            <a:pPr indent="0" marL="0">
              <a:buNone/>
            </a:pPr>
            <a:r>
              <a:rPr lang="en-US" sz="2000" b="1" dirty="0">
                <a:solidFill>
                  <a:srgbClr val="232D5A"/>
                </a:solidFill>
                <a:latin typeface="Arial" pitchFamily="34" charset="0"/>
                <a:ea typeface="Arial" pitchFamily="34" charset="-122"/>
                <a:cs typeface="Arial" pitchFamily="34" charset="-120"/>
              </a:rPr>
              <a:t>Reproducible</a:t>
            </a:r>
            <a:endParaRPr lang="en-US" sz="2000" dirty="0"/>
          </a:p>
        </p:txBody>
      </p:sp>
      <p:sp>
        <p:nvSpPr>
          <p:cNvPr id="14" name="Text 10"/>
          <p:cNvSpPr/>
          <p:nvPr/>
        </p:nvSpPr>
        <p:spPr>
          <a:xfrm>
            <a:off x="6661404" y="2651760"/>
            <a:ext cx="4722876" cy="320040"/>
          </a:xfrm>
          <a:prstGeom prst="rect">
            <a:avLst/>
          </a:prstGeom>
          <a:noFill/>
          <a:ln/>
        </p:spPr>
        <p:txBody>
          <a:bodyPr wrap="square" rtlCol="0" anchor="ctr"/>
          <a:lstStyle/>
          <a:p>
            <a:pPr indent="0" marL="0">
              <a:buNone/>
            </a:pPr>
            <a:r>
              <a:rPr lang="en-US" sz="1400" b="1" dirty="0">
                <a:solidFill>
                  <a:srgbClr val="2EA891"/>
                </a:solidFill>
                <a:latin typeface="Arial" pitchFamily="34" charset="0"/>
                <a:ea typeface="Arial" pitchFamily="34" charset="-122"/>
                <a:cs typeface="Arial" pitchFamily="34" charset="-120"/>
              </a:rPr>
              <a:t>Deterministic output</a:t>
            </a:r>
            <a:endParaRPr lang="en-US" sz="1400" dirty="0"/>
          </a:p>
        </p:txBody>
      </p:sp>
      <p:sp>
        <p:nvSpPr>
          <p:cNvPr id="15" name="Text 11"/>
          <p:cNvSpPr/>
          <p:nvPr/>
        </p:nvSpPr>
        <p:spPr>
          <a:xfrm>
            <a:off x="6661404" y="2953512"/>
            <a:ext cx="4722876" cy="457200"/>
          </a:xfrm>
          <a:prstGeom prst="rect">
            <a:avLst/>
          </a:prstGeom>
          <a:noFill/>
          <a:ln/>
        </p:spPr>
        <p:txBody>
          <a:bodyPr wrap="square" rtlCol="0" anchor="ctr"/>
          <a:lstStyle/>
          <a:p>
            <a:pPr indent="0" marL="0">
              <a:buNone/>
            </a:pPr>
            <a:r>
              <a:rPr lang="en-US" sz="1200" dirty="0">
                <a:solidFill>
                  <a:srgbClr val="2E2E2E"/>
                </a:solidFill>
                <a:latin typeface="Arial" pitchFamily="34" charset="0"/>
                <a:ea typeface="Arial" pitchFamily="34" charset="-122"/>
                <a:cs typeface="Arial" pitchFamily="34" charset="-120"/>
              </a:rPr>
              <a:t>the same legacy input produces byte-for-byte identical modernized code, every run.</a:t>
            </a:r>
            <a:endParaRPr lang="en-US" sz="1200" dirty="0"/>
          </a:p>
        </p:txBody>
      </p:sp>
      <p:sp>
        <p:nvSpPr>
          <p:cNvPr id="16" name="Shape 12"/>
          <p:cNvSpPr/>
          <p:nvPr/>
        </p:nvSpPr>
        <p:spPr>
          <a:xfrm>
            <a:off x="548640" y="3657600"/>
            <a:ext cx="5271516" cy="1874520"/>
          </a:xfrm>
          <a:prstGeom prst="roundRect">
            <a:avLst>
              <a:gd name="adj" fmla="val 1951"/>
            </a:avLst>
          </a:prstGeom>
          <a:solidFill>
            <a:srgbClr val="F0F0F0"/>
          </a:solidFill>
          <a:ln/>
          <a:effectLst>
            <a:outerShdw sx="100000" sy="100000" kx="0" ky="0" algn="bl" rotWithShape="0" blurRad="76200" dist="25400" dir="5400000">
              <a:srgbClr val="B9C0CE">
                <a:alpha val="30000"/>
              </a:srgbClr>
            </a:outerShdw>
          </a:effectLst>
        </p:spPr>
        <p:txBody>
          <a:bodyPr/>
          <a:p/>
        </p:txBody>
      </p:sp>
      <p:sp>
        <p:nvSpPr>
          <p:cNvPr id="17" name="Shape 13"/>
          <p:cNvSpPr/>
          <p:nvPr/>
        </p:nvSpPr>
        <p:spPr>
          <a:xfrm>
            <a:off x="841248" y="3950208"/>
            <a:ext cx="658368" cy="658368"/>
          </a:xfrm>
          <a:prstGeom prst="roundRect">
            <a:avLst>
              <a:gd name="adj" fmla="val 6944"/>
            </a:avLst>
          </a:prstGeom>
          <a:solidFill>
            <a:srgbClr val="2EA891"/>
          </a:solidFill>
          <a:ln/>
        </p:spPr>
        <p:txBody>
          <a:bodyPr/>
          <a:p/>
        </p:txBody>
      </p:sp>
      <p:pic>
        <p:nvPicPr>
          <p:cNvPr id="18" name="Image 2" descr="preencoded.png">    </p:cNvPr>
          <p:cNvPicPr>
            <a:picLocks noChangeAspect="1"/>
          </p:cNvPicPr>
          <p:nvPr/>
        </p:nvPicPr>
        <p:blipFill>
          <a:blip r:embed="rId3"/>
          <a:stretch>
            <a:fillRect/>
          </a:stretch>
        </p:blipFill>
        <p:spPr>
          <a:xfrm>
            <a:off x="1005840" y="4114800"/>
            <a:ext cx="329184" cy="329184"/>
          </a:xfrm>
          <a:prstGeom prst="rect">
            <a:avLst/>
          </a:prstGeom>
        </p:spPr>
      </p:pic>
      <p:sp>
        <p:nvSpPr>
          <p:cNvPr id="19" name="Text 14"/>
          <p:cNvSpPr/>
          <p:nvPr/>
        </p:nvSpPr>
        <p:spPr>
          <a:xfrm>
            <a:off x="1691640" y="3931920"/>
            <a:ext cx="3899916" cy="457200"/>
          </a:xfrm>
          <a:prstGeom prst="rect">
            <a:avLst/>
          </a:prstGeom>
          <a:noFill/>
          <a:ln/>
        </p:spPr>
        <p:txBody>
          <a:bodyPr wrap="square" rtlCol="0" anchor="ctr"/>
          <a:lstStyle/>
          <a:p>
            <a:pPr indent="0" marL="0">
              <a:buNone/>
            </a:pPr>
            <a:r>
              <a:rPr lang="en-US" sz="2000" b="1" dirty="0">
                <a:solidFill>
                  <a:srgbClr val="232D5A"/>
                </a:solidFill>
                <a:latin typeface="Arial" pitchFamily="34" charset="0"/>
                <a:ea typeface="Arial" pitchFamily="34" charset="-122"/>
                <a:cs typeface="Arial" pitchFamily="34" charset="-120"/>
              </a:rPr>
              <a:t>Ed25519</a:t>
            </a:r>
            <a:endParaRPr lang="en-US" sz="2000" dirty="0"/>
          </a:p>
        </p:txBody>
      </p:sp>
      <p:sp>
        <p:nvSpPr>
          <p:cNvPr id="20" name="Text 15"/>
          <p:cNvSpPr/>
          <p:nvPr/>
        </p:nvSpPr>
        <p:spPr>
          <a:xfrm>
            <a:off x="841248" y="4709160"/>
            <a:ext cx="4722876" cy="320040"/>
          </a:xfrm>
          <a:prstGeom prst="rect">
            <a:avLst/>
          </a:prstGeom>
          <a:noFill/>
          <a:ln/>
        </p:spPr>
        <p:txBody>
          <a:bodyPr wrap="square" rtlCol="0" anchor="ctr"/>
          <a:lstStyle/>
          <a:p>
            <a:pPr indent="0" marL="0">
              <a:buNone/>
            </a:pPr>
            <a:r>
              <a:rPr lang="en-US" sz="1400" b="1" dirty="0">
                <a:solidFill>
                  <a:srgbClr val="2EA891"/>
                </a:solidFill>
                <a:latin typeface="Arial" pitchFamily="34" charset="0"/>
                <a:ea typeface="Arial" pitchFamily="34" charset="-122"/>
                <a:cs typeface="Arial" pitchFamily="34" charset="-120"/>
              </a:rPr>
              <a:t>Signed, re-derivable ledger</a:t>
            </a:r>
            <a:endParaRPr lang="en-US" sz="1400" dirty="0"/>
          </a:p>
        </p:txBody>
      </p:sp>
      <p:sp>
        <p:nvSpPr>
          <p:cNvPr id="21" name="Text 16"/>
          <p:cNvSpPr/>
          <p:nvPr/>
        </p:nvSpPr>
        <p:spPr>
          <a:xfrm>
            <a:off x="841248" y="5010912"/>
            <a:ext cx="4722876" cy="457200"/>
          </a:xfrm>
          <a:prstGeom prst="rect">
            <a:avLst/>
          </a:prstGeom>
          <a:noFill/>
          <a:ln/>
        </p:spPr>
        <p:txBody>
          <a:bodyPr wrap="square" rtlCol="0" anchor="ctr"/>
          <a:lstStyle/>
          <a:p>
            <a:pPr indent="0" marL="0">
              <a:buNone/>
            </a:pPr>
            <a:r>
              <a:rPr lang="en-US" sz="1200" dirty="0">
                <a:solidFill>
                  <a:srgbClr val="2E2E2E"/>
                </a:solidFill>
                <a:latin typeface="Arial" pitchFamily="34" charset="0"/>
                <a:ea typeface="Arial" pitchFamily="34" charset="-122"/>
                <a:cs typeface="Arial" pitchFamily="34" charset="-120"/>
              </a:rPr>
              <a:t>a hash-chained attestation any third party can independently reconstruct and check.</a:t>
            </a:r>
            <a:endParaRPr lang="en-US" sz="1200" dirty="0"/>
          </a:p>
        </p:txBody>
      </p:sp>
      <p:sp>
        <p:nvSpPr>
          <p:cNvPr id="22" name="Shape 17"/>
          <p:cNvSpPr/>
          <p:nvPr/>
        </p:nvSpPr>
        <p:spPr>
          <a:xfrm>
            <a:off x="6368796" y="3657600"/>
            <a:ext cx="5271516" cy="1874520"/>
          </a:xfrm>
          <a:prstGeom prst="roundRect">
            <a:avLst>
              <a:gd name="adj" fmla="val 1951"/>
            </a:avLst>
          </a:prstGeom>
          <a:solidFill>
            <a:srgbClr val="F0F0F0"/>
          </a:solidFill>
          <a:ln/>
          <a:effectLst>
            <a:outerShdw sx="100000" sy="100000" kx="0" ky="0" algn="bl" rotWithShape="0" blurRad="76200" dist="25400" dir="5400000">
              <a:srgbClr val="B9C0CE">
                <a:alpha val="30000"/>
              </a:srgbClr>
            </a:outerShdw>
          </a:effectLst>
        </p:spPr>
        <p:txBody>
          <a:bodyPr/>
          <a:p/>
        </p:txBody>
      </p:sp>
      <p:sp>
        <p:nvSpPr>
          <p:cNvPr id="23" name="Shape 18"/>
          <p:cNvSpPr/>
          <p:nvPr/>
        </p:nvSpPr>
        <p:spPr>
          <a:xfrm>
            <a:off x="6661404" y="3950208"/>
            <a:ext cx="658368" cy="658368"/>
          </a:xfrm>
          <a:prstGeom prst="roundRect">
            <a:avLst>
              <a:gd name="adj" fmla="val 6944"/>
            </a:avLst>
          </a:prstGeom>
          <a:solidFill>
            <a:srgbClr val="2EA891"/>
          </a:solidFill>
          <a:ln/>
        </p:spPr>
        <p:txBody>
          <a:bodyPr/>
          <a:p/>
        </p:txBody>
      </p:sp>
      <p:pic>
        <p:nvPicPr>
          <p:cNvPr id="24" name="Image 3" descr="preencoded.png">    </p:cNvPr>
          <p:cNvPicPr>
            <a:picLocks noChangeAspect="1"/>
          </p:cNvPicPr>
          <p:nvPr/>
        </p:nvPicPr>
        <p:blipFill>
          <a:blip r:embed="rId4"/>
          <a:stretch>
            <a:fillRect/>
          </a:stretch>
        </p:blipFill>
        <p:spPr>
          <a:xfrm>
            <a:off x="6825996" y="4114800"/>
            <a:ext cx="329184" cy="329184"/>
          </a:xfrm>
          <a:prstGeom prst="rect">
            <a:avLst/>
          </a:prstGeom>
        </p:spPr>
      </p:pic>
      <p:sp>
        <p:nvSpPr>
          <p:cNvPr id="25" name="Text 19"/>
          <p:cNvSpPr/>
          <p:nvPr/>
        </p:nvSpPr>
        <p:spPr>
          <a:xfrm>
            <a:off x="7511796" y="3931920"/>
            <a:ext cx="3899916" cy="457200"/>
          </a:xfrm>
          <a:prstGeom prst="rect">
            <a:avLst/>
          </a:prstGeom>
          <a:noFill/>
          <a:ln/>
        </p:spPr>
        <p:txBody>
          <a:bodyPr wrap="square" rtlCol="0" anchor="ctr"/>
          <a:lstStyle/>
          <a:p>
            <a:pPr indent="0" marL="0">
              <a:buNone/>
            </a:pPr>
            <a:r>
              <a:rPr lang="en-US" sz="2000" b="1" dirty="0">
                <a:solidFill>
                  <a:srgbClr val="232D5A"/>
                </a:solidFill>
                <a:latin typeface="Arial" pitchFamily="34" charset="0"/>
                <a:ea typeface="Arial" pitchFamily="34" charset="-122"/>
                <a:cs typeface="Arial" pitchFamily="34" charset="-120"/>
              </a:rPr>
              <a:t>Measured or withheld</a:t>
            </a:r>
            <a:endParaRPr lang="en-US" sz="2000" dirty="0"/>
          </a:p>
        </p:txBody>
      </p:sp>
      <p:sp>
        <p:nvSpPr>
          <p:cNvPr id="26" name="Text 20"/>
          <p:cNvSpPr/>
          <p:nvPr/>
        </p:nvSpPr>
        <p:spPr>
          <a:xfrm>
            <a:off x="6661404" y="4709160"/>
            <a:ext cx="4722876" cy="320040"/>
          </a:xfrm>
          <a:prstGeom prst="rect">
            <a:avLst/>
          </a:prstGeom>
          <a:noFill/>
          <a:ln/>
        </p:spPr>
        <p:txBody>
          <a:bodyPr wrap="square" rtlCol="0" anchor="ctr"/>
          <a:lstStyle/>
          <a:p>
            <a:pPr indent="0" marL="0">
              <a:buNone/>
            </a:pPr>
            <a:r>
              <a:rPr lang="en-US" sz="1400" b="1" dirty="0">
                <a:solidFill>
                  <a:srgbClr val="2EA891"/>
                </a:solidFill>
                <a:latin typeface="Arial" pitchFamily="34" charset="0"/>
                <a:ea typeface="Arial" pitchFamily="34" charset="-122"/>
                <a:cs typeface="Arial" pitchFamily="34" charset="-120"/>
              </a:rPr>
              <a:t>No estimated numbers</a:t>
            </a:r>
            <a:endParaRPr lang="en-US" sz="1400" dirty="0"/>
          </a:p>
        </p:txBody>
      </p:sp>
      <p:sp>
        <p:nvSpPr>
          <p:cNvPr id="27" name="Text 21"/>
          <p:cNvSpPr/>
          <p:nvPr/>
        </p:nvSpPr>
        <p:spPr>
          <a:xfrm>
            <a:off x="6661404" y="5010912"/>
            <a:ext cx="4722876" cy="457200"/>
          </a:xfrm>
          <a:prstGeom prst="rect">
            <a:avLst/>
          </a:prstGeom>
          <a:noFill/>
          <a:ln/>
        </p:spPr>
        <p:txBody>
          <a:bodyPr wrap="square" rtlCol="0" anchor="ctr"/>
          <a:lstStyle/>
          <a:p>
            <a:pPr indent="0" marL="0">
              <a:buNone/>
            </a:pPr>
            <a:r>
              <a:rPr lang="en-US" sz="1200" dirty="0">
                <a:solidFill>
                  <a:srgbClr val="2E2E2E"/>
                </a:solidFill>
                <a:latin typeface="Arial" pitchFamily="34" charset="0"/>
                <a:ea typeface="Arial" pitchFamily="34" charset="-122"/>
                <a:cs typeface="Arial" pitchFamily="34" charset="-120"/>
              </a:rPr>
              <a:t>every figure in a Relian report is measured or omitted — never guessed or padded.</a:t>
            </a:r>
            <a:endParaRPr lang="en-US" sz="1200" dirty="0"/>
          </a:p>
        </p:txBody>
      </p:sp>
      <p:sp>
        <p:nvSpPr>
          <p:cNvPr id="28" name="Text 22"/>
          <p:cNvSpPr/>
          <p:nvPr/>
        </p:nvSpPr>
        <p:spPr>
          <a:xfrm>
            <a:off x="548640" y="5669280"/>
            <a:ext cx="11091672" cy="320040"/>
          </a:xfrm>
          <a:prstGeom prst="rect">
            <a:avLst/>
          </a:prstGeom>
          <a:noFill/>
          <a:ln/>
        </p:spPr>
        <p:txBody>
          <a:bodyPr wrap="square" rtlCol="0" anchor="ctr"/>
          <a:lstStyle/>
          <a:p>
            <a:pPr algn="ctr" indent="0" marL="0">
              <a:buNone/>
            </a:pPr>
            <a:r>
              <a:rPr lang="en-US" sz="1300" i="1" dirty="0">
                <a:solidFill>
                  <a:srgbClr val="232D5A"/>
                </a:solidFill>
                <a:latin typeface="Arial" pitchFamily="34" charset="0"/>
                <a:ea typeface="Arial" pitchFamily="34" charset="-122"/>
                <a:cs typeface="Arial" pitchFamily="34" charset="-120"/>
              </a:rPr>
              <a:t>The evidence discipline is the compliance program — the same records satisfy an auditor, an IG, and a board.</a:t>
            </a:r>
            <a:endParaRPr lang="en-US" sz="1300" dirty="0"/>
          </a:p>
        </p:txBody>
      </p:sp>
      <p:sp>
        <p:nvSpPr>
          <p:cNvPr id="29" name="Shape 23"/>
          <p:cNvSpPr/>
          <p:nvPr/>
        </p:nvSpPr>
        <p:spPr>
          <a:xfrm>
            <a:off x="548640" y="6364224"/>
            <a:ext cx="11091672" cy="25603"/>
          </a:xfrm>
          <a:prstGeom prst="rect">
            <a:avLst/>
          </a:prstGeom>
          <a:solidFill>
            <a:srgbClr val="F7B801"/>
          </a:solidFill>
          <a:ln/>
        </p:spPr>
        <p:txBody>
          <a:bodyPr/>
          <a:p/>
        </p:txBody>
      </p:sp>
      <p:sp>
        <p:nvSpPr>
          <p:cNvPr id="36" name="Text 30"/>
          <p:cNvSpPr/>
          <p:nvPr/>
        </p:nvSpPr>
        <p:spPr>
          <a:xfrm>
            <a:off x="7982712" y="6455664"/>
            <a:ext cx="3108960" cy="292608"/>
          </a:xfrm>
          <a:prstGeom prst="rect">
            <a:avLst/>
          </a:prstGeom>
          <a:noFill/>
          <a:ln/>
        </p:spPr>
        <p:txBody>
          <a:bodyPr wrap="square" rtlCol="0" anchor="ctr"/>
          <a:lstStyle/>
          <a:p>
            <a:pPr algn="r" indent="0" marL="0">
              <a:buNone/>
            </a:pPr>
            <a:r>
              <a:rPr lang="en-US" sz="900" dirty="0">
                <a:solidFill>
                  <a:srgbClr val="8892A4"/>
                </a:solidFill>
                <a:latin typeface="Arial" pitchFamily="34" charset="0"/>
                <a:ea typeface="Arial" pitchFamily="34" charset="-122"/>
                <a:cs typeface="Arial" pitchFamily="34" charset="-120"/>
              </a:rPr>
              <a:t>Relian™  ·  Visionblox LLC</a:t>
            </a:r>
            <a:endParaRPr lang="en-US" sz="900" dirty="0"/>
          </a:p>
        </p:txBody>
      </p:sp>
      <p:sp>
        <p:nvSpPr>
          <p:cNvPr id="37" name="Text 31"/>
          <p:cNvSpPr/>
          <p:nvPr/>
        </p:nvSpPr>
        <p:spPr>
          <a:xfrm>
            <a:off x="11183112" y="6455664"/>
            <a:ext cx="457200" cy="292608"/>
          </a:xfrm>
          <a:prstGeom prst="rect">
            <a:avLst/>
          </a:prstGeom>
          <a:noFill/>
          <a:ln/>
        </p:spPr>
        <p:txBody>
          <a:bodyPr wrap="square" rtlCol="0" anchor="ctr"/>
          <a:lstStyle/>
          <a:p>
            <a:pPr algn="r" indent="0" marL="0">
              <a:buNone/>
            </a:pPr>
            <a:r>
              <a:rPr lang="en-US" sz="900" dirty="0">
                <a:solidFill>
                  <a:srgbClr val="8892A4"/>
                </a:solidFill>
                <a:latin typeface="Arial" pitchFamily="34" charset="0"/>
                <a:ea typeface="Arial" pitchFamily="34" charset="-122"/>
                <a:cs typeface="Arial" pitchFamily="34" charset="-120"/>
              </a:rPr>
              <a:t>7</a:t>
            </a:r>
            <a:endParaRPr lang="en-US" sz="900" dirty="0"/>
          </a:p>
        </p:txBody>
      </p:sp>
      <p:pic>
        <p:nvPicPr>
          <p:cNvPr id="38" name="Picture 37" descr="visionblox-logo.png"/>
          <p:cNvPicPr>
            <a:picLocks noChangeAspect="1"/>
          </p:cNvPicPr>
          <p:nvPr/>
        </p:nvPicPr>
        <p:blipFill>
          <a:blip r:embed="rId7"/>
          <a:stretch>
            <a:fillRect/>
          </a:stretch>
        </p:blipFill>
        <p:spPr>
          <a:xfrm>
            <a:off x="548640" y="6391656"/>
            <a:ext cx="914400" cy="38510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EA891"/>
                </a:solidFill>
                <a:latin typeface="Arial" pitchFamily="34" charset="0"/>
                <a:ea typeface="Arial" pitchFamily="34" charset="-122"/>
                <a:cs typeface="Arial" pitchFamily="34" charset="-120"/>
              </a:rPr>
              <a:t>COMMERCIAL</a:t>
            </a:r>
            <a:endParaRPr lang="en-US" sz="1200" dirty="0"/>
          </a:p>
        </p:txBody>
      </p:sp>
      <p:sp>
        <p:nvSpPr>
          <p:cNvPr id="3" name="Text 1"/>
          <p:cNvSpPr/>
          <p:nvPr/>
        </p:nvSpPr>
        <p:spPr>
          <a:xfrm>
            <a:off x="548640" y="749808"/>
            <a:ext cx="11091672" cy="731520"/>
          </a:xfrm>
          <a:prstGeom prst="rect">
            <a:avLst/>
          </a:prstGeom>
          <a:noFill/>
          <a:ln/>
        </p:spPr>
        <p:txBody>
          <a:bodyPr wrap="square" rtlCol="0" anchor="ctr"/>
          <a:lstStyle/>
          <a:p>
            <a:pPr indent="0" marL="0">
              <a:buNone/>
            </a:pPr>
            <a:r>
              <a:rPr lang="en-US" sz="2700" b="1" dirty="0">
                <a:solidFill>
                  <a:srgbClr val="232D5A"/>
                </a:solidFill>
                <a:latin typeface="Arial" pitchFamily="34" charset="0"/>
                <a:ea typeface="Arial" pitchFamily="34" charset="-122"/>
                <a:cs typeface="Arial" pitchFamily="34" charset="-120"/>
              </a:rPr>
              <a:t>For enterprises carrying legacy risk</a:t>
            </a:r>
            <a:endParaRPr lang="en-US" sz="2700" dirty="0"/>
          </a:p>
        </p:txBody>
      </p:sp>
      <p:sp>
        <p:nvSpPr>
          <p:cNvPr id="4" name="Text 2"/>
          <p:cNvSpPr/>
          <p:nvPr/>
        </p:nvSpPr>
        <p:spPr>
          <a:xfrm>
            <a:off x="548640" y="1481328"/>
            <a:ext cx="11091672" cy="457200"/>
          </a:xfrm>
          <a:prstGeom prst="rect">
            <a:avLst/>
          </a:prstGeom>
          <a:noFill/>
          <a:ln/>
        </p:spPr>
        <p:txBody>
          <a:bodyPr wrap="square" rtlCol="0" anchor="ctr"/>
          <a:lstStyle/>
          <a:p>
            <a:pPr indent="0" marL="0">
              <a:buNone/>
            </a:pPr>
            <a:r>
              <a:rPr lang="en-US" sz="1400" i="1" dirty="0">
                <a:solidFill>
                  <a:srgbClr val="8892A4"/>
                </a:solidFill>
                <a:latin typeface="Arial" pitchFamily="34" charset="0"/>
                <a:ea typeface="Arial" pitchFamily="34" charset="-122"/>
                <a:cs typeface="Arial" pitchFamily="34" charset="-120"/>
              </a:rPr>
              <a:t>Banks, insurers, healthcare payers, manufacturers, and software vendors modernizing mainframe or aging code.</a:t>
            </a:r>
            <a:endParaRPr lang="en-US" sz="1400" dirty="0"/>
          </a:p>
        </p:txBody>
      </p:sp>
      <p:sp>
        <p:nvSpPr>
          <p:cNvPr id="5" name="Shape 3"/>
          <p:cNvSpPr/>
          <p:nvPr/>
        </p:nvSpPr>
        <p:spPr>
          <a:xfrm>
            <a:off x="548640" y="2148840"/>
            <a:ext cx="11091672" cy="960120"/>
          </a:xfrm>
          <a:prstGeom prst="roundRect">
            <a:avLst>
              <a:gd name="adj" fmla="val 3810"/>
            </a:avLst>
          </a:prstGeom>
          <a:solidFill>
            <a:srgbClr val="F0F0F0"/>
          </a:solidFill>
          <a:ln/>
        </p:spPr>
        <p:txBody>
          <a:bodyPr/>
          <a:p/>
        </p:txBody>
      </p:sp>
      <p:sp>
        <p:nvSpPr>
          <p:cNvPr id="6" name="Shape 4"/>
          <p:cNvSpPr/>
          <p:nvPr/>
        </p:nvSpPr>
        <p:spPr>
          <a:xfrm>
            <a:off x="804672" y="2308860"/>
            <a:ext cx="640080" cy="640080"/>
          </a:xfrm>
          <a:prstGeom prst="roundRect">
            <a:avLst>
              <a:gd name="adj" fmla="val 7143"/>
            </a:avLst>
          </a:prstGeom>
          <a:solidFill>
            <a:srgbClr val="232D5A"/>
          </a:solidFill>
          <a:ln/>
        </p:spPr>
        <p:txBody>
          <a:bodyPr/>
          <a:p/>
        </p:txBody>
      </p:sp>
      <p:pic>
        <p:nvPicPr>
          <p:cNvPr id="7" name="Image 0" descr="preencoded.png">    </p:cNvPr>
          <p:cNvPicPr>
            <a:picLocks noChangeAspect="1"/>
          </p:cNvPicPr>
          <p:nvPr/>
        </p:nvPicPr>
        <p:blipFill>
          <a:blip r:embed="rId1"/>
          <a:stretch>
            <a:fillRect/>
          </a:stretch>
        </p:blipFill>
        <p:spPr>
          <a:xfrm>
            <a:off x="964692" y="2468880"/>
            <a:ext cx="320040" cy="320040"/>
          </a:xfrm>
          <a:prstGeom prst="rect">
            <a:avLst/>
          </a:prstGeom>
        </p:spPr>
      </p:pic>
      <p:sp>
        <p:nvSpPr>
          <p:cNvPr id="8" name="Text 5"/>
          <p:cNvSpPr/>
          <p:nvPr/>
        </p:nvSpPr>
        <p:spPr>
          <a:xfrm>
            <a:off x="1691640" y="2295144"/>
            <a:ext cx="9720072" cy="320040"/>
          </a:xfrm>
          <a:prstGeom prst="rect">
            <a:avLst/>
          </a:prstGeom>
          <a:noFill/>
          <a:ln/>
        </p:spPr>
        <p:txBody>
          <a:bodyPr wrap="square" rtlCol="0" anchor="ctr"/>
          <a:lstStyle/>
          <a:p>
            <a:pPr indent="0" marL="0">
              <a:buNone/>
            </a:pPr>
            <a:r>
              <a:rPr lang="en-US" sz="1500" b="1" dirty="0">
                <a:solidFill>
                  <a:srgbClr val="232D5A"/>
                </a:solidFill>
                <a:latin typeface="Arial" pitchFamily="34" charset="0"/>
                <a:ea typeface="Arial" pitchFamily="34" charset="-122"/>
                <a:cs typeface="Arial" pitchFamily="34" charset="-120"/>
              </a:rPr>
              <a:t>Mainframe &amp; COBOL modernization</a:t>
            </a:r>
            <a:endParaRPr lang="en-US" sz="1500" dirty="0"/>
          </a:p>
        </p:txBody>
      </p:sp>
      <p:sp>
        <p:nvSpPr>
          <p:cNvPr id="9" name="Text 6"/>
          <p:cNvSpPr/>
          <p:nvPr/>
        </p:nvSpPr>
        <p:spPr>
          <a:xfrm>
            <a:off x="1691640" y="2624328"/>
            <a:ext cx="9720072" cy="384048"/>
          </a:xfrm>
          <a:prstGeom prst="rect">
            <a:avLst/>
          </a:prstGeom>
          <a:noFill/>
          <a:ln/>
        </p:spPr>
        <p:txBody>
          <a:bodyPr wrap="square" rtlCol="0" anchor="ctr"/>
          <a:lstStyle/>
          <a:p>
            <a:pPr indent="0" marL="0">
              <a:buNone/>
            </a:pPr>
            <a:r>
              <a:rPr lang="en-US" sz="1250" dirty="0">
                <a:solidFill>
                  <a:srgbClr val="2E2E2E"/>
                </a:solidFill>
                <a:latin typeface="Arial" pitchFamily="34" charset="0"/>
                <a:ea typeface="Arial" pitchFamily="34" charset="-122"/>
                <a:cs typeface="Arial" pitchFamily="34" charset="-120"/>
              </a:rPr>
              <a:t>Retire legacy risk with board- and auditor-ready proof that the new system behaves identically.</a:t>
            </a:r>
            <a:endParaRPr lang="en-US" sz="1250" dirty="0"/>
          </a:p>
        </p:txBody>
      </p:sp>
      <p:sp>
        <p:nvSpPr>
          <p:cNvPr id="10" name="Shape 7"/>
          <p:cNvSpPr/>
          <p:nvPr/>
        </p:nvSpPr>
        <p:spPr>
          <a:xfrm>
            <a:off x="548640" y="3273552"/>
            <a:ext cx="11091672" cy="960120"/>
          </a:xfrm>
          <a:prstGeom prst="roundRect">
            <a:avLst>
              <a:gd name="adj" fmla="val 3810"/>
            </a:avLst>
          </a:prstGeom>
          <a:solidFill>
            <a:srgbClr val="F0F0F0"/>
          </a:solidFill>
          <a:ln/>
        </p:spPr>
        <p:txBody>
          <a:bodyPr/>
          <a:p/>
        </p:txBody>
      </p:sp>
      <p:sp>
        <p:nvSpPr>
          <p:cNvPr id="11" name="Shape 8"/>
          <p:cNvSpPr/>
          <p:nvPr/>
        </p:nvSpPr>
        <p:spPr>
          <a:xfrm>
            <a:off x="804672" y="3433572"/>
            <a:ext cx="640080" cy="640080"/>
          </a:xfrm>
          <a:prstGeom prst="roundRect">
            <a:avLst>
              <a:gd name="adj" fmla="val 7143"/>
            </a:avLst>
          </a:prstGeom>
          <a:solidFill>
            <a:srgbClr val="232D5A"/>
          </a:solidFill>
          <a:ln/>
        </p:spPr>
        <p:txBody>
          <a:bodyPr/>
          <a:p/>
        </p:txBody>
      </p:sp>
      <p:pic>
        <p:nvPicPr>
          <p:cNvPr id="12" name="Image 1" descr="preencoded.png">    </p:cNvPr>
          <p:cNvPicPr>
            <a:picLocks noChangeAspect="1"/>
          </p:cNvPicPr>
          <p:nvPr/>
        </p:nvPicPr>
        <p:blipFill>
          <a:blip r:embed="rId2"/>
          <a:stretch>
            <a:fillRect/>
          </a:stretch>
        </p:blipFill>
        <p:spPr>
          <a:xfrm>
            <a:off x="964692" y="3593592"/>
            <a:ext cx="320040" cy="320040"/>
          </a:xfrm>
          <a:prstGeom prst="rect">
            <a:avLst/>
          </a:prstGeom>
        </p:spPr>
      </p:pic>
      <p:sp>
        <p:nvSpPr>
          <p:cNvPr id="13" name="Text 9"/>
          <p:cNvSpPr/>
          <p:nvPr/>
        </p:nvSpPr>
        <p:spPr>
          <a:xfrm>
            <a:off x="1691640" y="3419856"/>
            <a:ext cx="9720072" cy="320040"/>
          </a:xfrm>
          <a:prstGeom prst="rect">
            <a:avLst/>
          </a:prstGeom>
          <a:noFill/>
          <a:ln/>
        </p:spPr>
        <p:txBody>
          <a:bodyPr wrap="square" rtlCol="0" anchor="ctr"/>
          <a:lstStyle/>
          <a:p>
            <a:pPr indent="0" marL="0">
              <a:buNone/>
            </a:pPr>
            <a:r>
              <a:rPr lang="en-US" sz="1500" b="1" dirty="0">
                <a:solidFill>
                  <a:srgbClr val="232D5A"/>
                </a:solidFill>
                <a:latin typeface="Arial" pitchFamily="34" charset="0"/>
                <a:ea typeface="Arial" pitchFamily="34" charset="-122"/>
                <a:cs typeface="Arial" pitchFamily="34" charset="-120"/>
              </a:rPr>
              <a:t>M&amp;A &amp; technology due diligence</a:t>
            </a:r>
            <a:endParaRPr lang="en-US" sz="1500" dirty="0"/>
          </a:p>
        </p:txBody>
      </p:sp>
      <p:sp>
        <p:nvSpPr>
          <p:cNvPr id="14" name="Text 10"/>
          <p:cNvSpPr/>
          <p:nvPr/>
        </p:nvSpPr>
        <p:spPr>
          <a:xfrm>
            <a:off x="1691640" y="3749040"/>
            <a:ext cx="9720072" cy="384048"/>
          </a:xfrm>
          <a:prstGeom prst="rect">
            <a:avLst/>
          </a:prstGeom>
          <a:noFill/>
          <a:ln/>
        </p:spPr>
        <p:txBody>
          <a:bodyPr wrap="square" rtlCol="0" anchor="ctr"/>
          <a:lstStyle/>
          <a:p>
            <a:pPr indent="0" marL="0">
              <a:buNone/>
            </a:pPr>
            <a:r>
              <a:rPr lang="en-US" sz="1250" dirty="0">
                <a:solidFill>
                  <a:srgbClr val="2E2E2E"/>
                </a:solidFill>
                <a:latin typeface="Arial" pitchFamily="34" charset="0"/>
                <a:ea typeface="Arial" pitchFamily="34" charset="-122"/>
                <a:cs typeface="Arial" pitchFamily="34" charset="-120"/>
              </a:rPr>
              <a:t>Attest that an acquired codebase’s modernization preserved behavior — evidence for the deal file.</a:t>
            </a:r>
            <a:endParaRPr lang="en-US" sz="1250" dirty="0"/>
          </a:p>
        </p:txBody>
      </p:sp>
      <p:sp>
        <p:nvSpPr>
          <p:cNvPr id="15" name="Shape 11"/>
          <p:cNvSpPr/>
          <p:nvPr/>
        </p:nvSpPr>
        <p:spPr>
          <a:xfrm>
            <a:off x="548640" y="4398264"/>
            <a:ext cx="11091672" cy="960120"/>
          </a:xfrm>
          <a:prstGeom prst="roundRect">
            <a:avLst>
              <a:gd name="adj" fmla="val 3810"/>
            </a:avLst>
          </a:prstGeom>
          <a:solidFill>
            <a:srgbClr val="F0F0F0"/>
          </a:solidFill>
          <a:ln/>
        </p:spPr>
        <p:txBody>
          <a:bodyPr/>
          <a:p/>
        </p:txBody>
      </p:sp>
      <p:sp>
        <p:nvSpPr>
          <p:cNvPr id="16" name="Shape 12"/>
          <p:cNvSpPr/>
          <p:nvPr/>
        </p:nvSpPr>
        <p:spPr>
          <a:xfrm>
            <a:off x="804672" y="4558284"/>
            <a:ext cx="640080" cy="640080"/>
          </a:xfrm>
          <a:prstGeom prst="roundRect">
            <a:avLst>
              <a:gd name="adj" fmla="val 7143"/>
            </a:avLst>
          </a:prstGeom>
          <a:solidFill>
            <a:srgbClr val="232D5A"/>
          </a:solidFill>
          <a:ln/>
        </p:spPr>
        <p:txBody>
          <a:bodyPr/>
          <a:p/>
        </p:txBody>
      </p:sp>
      <p:pic>
        <p:nvPicPr>
          <p:cNvPr id="17" name="Image 2" descr="preencoded.png">    </p:cNvPr>
          <p:cNvPicPr>
            <a:picLocks noChangeAspect="1"/>
          </p:cNvPicPr>
          <p:nvPr/>
        </p:nvPicPr>
        <p:blipFill>
          <a:blip r:embed="rId3"/>
          <a:stretch>
            <a:fillRect/>
          </a:stretch>
        </p:blipFill>
        <p:spPr>
          <a:xfrm>
            <a:off x="964692" y="4718304"/>
            <a:ext cx="320040" cy="320040"/>
          </a:xfrm>
          <a:prstGeom prst="rect">
            <a:avLst/>
          </a:prstGeom>
        </p:spPr>
      </p:pic>
      <p:sp>
        <p:nvSpPr>
          <p:cNvPr id="18" name="Text 13"/>
          <p:cNvSpPr/>
          <p:nvPr/>
        </p:nvSpPr>
        <p:spPr>
          <a:xfrm>
            <a:off x="1691640" y="4544568"/>
            <a:ext cx="9720072" cy="320040"/>
          </a:xfrm>
          <a:prstGeom prst="rect">
            <a:avLst/>
          </a:prstGeom>
          <a:noFill/>
          <a:ln/>
        </p:spPr>
        <p:txBody>
          <a:bodyPr wrap="square" rtlCol="0" anchor="ctr"/>
          <a:lstStyle/>
          <a:p>
            <a:pPr indent="0" marL="0">
              <a:buNone/>
            </a:pPr>
            <a:r>
              <a:rPr lang="en-US" sz="1500" b="1" dirty="0">
                <a:solidFill>
                  <a:srgbClr val="232D5A"/>
                </a:solidFill>
                <a:latin typeface="Arial" pitchFamily="34" charset="0"/>
                <a:ea typeface="Arial" pitchFamily="34" charset="-122"/>
                <a:cs typeface="Arial" pitchFamily="34" charset="-120"/>
              </a:rPr>
              <a:t>Regulatory &amp; audit assurance</a:t>
            </a:r>
            <a:endParaRPr lang="en-US" sz="1500" dirty="0"/>
          </a:p>
        </p:txBody>
      </p:sp>
      <p:sp>
        <p:nvSpPr>
          <p:cNvPr id="19" name="Text 14"/>
          <p:cNvSpPr/>
          <p:nvPr/>
        </p:nvSpPr>
        <p:spPr>
          <a:xfrm>
            <a:off x="1691640" y="4873752"/>
            <a:ext cx="9720072" cy="384048"/>
          </a:xfrm>
          <a:prstGeom prst="rect">
            <a:avLst/>
          </a:prstGeom>
          <a:noFill/>
          <a:ln/>
        </p:spPr>
        <p:txBody>
          <a:bodyPr wrap="square" rtlCol="0" anchor="ctr"/>
          <a:lstStyle/>
          <a:p>
            <a:pPr indent="0" marL="0">
              <a:buNone/>
            </a:pPr>
            <a:r>
              <a:rPr lang="en-US" sz="1250" dirty="0">
                <a:solidFill>
                  <a:srgbClr val="2E2E2E"/>
                </a:solidFill>
                <a:latin typeface="Arial" pitchFamily="34" charset="0"/>
                <a:ea typeface="Arial" pitchFamily="34" charset="-122"/>
                <a:cs typeface="Arial" pitchFamily="34" charset="-120"/>
              </a:rPr>
              <a:t>Hand examiners a signed equivalence record instead of a vendor’s assertion.</a:t>
            </a:r>
            <a:endParaRPr lang="en-US" sz="1250" dirty="0"/>
          </a:p>
        </p:txBody>
      </p:sp>
      <p:sp>
        <p:nvSpPr>
          <p:cNvPr id="20" name="Shape 15"/>
          <p:cNvSpPr/>
          <p:nvPr/>
        </p:nvSpPr>
        <p:spPr>
          <a:xfrm>
            <a:off x="548640" y="5541264"/>
            <a:ext cx="11091672" cy="566928"/>
          </a:xfrm>
          <a:prstGeom prst="roundRect">
            <a:avLst>
              <a:gd name="adj" fmla="val 6452"/>
            </a:avLst>
          </a:prstGeom>
          <a:solidFill>
            <a:srgbClr val="E7F5F1"/>
          </a:solidFill>
          <a:ln w="12700">
            <a:solidFill>
              <a:srgbClr val="2EA891"/>
            </a:solidFill>
            <a:prstDash val="solid"/>
          </a:ln>
        </p:spPr>
        <p:txBody>
          <a:bodyPr/>
          <a:p/>
        </p:txBody>
      </p:sp>
      <p:sp>
        <p:nvSpPr>
          <p:cNvPr id="21" name="Text 16"/>
          <p:cNvSpPr/>
          <p:nvPr/>
        </p:nvSpPr>
        <p:spPr>
          <a:xfrm>
            <a:off x="822960" y="5541264"/>
            <a:ext cx="10543032" cy="566928"/>
          </a:xfrm>
          <a:prstGeom prst="rect">
            <a:avLst/>
          </a:prstGeom>
          <a:noFill/>
          <a:ln/>
        </p:spPr>
        <p:txBody>
          <a:bodyPr wrap="square" rtlCol="0" anchor="ctr"/>
          <a:lstStyle/>
          <a:p>
            <a:pPr indent="0" marL="0">
              <a:buNone/>
            </a:pPr>
            <a:r>
              <a:rPr lang="en-US" sz="1250" b="1" spc="100" kern="0" dirty="0">
                <a:solidFill>
                  <a:srgbClr val="2EA891"/>
                </a:solidFill>
                <a:latin typeface="Arial" pitchFamily="34" charset="0"/>
                <a:ea typeface="Arial" pitchFamily="34" charset="-122"/>
                <a:cs typeface="Arial" pitchFamily="34" charset="-120"/>
              </a:rPr>
              <a:t>VALUE   </a:t>
            </a:r>
            <a:pPr indent="0" marL="0">
              <a:buNone/>
            </a:pPr>
            <a:r>
              <a:rPr lang="en-US" sz="1250" b="1" dirty="0">
                <a:solidFill>
                  <a:srgbClr val="232D5A"/>
                </a:solidFill>
                <a:latin typeface="Arial" pitchFamily="34" charset="0"/>
                <a:ea typeface="Arial" pitchFamily="34" charset="-122"/>
                <a:cs typeface="Arial" pitchFamily="34" charset="-120"/>
              </a:rPr>
              <a:t>Keep your source and IP in-house. Replace “trust the vendor” with evidence you own.</a:t>
            </a:r>
            <a:endParaRPr lang="en-US" sz="1250" dirty="0"/>
          </a:p>
        </p:txBody>
      </p:sp>
      <p:sp>
        <p:nvSpPr>
          <p:cNvPr id="22" name="Shape 17"/>
          <p:cNvSpPr/>
          <p:nvPr/>
        </p:nvSpPr>
        <p:spPr>
          <a:xfrm>
            <a:off x="548640" y="6364224"/>
            <a:ext cx="11091672" cy="25603"/>
          </a:xfrm>
          <a:prstGeom prst="rect">
            <a:avLst/>
          </a:prstGeom>
          <a:solidFill>
            <a:srgbClr val="F7B801"/>
          </a:solidFill>
          <a:ln/>
        </p:spPr>
        <p:txBody>
          <a:bodyPr/>
          <a:p/>
        </p:txBody>
      </p:sp>
      <p:sp>
        <p:nvSpPr>
          <p:cNvPr id="29" name="Text 24"/>
          <p:cNvSpPr/>
          <p:nvPr/>
        </p:nvSpPr>
        <p:spPr>
          <a:xfrm>
            <a:off x="7982712" y="6455664"/>
            <a:ext cx="3108960" cy="292608"/>
          </a:xfrm>
          <a:prstGeom prst="rect">
            <a:avLst/>
          </a:prstGeom>
          <a:noFill/>
          <a:ln/>
        </p:spPr>
        <p:txBody>
          <a:bodyPr wrap="square" rtlCol="0" anchor="ctr"/>
          <a:lstStyle/>
          <a:p>
            <a:pPr algn="r" indent="0" marL="0">
              <a:buNone/>
            </a:pPr>
            <a:r>
              <a:rPr lang="en-US" sz="900" dirty="0">
                <a:solidFill>
                  <a:srgbClr val="8892A4"/>
                </a:solidFill>
                <a:latin typeface="Arial" pitchFamily="34" charset="0"/>
                <a:ea typeface="Arial" pitchFamily="34" charset="-122"/>
                <a:cs typeface="Arial" pitchFamily="34" charset="-120"/>
              </a:rPr>
              <a:t>Relian™  ·  Visionblox LLC</a:t>
            </a:r>
            <a:endParaRPr lang="en-US" sz="900" dirty="0"/>
          </a:p>
        </p:txBody>
      </p:sp>
      <p:sp>
        <p:nvSpPr>
          <p:cNvPr id="30" name="Text 25"/>
          <p:cNvSpPr/>
          <p:nvPr/>
        </p:nvSpPr>
        <p:spPr>
          <a:xfrm>
            <a:off x="11183112" y="6455664"/>
            <a:ext cx="457200" cy="292608"/>
          </a:xfrm>
          <a:prstGeom prst="rect">
            <a:avLst/>
          </a:prstGeom>
          <a:noFill/>
          <a:ln/>
        </p:spPr>
        <p:txBody>
          <a:bodyPr wrap="square" rtlCol="0" anchor="ctr"/>
          <a:lstStyle/>
          <a:p>
            <a:pPr algn="r" indent="0" marL="0">
              <a:buNone/>
            </a:pPr>
            <a:r>
              <a:rPr lang="en-US" sz="900" dirty="0">
                <a:solidFill>
                  <a:srgbClr val="8892A4"/>
                </a:solidFill>
                <a:latin typeface="Arial" pitchFamily="34" charset="0"/>
                <a:ea typeface="Arial" pitchFamily="34" charset="-122"/>
                <a:cs typeface="Arial" pitchFamily="34" charset="-120"/>
              </a:rPr>
              <a:t>8</a:t>
            </a:r>
            <a:endParaRPr lang="en-US" sz="900" dirty="0"/>
          </a:p>
        </p:txBody>
      </p:sp>
      <p:pic>
        <p:nvPicPr>
          <p:cNvPr id="31" name="Picture 30" descr="visionblox-logo.png"/>
          <p:cNvPicPr>
            <a:picLocks noChangeAspect="1"/>
          </p:cNvPicPr>
          <p:nvPr/>
        </p:nvPicPr>
        <p:blipFill>
          <a:blip r:embed="rId6"/>
          <a:stretch>
            <a:fillRect/>
          </a:stretch>
        </p:blipFill>
        <p:spPr>
          <a:xfrm>
            <a:off x="548640" y="6391656"/>
            <a:ext cx="914400" cy="38510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EA891"/>
                </a:solidFill>
                <a:latin typeface="Arial" pitchFamily="34" charset="0"/>
                <a:ea typeface="Arial" pitchFamily="34" charset="-122"/>
                <a:cs typeface="Arial" pitchFamily="34" charset="-120"/>
              </a:rPr>
              <a:t>STATE · LOCAL · EDUCATION</a:t>
            </a:r>
            <a:endParaRPr lang="en-US" sz="1200" dirty="0"/>
          </a:p>
        </p:txBody>
      </p:sp>
      <p:sp>
        <p:nvSpPr>
          <p:cNvPr id="3" name="Text 1"/>
          <p:cNvSpPr/>
          <p:nvPr/>
        </p:nvSpPr>
        <p:spPr>
          <a:xfrm>
            <a:off x="548640" y="749808"/>
            <a:ext cx="11091672" cy="731520"/>
          </a:xfrm>
          <a:prstGeom prst="rect">
            <a:avLst/>
          </a:prstGeom>
          <a:noFill/>
          <a:ln/>
        </p:spPr>
        <p:txBody>
          <a:bodyPr wrap="square" rtlCol="0" anchor="ctr"/>
          <a:lstStyle/>
          <a:p>
            <a:pPr indent="0" marL="0">
              <a:buNone/>
            </a:pPr>
            <a:r>
              <a:rPr lang="en-US" sz="2700" b="1" dirty="0">
                <a:solidFill>
                  <a:srgbClr val="232D5A"/>
                </a:solidFill>
                <a:latin typeface="Arial" pitchFamily="34" charset="0"/>
                <a:ea typeface="Arial" pitchFamily="34" charset="-122"/>
                <a:cs typeface="Arial" pitchFamily="34" charset="-120"/>
              </a:rPr>
              <a:t>For governments modernizing citizen systems</a:t>
            </a:r>
            <a:endParaRPr lang="en-US" sz="2700" dirty="0"/>
          </a:p>
        </p:txBody>
      </p:sp>
      <p:sp>
        <p:nvSpPr>
          <p:cNvPr id="4" name="Text 2"/>
          <p:cNvSpPr/>
          <p:nvPr/>
        </p:nvSpPr>
        <p:spPr>
          <a:xfrm>
            <a:off x="548640" y="1481328"/>
            <a:ext cx="11091672" cy="457200"/>
          </a:xfrm>
          <a:prstGeom prst="rect">
            <a:avLst/>
          </a:prstGeom>
          <a:noFill/>
          <a:ln/>
        </p:spPr>
        <p:txBody>
          <a:bodyPr wrap="square" rtlCol="0" anchor="ctr"/>
          <a:lstStyle/>
          <a:p>
            <a:pPr indent="0" marL="0">
              <a:buNone/>
            </a:pPr>
            <a:r>
              <a:rPr lang="en-US" sz="1400" i="1" dirty="0">
                <a:solidFill>
                  <a:srgbClr val="8892A4"/>
                </a:solidFill>
                <a:latin typeface="Arial" pitchFamily="34" charset="0"/>
                <a:ea typeface="Arial" pitchFamily="34" charset="-122"/>
                <a:cs typeface="Arial" pitchFamily="34" charset="-120"/>
              </a:rPr>
              <a:t>State agencies, counties and cities, school districts, and tribal governments.</a:t>
            </a:r>
            <a:endParaRPr lang="en-US" sz="1400" dirty="0"/>
          </a:p>
        </p:txBody>
      </p:sp>
      <p:sp>
        <p:nvSpPr>
          <p:cNvPr id="5" name="Shape 3"/>
          <p:cNvSpPr/>
          <p:nvPr/>
        </p:nvSpPr>
        <p:spPr>
          <a:xfrm>
            <a:off x="548640" y="2148840"/>
            <a:ext cx="11091672" cy="960120"/>
          </a:xfrm>
          <a:prstGeom prst="roundRect">
            <a:avLst>
              <a:gd name="adj" fmla="val 3810"/>
            </a:avLst>
          </a:prstGeom>
          <a:solidFill>
            <a:srgbClr val="F0F0F0"/>
          </a:solidFill>
          <a:ln/>
        </p:spPr>
        <p:txBody>
          <a:bodyPr/>
          <a:p/>
        </p:txBody>
      </p:sp>
      <p:sp>
        <p:nvSpPr>
          <p:cNvPr id="6" name="Shape 4"/>
          <p:cNvSpPr/>
          <p:nvPr/>
        </p:nvSpPr>
        <p:spPr>
          <a:xfrm>
            <a:off x="804672" y="2308860"/>
            <a:ext cx="640080" cy="640080"/>
          </a:xfrm>
          <a:prstGeom prst="roundRect">
            <a:avLst>
              <a:gd name="adj" fmla="val 7143"/>
            </a:avLst>
          </a:prstGeom>
          <a:solidFill>
            <a:srgbClr val="232D5A"/>
          </a:solidFill>
          <a:ln/>
        </p:spPr>
        <p:txBody>
          <a:bodyPr/>
          <a:p/>
        </p:txBody>
      </p:sp>
      <p:pic>
        <p:nvPicPr>
          <p:cNvPr id="7" name="Image 0" descr="preencoded.png">    </p:cNvPr>
          <p:cNvPicPr>
            <a:picLocks noChangeAspect="1"/>
          </p:cNvPicPr>
          <p:nvPr/>
        </p:nvPicPr>
        <p:blipFill>
          <a:blip r:embed="rId1"/>
          <a:stretch>
            <a:fillRect/>
          </a:stretch>
        </p:blipFill>
        <p:spPr>
          <a:xfrm>
            <a:off x="964692" y="2468880"/>
            <a:ext cx="320040" cy="320040"/>
          </a:xfrm>
          <a:prstGeom prst="rect">
            <a:avLst/>
          </a:prstGeom>
        </p:spPr>
      </p:pic>
      <p:sp>
        <p:nvSpPr>
          <p:cNvPr id="8" name="Text 5"/>
          <p:cNvSpPr/>
          <p:nvPr/>
        </p:nvSpPr>
        <p:spPr>
          <a:xfrm>
            <a:off x="1691640" y="2295144"/>
            <a:ext cx="9720072" cy="320040"/>
          </a:xfrm>
          <a:prstGeom prst="rect">
            <a:avLst/>
          </a:prstGeom>
          <a:noFill/>
          <a:ln/>
        </p:spPr>
        <p:txBody>
          <a:bodyPr wrap="square" rtlCol="0" anchor="ctr"/>
          <a:lstStyle/>
          <a:p>
            <a:pPr indent="0" marL="0">
              <a:buNone/>
            </a:pPr>
            <a:r>
              <a:rPr lang="en-US" sz="1500" b="1" dirty="0">
                <a:solidFill>
                  <a:srgbClr val="232D5A"/>
                </a:solidFill>
                <a:latin typeface="Arial" pitchFamily="34" charset="0"/>
                <a:ea typeface="Arial" pitchFamily="34" charset="-122"/>
                <a:cs typeface="Arial" pitchFamily="34" charset="-120"/>
              </a:rPr>
              <a:t>Benefits &amp; eligibility systems</a:t>
            </a:r>
            <a:endParaRPr lang="en-US" sz="1500" dirty="0"/>
          </a:p>
        </p:txBody>
      </p:sp>
      <p:sp>
        <p:nvSpPr>
          <p:cNvPr id="9" name="Text 6"/>
          <p:cNvSpPr/>
          <p:nvPr/>
        </p:nvSpPr>
        <p:spPr>
          <a:xfrm>
            <a:off x="1691640" y="2624328"/>
            <a:ext cx="9720072" cy="384048"/>
          </a:xfrm>
          <a:prstGeom prst="rect">
            <a:avLst/>
          </a:prstGeom>
          <a:noFill/>
          <a:ln/>
        </p:spPr>
        <p:txBody>
          <a:bodyPr wrap="square" rtlCol="0" anchor="ctr"/>
          <a:lstStyle/>
          <a:p>
            <a:pPr indent="0" marL="0">
              <a:buNone/>
            </a:pPr>
            <a:r>
              <a:rPr lang="en-US" sz="1250" dirty="0">
                <a:solidFill>
                  <a:srgbClr val="2E2E2E"/>
                </a:solidFill>
                <a:latin typeface="Arial" pitchFamily="34" charset="0"/>
                <a:ea typeface="Arial" pitchFamily="34" charset="-122"/>
                <a:cs typeface="Arial" pitchFamily="34" charset="-120"/>
              </a:rPr>
              <a:t>Modernize unemployment, Medicaid-eligibility, or tax systems with attestation for oversight.</a:t>
            </a:r>
            <a:endParaRPr lang="en-US" sz="1250" dirty="0"/>
          </a:p>
        </p:txBody>
      </p:sp>
      <p:sp>
        <p:nvSpPr>
          <p:cNvPr id="10" name="Shape 7"/>
          <p:cNvSpPr/>
          <p:nvPr/>
        </p:nvSpPr>
        <p:spPr>
          <a:xfrm>
            <a:off x="548640" y="3273552"/>
            <a:ext cx="11091672" cy="960120"/>
          </a:xfrm>
          <a:prstGeom prst="roundRect">
            <a:avLst>
              <a:gd name="adj" fmla="val 3810"/>
            </a:avLst>
          </a:prstGeom>
          <a:solidFill>
            <a:srgbClr val="F0F0F0"/>
          </a:solidFill>
          <a:ln/>
        </p:spPr>
        <p:txBody>
          <a:bodyPr/>
          <a:p/>
        </p:txBody>
      </p:sp>
      <p:sp>
        <p:nvSpPr>
          <p:cNvPr id="11" name="Shape 8"/>
          <p:cNvSpPr/>
          <p:nvPr/>
        </p:nvSpPr>
        <p:spPr>
          <a:xfrm>
            <a:off x="804672" y="3433572"/>
            <a:ext cx="640080" cy="640080"/>
          </a:xfrm>
          <a:prstGeom prst="roundRect">
            <a:avLst>
              <a:gd name="adj" fmla="val 7143"/>
            </a:avLst>
          </a:prstGeom>
          <a:solidFill>
            <a:srgbClr val="232D5A"/>
          </a:solidFill>
          <a:ln/>
        </p:spPr>
        <p:txBody>
          <a:bodyPr/>
          <a:p/>
        </p:txBody>
      </p:sp>
      <p:pic>
        <p:nvPicPr>
          <p:cNvPr id="12" name="Image 1" descr="preencoded.png">    </p:cNvPr>
          <p:cNvPicPr>
            <a:picLocks noChangeAspect="1"/>
          </p:cNvPicPr>
          <p:nvPr/>
        </p:nvPicPr>
        <p:blipFill>
          <a:blip r:embed="rId2"/>
          <a:stretch>
            <a:fillRect/>
          </a:stretch>
        </p:blipFill>
        <p:spPr>
          <a:xfrm>
            <a:off x="964692" y="3593592"/>
            <a:ext cx="320040" cy="320040"/>
          </a:xfrm>
          <a:prstGeom prst="rect">
            <a:avLst/>
          </a:prstGeom>
        </p:spPr>
      </p:pic>
      <p:sp>
        <p:nvSpPr>
          <p:cNvPr id="13" name="Text 9"/>
          <p:cNvSpPr/>
          <p:nvPr/>
        </p:nvSpPr>
        <p:spPr>
          <a:xfrm>
            <a:off x="1691640" y="3419856"/>
            <a:ext cx="9720072" cy="320040"/>
          </a:xfrm>
          <a:prstGeom prst="rect">
            <a:avLst/>
          </a:prstGeom>
          <a:noFill/>
          <a:ln/>
        </p:spPr>
        <p:txBody>
          <a:bodyPr wrap="square" rtlCol="0" anchor="ctr"/>
          <a:lstStyle/>
          <a:p>
            <a:pPr indent="0" marL="0">
              <a:buNone/>
            </a:pPr>
            <a:r>
              <a:rPr lang="en-US" sz="1500" b="1" dirty="0">
                <a:solidFill>
                  <a:srgbClr val="232D5A"/>
                </a:solidFill>
                <a:latin typeface="Arial" pitchFamily="34" charset="0"/>
                <a:ea typeface="Arial" pitchFamily="34" charset="-122"/>
                <a:cs typeface="Arial" pitchFamily="34" charset="-120"/>
              </a:rPr>
              <a:t>Courts, DMV &amp; licensing</a:t>
            </a:r>
            <a:endParaRPr lang="en-US" sz="1500" dirty="0"/>
          </a:p>
        </p:txBody>
      </p:sp>
      <p:sp>
        <p:nvSpPr>
          <p:cNvPr id="14" name="Text 10"/>
          <p:cNvSpPr/>
          <p:nvPr/>
        </p:nvSpPr>
        <p:spPr>
          <a:xfrm>
            <a:off x="1691640" y="3749040"/>
            <a:ext cx="9720072" cy="384048"/>
          </a:xfrm>
          <a:prstGeom prst="rect">
            <a:avLst/>
          </a:prstGeom>
          <a:noFill/>
          <a:ln/>
        </p:spPr>
        <p:txBody>
          <a:bodyPr wrap="square" rtlCol="0" anchor="ctr"/>
          <a:lstStyle/>
          <a:p>
            <a:pPr indent="0" marL="0">
              <a:buNone/>
            </a:pPr>
            <a:r>
              <a:rPr lang="en-US" sz="1250" dirty="0">
                <a:solidFill>
                  <a:srgbClr val="2E2E2E"/>
                </a:solidFill>
                <a:latin typeface="Arial" pitchFamily="34" charset="0"/>
                <a:ea typeface="Arial" pitchFamily="34" charset="-122"/>
                <a:cs typeface="Arial" pitchFamily="34" charset="-120"/>
              </a:rPr>
              <a:t>Modernize case, licensing, and records systems with data kept on-premise (CJIS / PII).</a:t>
            </a:r>
            <a:endParaRPr lang="en-US" sz="1250" dirty="0"/>
          </a:p>
        </p:txBody>
      </p:sp>
      <p:sp>
        <p:nvSpPr>
          <p:cNvPr id="15" name="Shape 11"/>
          <p:cNvSpPr/>
          <p:nvPr/>
        </p:nvSpPr>
        <p:spPr>
          <a:xfrm>
            <a:off x="548640" y="4398264"/>
            <a:ext cx="11091672" cy="960120"/>
          </a:xfrm>
          <a:prstGeom prst="roundRect">
            <a:avLst>
              <a:gd name="adj" fmla="val 3810"/>
            </a:avLst>
          </a:prstGeom>
          <a:solidFill>
            <a:srgbClr val="F0F0F0"/>
          </a:solidFill>
          <a:ln/>
        </p:spPr>
        <p:txBody>
          <a:bodyPr/>
          <a:p/>
        </p:txBody>
      </p:sp>
      <p:sp>
        <p:nvSpPr>
          <p:cNvPr id="16" name="Shape 12"/>
          <p:cNvSpPr/>
          <p:nvPr/>
        </p:nvSpPr>
        <p:spPr>
          <a:xfrm>
            <a:off x="804672" y="4558284"/>
            <a:ext cx="640080" cy="640080"/>
          </a:xfrm>
          <a:prstGeom prst="roundRect">
            <a:avLst>
              <a:gd name="adj" fmla="val 7143"/>
            </a:avLst>
          </a:prstGeom>
          <a:solidFill>
            <a:srgbClr val="232D5A"/>
          </a:solidFill>
          <a:ln/>
        </p:spPr>
        <p:txBody>
          <a:bodyPr/>
          <a:p/>
        </p:txBody>
      </p:sp>
      <p:pic>
        <p:nvPicPr>
          <p:cNvPr id="17" name="Image 2" descr="preencoded.png">    </p:cNvPr>
          <p:cNvPicPr>
            <a:picLocks noChangeAspect="1"/>
          </p:cNvPicPr>
          <p:nvPr/>
        </p:nvPicPr>
        <p:blipFill>
          <a:blip r:embed="rId3"/>
          <a:stretch>
            <a:fillRect/>
          </a:stretch>
        </p:blipFill>
        <p:spPr>
          <a:xfrm>
            <a:off x="964692" y="4718304"/>
            <a:ext cx="320040" cy="320040"/>
          </a:xfrm>
          <a:prstGeom prst="rect">
            <a:avLst/>
          </a:prstGeom>
        </p:spPr>
      </p:pic>
      <p:sp>
        <p:nvSpPr>
          <p:cNvPr id="18" name="Text 13"/>
          <p:cNvSpPr/>
          <p:nvPr/>
        </p:nvSpPr>
        <p:spPr>
          <a:xfrm>
            <a:off x="1691640" y="4544568"/>
            <a:ext cx="9720072" cy="320040"/>
          </a:xfrm>
          <a:prstGeom prst="rect">
            <a:avLst/>
          </a:prstGeom>
          <a:noFill/>
          <a:ln/>
        </p:spPr>
        <p:txBody>
          <a:bodyPr wrap="square" rtlCol="0" anchor="ctr"/>
          <a:lstStyle/>
          <a:p>
            <a:pPr indent="0" marL="0">
              <a:buNone/>
            </a:pPr>
            <a:r>
              <a:rPr lang="en-US" sz="1500" b="1" dirty="0">
                <a:solidFill>
                  <a:srgbClr val="232D5A"/>
                </a:solidFill>
                <a:latin typeface="Arial" pitchFamily="34" charset="0"/>
                <a:ea typeface="Arial" pitchFamily="34" charset="-122"/>
                <a:cs typeface="Arial" pitchFamily="34" charset="-120"/>
              </a:rPr>
              <a:t>School-district SIS &amp; payroll</a:t>
            </a:r>
            <a:endParaRPr lang="en-US" sz="1500" dirty="0"/>
          </a:p>
        </p:txBody>
      </p:sp>
      <p:sp>
        <p:nvSpPr>
          <p:cNvPr id="19" name="Text 14"/>
          <p:cNvSpPr/>
          <p:nvPr/>
        </p:nvSpPr>
        <p:spPr>
          <a:xfrm>
            <a:off x="1691640" y="4873752"/>
            <a:ext cx="9720072" cy="384048"/>
          </a:xfrm>
          <a:prstGeom prst="rect">
            <a:avLst/>
          </a:prstGeom>
          <a:noFill/>
          <a:ln/>
        </p:spPr>
        <p:txBody>
          <a:bodyPr wrap="square" rtlCol="0" anchor="ctr"/>
          <a:lstStyle/>
          <a:p>
            <a:pPr indent="0" marL="0">
              <a:buNone/>
            </a:pPr>
            <a:r>
              <a:rPr lang="en-US" sz="1250" dirty="0">
                <a:solidFill>
                  <a:srgbClr val="2E2E2E"/>
                </a:solidFill>
                <a:latin typeface="Arial" pitchFamily="34" charset="0"/>
                <a:ea typeface="Arial" pitchFamily="34" charset="-122"/>
                <a:cs typeface="Arial" pitchFamily="34" charset="-120"/>
              </a:rPr>
              <a:t>Modernize student-information and payroll systems with FERPA-safe data handling.</a:t>
            </a:r>
            <a:endParaRPr lang="en-US" sz="1250" dirty="0"/>
          </a:p>
        </p:txBody>
      </p:sp>
      <p:sp>
        <p:nvSpPr>
          <p:cNvPr id="20" name="Shape 15"/>
          <p:cNvSpPr/>
          <p:nvPr/>
        </p:nvSpPr>
        <p:spPr>
          <a:xfrm>
            <a:off x="548640" y="5541264"/>
            <a:ext cx="11091672" cy="566928"/>
          </a:xfrm>
          <a:prstGeom prst="roundRect">
            <a:avLst>
              <a:gd name="adj" fmla="val 6452"/>
            </a:avLst>
          </a:prstGeom>
          <a:solidFill>
            <a:srgbClr val="E7F5F1"/>
          </a:solidFill>
          <a:ln w="12700">
            <a:solidFill>
              <a:srgbClr val="2EA891"/>
            </a:solidFill>
            <a:prstDash val="solid"/>
          </a:ln>
        </p:spPr>
        <p:txBody>
          <a:bodyPr/>
          <a:p/>
        </p:txBody>
      </p:sp>
      <p:sp>
        <p:nvSpPr>
          <p:cNvPr id="21" name="Text 16"/>
          <p:cNvSpPr/>
          <p:nvPr/>
        </p:nvSpPr>
        <p:spPr>
          <a:xfrm>
            <a:off x="822960" y="5541264"/>
            <a:ext cx="10543032" cy="566928"/>
          </a:xfrm>
          <a:prstGeom prst="rect">
            <a:avLst/>
          </a:prstGeom>
          <a:noFill/>
          <a:ln/>
        </p:spPr>
        <p:txBody>
          <a:bodyPr wrap="square" rtlCol="0" anchor="ctr"/>
          <a:lstStyle/>
          <a:p>
            <a:pPr indent="0" marL="0">
              <a:buNone/>
            </a:pPr>
            <a:r>
              <a:rPr lang="en-US" sz="1250" b="1" spc="100" kern="0" dirty="0">
                <a:solidFill>
                  <a:srgbClr val="2EA891"/>
                </a:solidFill>
                <a:latin typeface="Arial" pitchFamily="34" charset="0"/>
                <a:ea typeface="Arial" pitchFamily="34" charset="-122"/>
                <a:cs typeface="Arial" pitchFamily="34" charset="-120"/>
              </a:rPr>
              <a:t>VALUE   </a:t>
            </a:r>
            <a:pPr indent="0" marL="0">
              <a:buNone/>
            </a:pPr>
            <a:r>
              <a:rPr lang="en-US" sz="1250" b="1" dirty="0">
                <a:solidFill>
                  <a:srgbClr val="232D5A"/>
                </a:solidFill>
                <a:latin typeface="Arial" pitchFamily="34" charset="0"/>
                <a:ea typeface="Arial" pitchFamily="34" charset="-122"/>
                <a:cs typeface="Arial" pitchFamily="34" charset="-120"/>
              </a:rPr>
              <a:t>Buy fast through cooperative purchasing. US-only, on-premise data residency. Board- and audit-ready evidence.</a:t>
            </a:r>
            <a:endParaRPr lang="en-US" sz="1250" dirty="0"/>
          </a:p>
        </p:txBody>
      </p:sp>
      <p:sp>
        <p:nvSpPr>
          <p:cNvPr id="22" name="Shape 17"/>
          <p:cNvSpPr/>
          <p:nvPr/>
        </p:nvSpPr>
        <p:spPr>
          <a:xfrm>
            <a:off x="548640" y="6364224"/>
            <a:ext cx="11091672" cy="25603"/>
          </a:xfrm>
          <a:prstGeom prst="rect">
            <a:avLst/>
          </a:prstGeom>
          <a:solidFill>
            <a:srgbClr val="F7B801"/>
          </a:solidFill>
          <a:ln/>
        </p:spPr>
        <p:txBody>
          <a:bodyPr/>
          <a:p/>
        </p:txBody>
      </p:sp>
      <p:sp>
        <p:nvSpPr>
          <p:cNvPr id="29" name="Text 24"/>
          <p:cNvSpPr/>
          <p:nvPr/>
        </p:nvSpPr>
        <p:spPr>
          <a:xfrm>
            <a:off x="7982712" y="6455664"/>
            <a:ext cx="3108960" cy="292608"/>
          </a:xfrm>
          <a:prstGeom prst="rect">
            <a:avLst/>
          </a:prstGeom>
          <a:noFill/>
          <a:ln/>
        </p:spPr>
        <p:txBody>
          <a:bodyPr wrap="square" rtlCol="0" anchor="ctr"/>
          <a:lstStyle/>
          <a:p>
            <a:pPr algn="r" indent="0" marL="0">
              <a:buNone/>
            </a:pPr>
            <a:r>
              <a:rPr lang="en-US" sz="900" dirty="0">
                <a:solidFill>
                  <a:srgbClr val="8892A4"/>
                </a:solidFill>
                <a:latin typeface="Arial" pitchFamily="34" charset="0"/>
                <a:ea typeface="Arial" pitchFamily="34" charset="-122"/>
                <a:cs typeface="Arial" pitchFamily="34" charset="-120"/>
              </a:rPr>
              <a:t>Relian™  ·  Visionblox LLC</a:t>
            </a:r>
            <a:endParaRPr lang="en-US" sz="900" dirty="0"/>
          </a:p>
        </p:txBody>
      </p:sp>
      <p:sp>
        <p:nvSpPr>
          <p:cNvPr id="30" name="Text 25"/>
          <p:cNvSpPr/>
          <p:nvPr/>
        </p:nvSpPr>
        <p:spPr>
          <a:xfrm>
            <a:off x="11183112" y="6455664"/>
            <a:ext cx="457200" cy="292608"/>
          </a:xfrm>
          <a:prstGeom prst="rect">
            <a:avLst/>
          </a:prstGeom>
          <a:noFill/>
          <a:ln/>
        </p:spPr>
        <p:txBody>
          <a:bodyPr wrap="square" rtlCol="0" anchor="ctr"/>
          <a:lstStyle/>
          <a:p>
            <a:pPr algn="r" indent="0" marL="0">
              <a:buNone/>
            </a:pPr>
            <a:r>
              <a:rPr lang="en-US" sz="900" dirty="0">
                <a:solidFill>
                  <a:srgbClr val="8892A4"/>
                </a:solidFill>
                <a:latin typeface="Arial" pitchFamily="34" charset="0"/>
                <a:ea typeface="Arial" pitchFamily="34" charset="-122"/>
                <a:cs typeface="Arial" pitchFamily="34" charset="-120"/>
              </a:rPr>
              <a:t>9</a:t>
            </a:r>
            <a:endParaRPr lang="en-US" sz="900" dirty="0"/>
          </a:p>
        </p:txBody>
      </p:sp>
      <p:pic>
        <p:nvPicPr>
          <p:cNvPr id="31" name="Picture 30" descr="visionblox-logo.png"/>
          <p:cNvPicPr>
            <a:picLocks noChangeAspect="1"/>
          </p:cNvPicPr>
          <p:nvPr/>
        </p:nvPicPr>
        <p:blipFill>
          <a:blip r:embed="rId6"/>
          <a:stretch>
            <a:fillRect/>
          </a:stretch>
        </p:blipFill>
        <p:spPr>
          <a:xfrm>
            <a:off x="548640" y="6391656"/>
            <a:ext cx="914400" cy="38510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EA891"/>
                </a:solidFill>
                <a:latin typeface="Arial" pitchFamily="34" charset="0"/>
                <a:ea typeface="Arial" pitchFamily="34" charset="-122"/>
                <a:cs typeface="Arial" pitchFamily="34" charset="-120"/>
              </a:rPr>
              <a:t>FEDERAL</a:t>
            </a:r>
            <a:endParaRPr lang="en-US" sz="1200" dirty="0"/>
          </a:p>
        </p:txBody>
      </p:sp>
      <p:sp>
        <p:nvSpPr>
          <p:cNvPr id="3" name="Text 1"/>
          <p:cNvSpPr/>
          <p:nvPr/>
        </p:nvSpPr>
        <p:spPr>
          <a:xfrm>
            <a:off x="548640" y="749808"/>
            <a:ext cx="11091672" cy="731520"/>
          </a:xfrm>
          <a:prstGeom prst="rect">
            <a:avLst/>
          </a:prstGeom>
          <a:noFill/>
          <a:ln/>
        </p:spPr>
        <p:txBody>
          <a:bodyPr wrap="square" rtlCol="0" anchor="ctr"/>
          <a:lstStyle/>
          <a:p>
            <a:pPr indent="0" marL="0">
              <a:buNone/>
            </a:pPr>
            <a:r>
              <a:rPr lang="en-US" sz="2700" b="1" dirty="0">
                <a:solidFill>
                  <a:srgbClr val="232D5A"/>
                </a:solidFill>
                <a:latin typeface="Arial" pitchFamily="34" charset="0"/>
                <a:ea typeface="Arial" pitchFamily="34" charset="-122"/>
                <a:cs typeface="Arial" pitchFamily="34" charset="-120"/>
              </a:rPr>
              <a:t>For agencies under modernization &amp; oversight mandates</a:t>
            </a:r>
            <a:endParaRPr lang="en-US" sz="2700" dirty="0"/>
          </a:p>
        </p:txBody>
      </p:sp>
      <p:sp>
        <p:nvSpPr>
          <p:cNvPr id="4" name="Text 2"/>
          <p:cNvSpPr/>
          <p:nvPr/>
        </p:nvSpPr>
        <p:spPr>
          <a:xfrm>
            <a:off x="548640" y="1481328"/>
            <a:ext cx="11091672" cy="457200"/>
          </a:xfrm>
          <a:prstGeom prst="rect">
            <a:avLst/>
          </a:prstGeom>
          <a:noFill/>
          <a:ln/>
        </p:spPr>
        <p:txBody>
          <a:bodyPr wrap="square" rtlCol="0" anchor="ctr"/>
          <a:lstStyle/>
          <a:p>
            <a:pPr indent="0" marL="0">
              <a:buNone/>
            </a:pPr>
            <a:r>
              <a:rPr lang="en-US" sz="1400" i="1" dirty="0">
                <a:solidFill>
                  <a:srgbClr val="8892A4"/>
                </a:solidFill>
                <a:latin typeface="Arial" pitchFamily="34" charset="0"/>
                <a:ea typeface="Arial" pitchFamily="34" charset="-122"/>
                <a:cs typeface="Arial" pitchFamily="34" charset="-120"/>
              </a:rPr>
              <a:t>Federal departments and agencies with legacy IT — and the systems integrators and primes that serve them.</a:t>
            </a:r>
            <a:endParaRPr lang="en-US" sz="1400" dirty="0"/>
          </a:p>
        </p:txBody>
      </p:sp>
      <p:sp>
        <p:nvSpPr>
          <p:cNvPr id="5" name="Shape 3"/>
          <p:cNvSpPr/>
          <p:nvPr/>
        </p:nvSpPr>
        <p:spPr>
          <a:xfrm>
            <a:off x="548640" y="2148840"/>
            <a:ext cx="11091672" cy="960120"/>
          </a:xfrm>
          <a:prstGeom prst="roundRect">
            <a:avLst>
              <a:gd name="adj" fmla="val 3810"/>
            </a:avLst>
          </a:prstGeom>
          <a:solidFill>
            <a:srgbClr val="F0F0F0"/>
          </a:solidFill>
          <a:ln/>
        </p:spPr>
        <p:txBody>
          <a:bodyPr/>
          <a:p/>
        </p:txBody>
      </p:sp>
      <p:sp>
        <p:nvSpPr>
          <p:cNvPr id="6" name="Shape 4"/>
          <p:cNvSpPr/>
          <p:nvPr/>
        </p:nvSpPr>
        <p:spPr>
          <a:xfrm>
            <a:off x="804672" y="2308860"/>
            <a:ext cx="640080" cy="640080"/>
          </a:xfrm>
          <a:prstGeom prst="roundRect">
            <a:avLst>
              <a:gd name="adj" fmla="val 7143"/>
            </a:avLst>
          </a:prstGeom>
          <a:solidFill>
            <a:srgbClr val="232D5A"/>
          </a:solidFill>
          <a:ln/>
        </p:spPr>
        <p:txBody>
          <a:bodyPr/>
          <a:p/>
        </p:txBody>
      </p:sp>
      <p:pic>
        <p:nvPicPr>
          <p:cNvPr id="7" name="Image 0" descr="preencoded.png">    </p:cNvPr>
          <p:cNvPicPr>
            <a:picLocks noChangeAspect="1"/>
          </p:cNvPicPr>
          <p:nvPr/>
        </p:nvPicPr>
        <p:blipFill>
          <a:blip r:embed="rId1"/>
          <a:stretch>
            <a:fillRect/>
          </a:stretch>
        </p:blipFill>
        <p:spPr>
          <a:xfrm>
            <a:off x="964692" y="2468880"/>
            <a:ext cx="320040" cy="320040"/>
          </a:xfrm>
          <a:prstGeom prst="rect">
            <a:avLst/>
          </a:prstGeom>
        </p:spPr>
      </p:pic>
      <p:sp>
        <p:nvSpPr>
          <p:cNvPr id="8" name="Text 5"/>
          <p:cNvSpPr/>
          <p:nvPr/>
        </p:nvSpPr>
        <p:spPr>
          <a:xfrm>
            <a:off x="1691640" y="2295144"/>
            <a:ext cx="9720072" cy="320040"/>
          </a:xfrm>
          <a:prstGeom prst="rect">
            <a:avLst/>
          </a:prstGeom>
          <a:noFill/>
          <a:ln/>
        </p:spPr>
        <p:txBody>
          <a:bodyPr wrap="square" rtlCol="0" anchor="ctr"/>
          <a:lstStyle/>
          <a:p>
            <a:pPr indent="0" marL="0">
              <a:buNone/>
            </a:pPr>
            <a:r>
              <a:rPr lang="en-US" sz="1500" b="1" dirty="0">
                <a:solidFill>
                  <a:srgbClr val="232D5A"/>
                </a:solidFill>
                <a:latin typeface="Arial" pitchFamily="34" charset="0"/>
                <a:ea typeface="Arial" pitchFamily="34" charset="-122"/>
                <a:cs typeface="Arial" pitchFamily="34" charset="-120"/>
              </a:rPr>
              <a:t>Critical legacy-system modernization</a:t>
            </a:r>
            <a:endParaRPr lang="en-US" sz="1500" dirty="0"/>
          </a:p>
        </p:txBody>
      </p:sp>
      <p:sp>
        <p:nvSpPr>
          <p:cNvPr id="9" name="Text 6"/>
          <p:cNvSpPr/>
          <p:nvPr/>
        </p:nvSpPr>
        <p:spPr>
          <a:xfrm>
            <a:off x="1691640" y="2624328"/>
            <a:ext cx="9720072" cy="384048"/>
          </a:xfrm>
          <a:prstGeom prst="rect">
            <a:avLst/>
          </a:prstGeom>
          <a:noFill/>
          <a:ln/>
        </p:spPr>
        <p:txBody>
          <a:bodyPr wrap="square" rtlCol="0" anchor="ctr"/>
          <a:lstStyle/>
          <a:p>
            <a:pPr indent="0" marL="0">
              <a:buNone/>
            </a:pPr>
            <a:r>
              <a:rPr lang="en-US" sz="1250" dirty="0">
                <a:solidFill>
                  <a:srgbClr val="2E2E2E"/>
                </a:solidFill>
                <a:latin typeface="Arial" pitchFamily="34" charset="0"/>
                <a:ea typeface="Arial" pitchFamily="34" charset="-122"/>
                <a:cs typeface="Arial" pitchFamily="34" charset="-120"/>
              </a:rPr>
              <a:t>Produce non-repudiable equivalence evidence that satisfies IG and GAO oversight.</a:t>
            </a:r>
            <a:endParaRPr lang="en-US" sz="1250" dirty="0"/>
          </a:p>
        </p:txBody>
      </p:sp>
      <p:sp>
        <p:nvSpPr>
          <p:cNvPr id="10" name="Shape 7"/>
          <p:cNvSpPr/>
          <p:nvPr/>
        </p:nvSpPr>
        <p:spPr>
          <a:xfrm>
            <a:off x="548640" y="3273552"/>
            <a:ext cx="11091672" cy="960120"/>
          </a:xfrm>
          <a:prstGeom prst="roundRect">
            <a:avLst>
              <a:gd name="adj" fmla="val 3810"/>
            </a:avLst>
          </a:prstGeom>
          <a:solidFill>
            <a:srgbClr val="F0F0F0"/>
          </a:solidFill>
          <a:ln/>
        </p:spPr>
        <p:txBody>
          <a:bodyPr/>
          <a:p/>
        </p:txBody>
      </p:sp>
      <p:sp>
        <p:nvSpPr>
          <p:cNvPr id="11" name="Shape 8"/>
          <p:cNvSpPr/>
          <p:nvPr/>
        </p:nvSpPr>
        <p:spPr>
          <a:xfrm>
            <a:off x="804672" y="3433572"/>
            <a:ext cx="640080" cy="640080"/>
          </a:xfrm>
          <a:prstGeom prst="roundRect">
            <a:avLst>
              <a:gd name="adj" fmla="val 7143"/>
            </a:avLst>
          </a:prstGeom>
          <a:solidFill>
            <a:srgbClr val="232D5A"/>
          </a:solidFill>
          <a:ln/>
        </p:spPr>
        <p:txBody>
          <a:bodyPr/>
          <a:p/>
        </p:txBody>
      </p:sp>
      <p:pic>
        <p:nvPicPr>
          <p:cNvPr id="12" name="Image 1" descr="preencoded.png">    </p:cNvPr>
          <p:cNvPicPr>
            <a:picLocks noChangeAspect="1"/>
          </p:cNvPicPr>
          <p:nvPr/>
        </p:nvPicPr>
        <p:blipFill>
          <a:blip r:embed="rId2"/>
          <a:stretch>
            <a:fillRect/>
          </a:stretch>
        </p:blipFill>
        <p:spPr>
          <a:xfrm>
            <a:off x="964692" y="3593592"/>
            <a:ext cx="320040" cy="320040"/>
          </a:xfrm>
          <a:prstGeom prst="rect">
            <a:avLst/>
          </a:prstGeom>
        </p:spPr>
      </p:pic>
      <p:sp>
        <p:nvSpPr>
          <p:cNvPr id="13" name="Text 9"/>
          <p:cNvSpPr/>
          <p:nvPr/>
        </p:nvSpPr>
        <p:spPr>
          <a:xfrm>
            <a:off x="1691640" y="3419856"/>
            <a:ext cx="9720072" cy="320040"/>
          </a:xfrm>
          <a:prstGeom prst="rect">
            <a:avLst/>
          </a:prstGeom>
          <a:noFill/>
          <a:ln/>
        </p:spPr>
        <p:txBody>
          <a:bodyPr wrap="square" rtlCol="0" anchor="ctr"/>
          <a:lstStyle/>
          <a:p>
            <a:pPr indent="0" marL="0">
              <a:buNone/>
            </a:pPr>
            <a:r>
              <a:rPr lang="en-US" sz="1500" b="1" dirty="0">
                <a:solidFill>
                  <a:srgbClr val="232D5A"/>
                </a:solidFill>
                <a:latin typeface="Arial" pitchFamily="34" charset="0"/>
                <a:ea typeface="Arial" pitchFamily="34" charset="-122"/>
                <a:cs typeface="Arial" pitchFamily="34" charset="-120"/>
              </a:rPr>
              <a:t>Air-gapped / on-premise transformation</a:t>
            </a:r>
            <a:endParaRPr lang="en-US" sz="1500" dirty="0"/>
          </a:p>
        </p:txBody>
      </p:sp>
      <p:sp>
        <p:nvSpPr>
          <p:cNvPr id="14" name="Text 10"/>
          <p:cNvSpPr/>
          <p:nvPr/>
        </p:nvSpPr>
        <p:spPr>
          <a:xfrm>
            <a:off x="1691640" y="3749040"/>
            <a:ext cx="9720072" cy="384048"/>
          </a:xfrm>
          <a:prstGeom prst="rect">
            <a:avLst/>
          </a:prstGeom>
          <a:noFill/>
          <a:ln/>
        </p:spPr>
        <p:txBody>
          <a:bodyPr wrap="square" rtlCol="0" anchor="ctr"/>
          <a:lstStyle/>
          <a:p>
            <a:pPr indent="0" marL="0">
              <a:buNone/>
            </a:pPr>
            <a:r>
              <a:rPr lang="en-US" sz="1250" dirty="0">
                <a:solidFill>
                  <a:srgbClr val="2E2E2E"/>
                </a:solidFill>
                <a:latin typeface="Arial" pitchFamily="34" charset="0"/>
                <a:ea typeface="Arial" pitchFamily="34" charset="-122"/>
                <a:cs typeface="Arial" pitchFamily="34" charset="-120"/>
              </a:rPr>
              <a:t>Source never leaves the enclave and never touches a generative-AI model.</a:t>
            </a:r>
            <a:endParaRPr lang="en-US" sz="1250" dirty="0"/>
          </a:p>
        </p:txBody>
      </p:sp>
      <p:sp>
        <p:nvSpPr>
          <p:cNvPr id="15" name="Shape 11"/>
          <p:cNvSpPr/>
          <p:nvPr/>
        </p:nvSpPr>
        <p:spPr>
          <a:xfrm>
            <a:off x="548640" y="4398264"/>
            <a:ext cx="11091672" cy="960120"/>
          </a:xfrm>
          <a:prstGeom prst="roundRect">
            <a:avLst>
              <a:gd name="adj" fmla="val 3810"/>
            </a:avLst>
          </a:prstGeom>
          <a:solidFill>
            <a:srgbClr val="F0F0F0"/>
          </a:solidFill>
          <a:ln/>
        </p:spPr>
        <p:txBody>
          <a:bodyPr/>
          <a:p/>
        </p:txBody>
      </p:sp>
      <p:sp>
        <p:nvSpPr>
          <p:cNvPr id="16" name="Shape 12"/>
          <p:cNvSpPr/>
          <p:nvPr/>
        </p:nvSpPr>
        <p:spPr>
          <a:xfrm>
            <a:off x="804672" y="4558284"/>
            <a:ext cx="640080" cy="640080"/>
          </a:xfrm>
          <a:prstGeom prst="roundRect">
            <a:avLst>
              <a:gd name="adj" fmla="val 7143"/>
            </a:avLst>
          </a:prstGeom>
          <a:solidFill>
            <a:srgbClr val="232D5A"/>
          </a:solidFill>
          <a:ln/>
        </p:spPr>
        <p:txBody>
          <a:bodyPr/>
          <a:p/>
        </p:txBody>
      </p:sp>
      <p:pic>
        <p:nvPicPr>
          <p:cNvPr id="17" name="Image 2" descr="preencoded.png">    </p:cNvPr>
          <p:cNvPicPr>
            <a:picLocks noChangeAspect="1"/>
          </p:cNvPicPr>
          <p:nvPr/>
        </p:nvPicPr>
        <p:blipFill>
          <a:blip r:embed="rId3"/>
          <a:stretch>
            <a:fillRect/>
          </a:stretch>
        </p:blipFill>
        <p:spPr>
          <a:xfrm>
            <a:off x="964692" y="4718304"/>
            <a:ext cx="320040" cy="320040"/>
          </a:xfrm>
          <a:prstGeom prst="rect">
            <a:avLst/>
          </a:prstGeom>
        </p:spPr>
      </p:pic>
      <p:sp>
        <p:nvSpPr>
          <p:cNvPr id="18" name="Text 13"/>
          <p:cNvSpPr/>
          <p:nvPr/>
        </p:nvSpPr>
        <p:spPr>
          <a:xfrm>
            <a:off x="1691640" y="4544568"/>
            <a:ext cx="9720072" cy="320040"/>
          </a:xfrm>
          <a:prstGeom prst="rect">
            <a:avLst/>
          </a:prstGeom>
          <a:noFill/>
          <a:ln/>
        </p:spPr>
        <p:txBody>
          <a:bodyPr wrap="square" rtlCol="0" anchor="ctr"/>
          <a:lstStyle/>
          <a:p>
            <a:pPr indent="0" marL="0">
              <a:buNone/>
            </a:pPr>
            <a:r>
              <a:rPr lang="en-US" sz="1500" b="1" dirty="0">
                <a:solidFill>
                  <a:srgbClr val="232D5A"/>
                </a:solidFill>
                <a:latin typeface="Arial" pitchFamily="34" charset="0"/>
                <a:ea typeface="Arial" pitchFamily="34" charset="-122"/>
                <a:cs typeface="Arial" pitchFamily="34" charset="-120"/>
              </a:rPr>
              <a:t>Software supply-chain integrity</a:t>
            </a:r>
            <a:endParaRPr lang="en-US" sz="1500" dirty="0"/>
          </a:p>
        </p:txBody>
      </p:sp>
      <p:sp>
        <p:nvSpPr>
          <p:cNvPr id="19" name="Text 14"/>
          <p:cNvSpPr/>
          <p:nvPr/>
        </p:nvSpPr>
        <p:spPr>
          <a:xfrm>
            <a:off x="1691640" y="4873752"/>
            <a:ext cx="9720072" cy="384048"/>
          </a:xfrm>
          <a:prstGeom prst="rect">
            <a:avLst/>
          </a:prstGeom>
          <a:noFill/>
          <a:ln/>
        </p:spPr>
        <p:txBody>
          <a:bodyPr wrap="square" rtlCol="0" anchor="ctr"/>
          <a:lstStyle/>
          <a:p>
            <a:pPr indent="0" marL="0">
              <a:buNone/>
            </a:pPr>
            <a:r>
              <a:rPr lang="en-US" sz="1250" dirty="0">
                <a:solidFill>
                  <a:srgbClr val="2E2E2E"/>
                </a:solidFill>
                <a:latin typeface="Arial" pitchFamily="34" charset="0"/>
                <a:ea typeface="Arial" pitchFamily="34" charset="-122"/>
                <a:cs typeface="Arial" pitchFamily="34" charset="-120"/>
              </a:rPr>
              <a:t>Reproducible transformation plus signed provenance, aligned to a zero-trust posture.</a:t>
            </a:r>
            <a:endParaRPr lang="en-US" sz="1250" dirty="0"/>
          </a:p>
        </p:txBody>
      </p:sp>
      <p:sp>
        <p:nvSpPr>
          <p:cNvPr id="20" name="Shape 15"/>
          <p:cNvSpPr/>
          <p:nvPr/>
        </p:nvSpPr>
        <p:spPr>
          <a:xfrm>
            <a:off x="548640" y="5541264"/>
            <a:ext cx="11091672" cy="566928"/>
          </a:xfrm>
          <a:prstGeom prst="roundRect">
            <a:avLst>
              <a:gd name="adj" fmla="val 6452"/>
            </a:avLst>
          </a:prstGeom>
          <a:solidFill>
            <a:srgbClr val="E7F5F1"/>
          </a:solidFill>
          <a:ln w="12700">
            <a:solidFill>
              <a:srgbClr val="2EA891"/>
            </a:solidFill>
            <a:prstDash val="solid"/>
          </a:ln>
        </p:spPr>
        <p:txBody>
          <a:bodyPr/>
          <a:p/>
        </p:txBody>
      </p:sp>
      <p:sp>
        <p:nvSpPr>
          <p:cNvPr id="21" name="Text 16"/>
          <p:cNvSpPr/>
          <p:nvPr/>
        </p:nvSpPr>
        <p:spPr>
          <a:xfrm>
            <a:off x="822960" y="5541264"/>
            <a:ext cx="10543032" cy="566928"/>
          </a:xfrm>
          <a:prstGeom prst="rect">
            <a:avLst/>
          </a:prstGeom>
          <a:noFill/>
          <a:ln/>
        </p:spPr>
        <p:txBody>
          <a:bodyPr wrap="square" rtlCol="0" anchor="ctr"/>
          <a:lstStyle/>
          <a:p>
            <a:pPr indent="0" marL="0">
              <a:buNone/>
            </a:pPr>
            <a:r>
              <a:rPr lang="en-US" sz="1250" b="1" spc="100" kern="0" dirty="0">
                <a:solidFill>
                  <a:srgbClr val="2EA891"/>
                </a:solidFill>
                <a:latin typeface="Arial" pitchFamily="34" charset="0"/>
                <a:ea typeface="Arial" pitchFamily="34" charset="-122"/>
                <a:cs typeface="Arial" pitchFamily="34" charset="-120"/>
              </a:rPr>
              <a:t>VALUE   </a:t>
            </a:r>
            <a:pPr indent="0" marL="0">
              <a:buNone/>
            </a:pPr>
            <a:r>
              <a:rPr lang="en-US" sz="1250" b="1" dirty="0">
                <a:solidFill>
                  <a:srgbClr val="232D5A"/>
                </a:solidFill>
                <a:latin typeface="Arial" pitchFamily="34" charset="0"/>
                <a:ea typeface="Arial" pitchFamily="34" charset="-122"/>
                <a:cs typeface="Arial" pitchFamily="34" charset="-120"/>
              </a:rPr>
              <a:t>Attestation as audit evidence. No offshore access. Evidence discipline that supports FISMA, CMMC &amp; FedRAMP programs.</a:t>
            </a:r>
            <a:endParaRPr lang="en-US" sz="1250" dirty="0"/>
          </a:p>
        </p:txBody>
      </p:sp>
      <p:sp>
        <p:nvSpPr>
          <p:cNvPr id="22" name="Shape 17"/>
          <p:cNvSpPr/>
          <p:nvPr/>
        </p:nvSpPr>
        <p:spPr>
          <a:xfrm>
            <a:off x="548640" y="6364224"/>
            <a:ext cx="11091672" cy="25603"/>
          </a:xfrm>
          <a:prstGeom prst="rect">
            <a:avLst/>
          </a:prstGeom>
          <a:solidFill>
            <a:srgbClr val="F7B801"/>
          </a:solidFill>
          <a:ln/>
        </p:spPr>
        <p:txBody>
          <a:bodyPr/>
          <a:p/>
        </p:txBody>
      </p:sp>
      <p:sp>
        <p:nvSpPr>
          <p:cNvPr id="29" name="Text 24"/>
          <p:cNvSpPr/>
          <p:nvPr/>
        </p:nvSpPr>
        <p:spPr>
          <a:xfrm>
            <a:off x="7982712" y="6455664"/>
            <a:ext cx="3108960" cy="292608"/>
          </a:xfrm>
          <a:prstGeom prst="rect">
            <a:avLst/>
          </a:prstGeom>
          <a:noFill/>
          <a:ln/>
        </p:spPr>
        <p:txBody>
          <a:bodyPr wrap="square" rtlCol="0" anchor="ctr"/>
          <a:lstStyle/>
          <a:p>
            <a:pPr algn="r" indent="0" marL="0">
              <a:buNone/>
            </a:pPr>
            <a:r>
              <a:rPr lang="en-US" sz="900" dirty="0">
                <a:solidFill>
                  <a:srgbClr val="8892A4"/>
                </a:solidFill>
                <a:latin typeface="Arial" pitchFamily="34" charset="0"/>
                <a:ea typeface="Arial" pitchFamily="34" charset="-122"/>
                <a:cs typeface="Arial" pitchFamily="34" charset="-120"/>
              </a:rPr>
              <a:t>Relian™  ·  Visionblox LLC</a:t>
            </a:r>
            <a:endParaRPr lang="en-US" sz="900" dirty="0"/>
          </a:p>
        </p:txBody>
      </p:sp>
      <p:sp>
        <p:nvSpPr>
          <p:cNvPr id="30" name="Text 25"/>
          <p:cNvSpPr/>
          <p:nvPr/>
        </p:nvSpPr>
        <p:spPr>
          <a:xfrm>
            <a:off x="11183112" y="6455664"/>
            <a:ext cx="457200" cy="292608"/>
          </a:xfrm>
          <a:prstGeom prst="rect">
            <a:avLst/>
          </a:prstGeom>
          <a:noFill/>
          <a:ln/>
        </p:spPr>
        <p:txBody>
          <a:bodyPr wrap="square" rtlCol="0" anchor="ctr"/>
          <a:lstStyle/>
          <a:p>
            <a:pPr algn="r" indent="0" marL="0">
              <a:buNone/>
            </a:pPr>
            <a:r>
              <a:rPr lang="en-US" sz="900" dirty="0">
                <a:solidFill>
                  <a:srgbClr val="8892A4"/>
                </a:solidFill>
                <a:latin typeface="Arial" pitchFamily="34" charset="0"/>
                <a:ea typeface="Arial" pitchFamily="34" charset="-122"/>
                <a:cs typeface="Arial" pitchFamily="34" charset="-120"/>
              </a:rPr>
              <a:t>10</a:t>
            </a:r>
            <a:endParaRPr lang="en-US" sz="900" dirty="0"/>
          </a:p>
        </p:txBody>
      </p:sp>
      <p:pic>
        <p:nvPicPr>
          <p:cNvPr id="31" name="Picture 30" descr="visionblox-logo.png"/>
          <p:cNvPicPr>
            <a:picLocks noChangeAspect="1"/>
          </p:cNvPicPr>
          <p:nvPr/>
        </p:nvPicPr>
        <p:blipFill>
          <a:blip r:embed="rId6"/>
          <a:stretch>
            <a:fillRect/>
          </a:stretch>
        </p:blipFill>
        <p:spPr>
          <a:xfrm>
            <a:off x="548640" y="6391656"/>
            <a:ext cx="914400" cy="38510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2EA891"/>
                </a:solidFill>
                <a:latin typeface="Arial" pitchFamily="34" charset="0"/>
                <a:ea typeface="Arial" pitchFamily="34" charset="-122"/>
                <a:cs typeface="Arial" pitchFamily="34" charset="-120"/>
              </a:rPr>
              <a:t>START HERE — LOW-RISK ENTRY</a:t>
            </a:r>
            <a:endParaRPr lang="en-US" sz="1200" dirty="0"/>
          </a:p>
        </p:txBody>
      </p:sp>
      <p:sp>
        <p:nvSpPr>
          <p:cNvPr id="3" name="Text 1"/>
          <p:cNvSpPr/>
          <p:nvPr/>
        </p:nvSpPr>
        <p:spPr>
          <a:xfrm>
            <a:off x="548640" y="749808"/>
            <a:ext cx="11091672" cy="731520"/>
          </a:xfrm>
          <a:prstGeom prst="rect">
            <a:avLst/>
          </a:prstGeom>
          <a:noFill/>
          <a:ln/>
        </p:spPr>
        <p:txBody>
          <a:bodyPr wrap="square" rtlCol="0" anchor="ctr"/>
          <a:lstStyle/>
          <a:p>
            <a:pPr indent="0" marL="0">
              <a:buNone/>
            </a:pPr>
            <a:r>
              <a:rPr lang="en-US" sz="2700" b="1" dirty="0">
                <a:solidFill>
                  <a:srgbClr val="232D5A"/>
                </a:solidFill>
                <a:latin typeface="Arial" pitchFamily="34" charset="0"/>
                <a:ea typeface="Arial" pitchFamily="34" charset="-122"/>
                <a:cs typeface="Arial" pitchFamily="34" charset="-120"/>
              </a:rPr>
              <a:t>Two fixed-fee assessments</a:t>
            </a:r>
            <a:endParaRPr lang="en-US" sz="2700" dirty="0"/>
          </a:p>
        </p:txBody>
      </p:sp>
      <p:sp>
        <p:nvSpPr>
          <p:cNvPr id="4" name="Shape 2"/>
          <p:cNvSpPr/>
          <p:nvPr/>
        </p:nvSpPr>
        <p:spPr>
          <a:xfrm>
            <a:off x="548640" y="1554480"/>
            <a:ext cx="5271516" cy="3063240"/>
          </a:xfrm>
          <a:prstGeom prst="roundRect">
            <a:avLst>
              <a:gd name="adj" fmla="val 1194"/>
            </a:avLst>
          </a:prstGeom>
          <a:solidFill>
            <a:srgbClr val="FFFFFF"/>
          </a:solidFill>
          <a:ln w="15875">
            <a:solidFill>
              <a:srgbClr val="2EA891"/>
            </a:solidFill>
            <a:prstDash val="solid"/>
          </a:ln>
          <a:effectLst>
            <a:outerShdw sx="100000" sy="100000" kx="0" ky="0" algn="bl" rotWithShape="0" blurRad="76200" dist="25400" dir="5400000">
              <a:srgbClr val="B9C0CE">
                <a:alpha val="30000"/>
              </a:srgbClr>
            </a:outerShdw>
          </a:effectLst>
        </p:spPr>
        <p:txBody>
          <a:bodyPr/>
          <a:p/>
        </p:txBody>
      </p:sp>
      <p:sp>
        <p:nvSpPr>
          <p:cNvPr id="5" name="Shape 3"/>
          <p:cNvSpPr/>
          <p:nvPr/>
        </p:nvSpPr>
        <p:spPr>
          <a:xfrm>
            <a:off x="841248" y="1847088"/>
            <a:ext cx="658368" cy="658368"/>
          </a:xfrm>
          <a:prstGeom prst="roundRect">
            <a:avLst>
              <a:gd name="adj" fmla="val 6944"/>
            </a:avLst>
          </a:prstGeom>
          <a:solidFill>
            <a:srgbClr val="2EA891"/>
          </a:solidFill>
          <a:ln/>
        </p:spPr>
        <p:txBody>
          <a:bodyPr/>
          <a:p/>
        </p:txBody>
      </p:sp>
      <p:pic>
        <p:nvPicPr>
          <p:cNvPr id="6" name="Image 0" descr="preencoded.png">    </p:cNvPr>
          <p:cNvPicPr>
            <a:picLocks noChangeAspect="1"/>
          </p:cNvPicPr>
          <p:nvPr/>
        </p:nvPicPr>
        <p:blipFill>
          <a:blip r:embed="rId1"/>
          <a:stretch>
            <a:fillRect/>
          </a:stretch>
        </p:blipFill>
        <p:spPr>
          <a:xfrm>
            <a:off x="1005840" y="2011680"/>
            <a:ext cx="329184" cy="329184"/>
          </a:xfrm>
          <a:prstGeom prst="rect">
            <a:avLst/>
          </a:prstGeom>
        </p:spPr>
      </p:pic>
      <p:sp>
        <p:nvSpPr>
          <p:cNvPr id="7" name="Text 4"/>
          <p:cNvSpPr/>
          <p:nvPr/>
        </p:nvSpPr>
        <p:spPr>
          <a:xfrm>
            <a:off x="3899916" y="1773936"/>
            <a:ext cx="1691640" cy="640080"/>
          </a:xfrm>
          <a:prstGeom prst="rect">
            <a:avLst/>
          </a:prstGeom>
          <a:noFill/>
          <a:ln/>
        </p:spPr>
        <p:txBody>
          <a:bodyPr wrap="square" rtlCol="0" anchor="ctr"/>
          <a:lstStyle/>
          <a:p>
            <a:pPr algn="r" indent="0" marL="0">
              <a:buNone/>
            </a:pPr>
            <a:r>
              <a:rPr lang="en-US" sz="3200" b="1" dirty="0">
                <a:solidFill>
                  <a:srgbClr val="2EA891"/>
                </a:solidFill>
                <a:latin typeface="Arial" pitchFamily="34" charset="0"/>
                <a:ea typeface="Arial" pitchFamily="34" charset="-122"/>
                <a:cs typeface="Arial" pitchFamily="34" charset="-120"/>
              </a:rPr>
              <a:t>$8K</a:t>
            </a:r>
            <a:endParaRPr lang="en-US" sz="3200" dirty="0"/>
          </a:p>
        </p:txBody>
      </p:sp>
      <p:sp>
        <p:nvSpPr>
          <p:cNvPr id="8" name="Text 5"/>
          <p:cNvSpPr/>
          <p:nvPr/>
        </p:nvSpPr>
        <p:spPr>
          <a:xfrm>
            <a:off x="1645920" y="1901952"/>
            <a:ext cx="2436876" cy="548640"/>
          </a:xfrm>
          <a:prstGeom prst="rect">
            <a:avLst/>
          </a:prstGeom>
          <a:noFill/>
          <a:ln/>
        </p:spPr>
        <p:txBody>
          <a:bodyPr wrap="square" rtlCol="0" anchor="ctr"/>
          <a:lstStyle/>
          <a:p>
            <a:pPr indent="0" marL="0">
              <a:buNone/>
            </a:pPr>
            <a:r>
              <a:rPr lang="en-US" sz="1500" b="1" dirty="0">
                <a:solidFill>
                  <a:srgbClr val="232D5A"/>
                </a:solidFill>
                <a:latin typeface="Arial" pitchFamily="34" charset="0"/>
                <a:ea typeface="Arial" pitchFamily="34" charset="-122"/>
                <a:cs typeface="Arial" pitchFamily="34" charset="-120"/>
              </a:rPr>
              <a:t>Legacy Code Assessment</a:t>
            </a:r>
            <a:endParaRPr lang="en-US" sz="1500" dirty="0"/>
          </a:p>
        </p:txBody>
      </p:sp>
      <p:sp>
        <p:nvSpPr>
          <p:cNvPr id="9" name="Text 6"/>
          <p:cNvSpPr/>
          <p:nvPr/>
        </p:nvSpPr>
        <p:spPr>
          <a:xfrm>
            <a:off x="841248" y="2651760"/>
            <a:ext cx="4722876" cy="320040"/>
          </a:xfrm>
          <a:prstGeom prst="rect">
            <a:avLst/>
          </a:prstGeom>
          <a:noFill/>
          <a:ln/>
        </p:spPr>
        <p:txBody>
          <a:bodyPr wrap="square" rtlCol="0" anchor="ctr"/>
          <a:lstStyle/>
          <a:p>
            <a:pPr indent="0" marL="0">
              <a:buNone/>
            </a:pPr>
            <a:r>
              <a:rPr lang="en-US" sz="1250" i="1" dirty="0">
                <a:solidFill>
                  <a:srgbClr val="2E2E2E"/>
                </a:solidFill>
                <a:latin typeface="Arial" pitchFamily="34" charset="0"/>
                <a:ea typeface="Arial" pitchFamily="34" charset="-122"/>
                <a:cs typeface="Arial" pitchFamily="34" charset="-120"/>
              </a:rPr>
              <a:t>A signed report you can act on:</a:t>
            </a:r>
            <a:endParaRPr lang="en-US" sz="1250" dirty="0"/>
          </a:p>
        </p:txBody>
      </p:sp>
      <p:sp>
        <p:nvSpPr>
          <p:cNvPr id="10" name="Text 7"/>
          <p:cNvSpPr/>
          <p:nvPr/>
        </p:nvSpPr>
        <p:spPr>
          <a:xfrm>
            <a:off x="868680" y="3017520"/>
            <a:ext cx="4631436" cy="1371600"/>
          </a:xfrm>
          <a:prstGeom prst="rect">
            <a:avLst/>
          </a:prstGeom>
          <a:noFill/>
          <a:ln/>
        </p:spPr>
        <p:txBody>
          <a:bodyPr wrap="square" rtlCol="0" anchor="ctr"/>
          <a:lstStyle/>
          <a:p>
            <a:pPr marL="342900" indent="-342900">
              <a:spcAft>
                <a:spcPts val="900"/>
              </a:spcAft>
              <a:buSzPct val="100000"/>
              <a:buChar char="•"/>
            </a:pPr>
            <a:r>
              <a:rPr lang="en-US" sz="1300" dirty="0">
                <a:solidFill>
                  <a:srgbClr val="2E2E2E"/>
                </a:solidFill>
                <a:latin typeface="Arial" pitchFamily="34" charset="0"/>
                <a:ea typeface="Arial" pitchFamily="34" charset="-122"/>
                <a:cs typeface="Arial" pitchFamily="34" charset="-120"/>
              </a:rPr>
              <a:t>Code inventory &amp; transformation-coverage map</a:t>
            </a:r>
            <a:endParaRPr lang="en-US" sz="1300" dirty="0"/>
          </a:p>
          <a:p>
            <a:pPr marL="342900" indent="-342900">
              <a:spcAft>
                <a:spcPts val="900"/>
              </a:spcAft>
              <a:buSzPct val="100000"/>
              <a:buChar char="•"/>
            </a:pPr>
            <a:r>
              <a:rPr lang="en-US" sz="1300" dirty="0">
                <a:solidFill>
                  <a:srgbClr val="2E2E2E"/>
                </a:solidFill>
                <a:latin typeface="Arial" pitchFamily="34" charset="0"/>
                <a:ea typeface="Arial" pitchFamily="34" charset="-122"/>
                <a:cs typeface="Arial" pitchFamily="34" charset="-120"/>
              </a:rPr>
              <a:t>Complexity &amp; risk scoring</a:t>
            </a:r>
            <a:endParaRPr lang="en-US" sz="1300" dirty="0"/>
          </a:p>
          <a:p>
            <a:pPr marL="342900" indent="-342900">
              <a:spcAft>
                <a:spcPts val="900"/>
              </a:spcAft>
              <a:buSzPct val="100000"/>
              <a:buChar char="•"/>
            </a:pPr>
            <a:r>
              <a:rPr lang="en-US" sz="1300" dirty="0">
                <a:solidFill>
                  <a:srgbClr val="2E2E2E"/>
                </a:solidFill>
                <a:latin typeface="Arial" pitchFamily="34" charset="0"/>
                <a:ea typeface="Arial" pitchFamily="34" charset="-122"/>
                <a:cs typeface="Arial" pitchFamily="34" charset="-120"/>
              </a:rPr>
              <a:t>Migration-scope recommendation</a:t>
            </a:r>
            <a:endParaRPr lang="en-US" sz="1300" dirty="0"/>
          </a:p>
        </p:txBody>
      </p:sp>
      <p:sp>
        <p:nvSpPr>
          <p:cNvPr id="11" name="Shape 8"/>
          <p:cNvSpPr/>
          <p:nvPr/>
        </p:nvSpPr>
        <p:spPr>
          <a:xfrm>
            <a:off x="6368796" y="1554480"/>
            <a:ext cx="5271516" cy="3063240"/>
          </a:xfrm>
          <a:prstGeom prst="roundRect">
            <a:avLst>
              <a:gd name="adj" fmla="val 1194"/>
            </a:avLst>
          </a:prstGeom>
          <a:solidFill>
            <a:srgbClr val="FFFFFF"/>
          </a:solidFill>
          <a:ln w="15875">
            <a:solidFill>
              <a:srgbClr val="232D5A"/>
            </a:solidFill>
            <a:prstDash val="solid"/>
          </a:ln>
          <a:effectLst>
            <a:outerShdw sx="100000" sy="100000" kx="0" ky="0" algn="bl" rotWithShape="0" blurRad="76200" dist="25400" dir="5400000">
              <a:srgbClr val="B9C0CE">
                <a:alpha val="30000"/>
              </a:srgbClr>
            </a:outerShdw>
          </a:effectLst>
        </p:spPr>
        <p:txBody>
          <a:bodyPr/>
          <a:p/>
        </p:txBody>
      </p:sp>
      <p:sp>
        <p:nvSpPr>
          <p:cNvPr id="12" name="Shape 9"/>
          <p:cNvSpPr/>
          <p:nvPr/>
        </p:nvSpPr>
        <p:spPr>
          <a:xfrm>
            <a:off x="6661404" y="1847088"/>
            <a:ext cx="658368" cy="658368"/>
          </a:xfrm>
          <a:prstGeom prst="roundRect">
            <a:avLst>
              <a:gd name="adj" fmla="val 6944"/>
            </a:avLst>
          </a:prstGeom>
          <a:solidFill>
            <a:srgbClr val="232D5A"/>
          </a:solidFill>
          <a:ln/>
        </p:spPr>
        <p:txBody>
          <a:bodyPr/>
          <a:p/>
        </p:txBody>
      </p:sp>
      <p:pic>
        <p:nvPicPr>
          <p:cNvPr id="13" name="Image 1" descr="preencoded.png">    </p:cNvPr>
          <p:cNvPicPr>
            <a:picLocks noChangeAspect="1"/>
          </p:cNvPicPr>
          <p:nvPr/>
        </p:nvPicPr>
        <p:blipFill>
          <a:blip r:embed="rId2"/>
          <a:stretch>
            <a:fillRect/>
          </a:stretch>
        </p:blipFill>
        <p:spPr>
          <a:xfrm>
            <a:off x="6825996" y="2011680"/>
            <a:ext cx="329184" cy="329184"/>
          </a:xfrm>
          <a:prstGeom prst="rect">
            <a:avLst/>
          </a:prstGeom>
        </p:spPr>
      </p:pic>
      <p:sp>
        <p:nvSpPr>
          <p:cNvPr id="14" name="Text 10"/>
          <p:cNvSpPr/>
          <p:nvPr/>
        </p:nvSpPr>
        <p:spPr>
          <a:xfrm>
            <a:off x="9582912" y="1773936"/>
            <a:ext cx="1828800" cy="640080"/>
          </a:xfrm>
          <a:prstGeom prst="rect">
            <a:avLst/>
          </a:prstGeom>
          <a:noFill/>
          <a:ln/>
        </p:spPr>
        <p:txBody>
          <a:bodyPr wrap="square" rtlCol="0" anchor="ctr"/>
          <a:lstStyle/>
          <a:p>
            <a:pPr algn="r" indent="0" marL="0">
              <a:buNone/>
            </a:pPr>
            <a:r>
              <a:rPr lang="en-US" sz="3200" b="1" dirty="0">
                <a:solidFill>
                  <a:srgbClr val="232D5A"/>
                </a:solidFill>
                <a:latin typeface="Arial" pitchFamily="34" charset="0"/>
                <a:ea typeface="Arial" pitchFamily="34" charset="-122"/>
                <a:cs typeface="Arial" pitchFamily="34" charset="-120"/>
              </a:rPr>
              <a:t>$12K</a:t>
            </a:r>
            <a:endParaRPr lang="en-US" sz="3200" dirty="0"/>
          </a:p>
        </p:txBody>
      </p:sp>
      <p:sp>
        <p:nvSpPr>
          <p:cNvPr id="15" name="Text 11"/>
          <p:cNvSpPr/>
          <p:nvPr/>
        </p:nvSpPr>
        <p:spPr>
          <a:xfrm>
            <a:off x="7466076" y="1901952"/>
            <a:ext cx="2253996" cy="548640"/>
          </a:xfrm>
          <a:prstGeom prst="rect">
            <a:avLst/>
          </a:prstGeom>
          <a:noFill/>
          <a:ln/>
        </p:spPr>
        <p:txBody>
          <a:bodyPr wrap="square" rtlCol="0" anchor="ctr"/>
          <a:lstStyle/>
          <a:p>
            <a:pPr indent="0" marL="0">
              <a:buNone/>
            </a:pPr>
            <a:r>
              <a:rPr lang="en-US" sz="1500" b="1" dirty="0">
                <a:solidFill>
                  <a:srgbClr val="232D5A"/>
                </a:solidFill>
                <a:latin typeface="Arial" pitchFamily="34" charset="0"/>
                <a:ea typeface="Arial" pitchFamily="34" charset="-122"/>
                <a:cs typeface="Arial" pitchFamily="34" charset="-120"/>
              </a:rPr>
              <a:t>Data Discovery</a:t>
            </a:r>
            <a:endParaRPr lang="en-US" sz="1500" dirty="0"/>
          </a:p>
        </p:txBody>
      </p:sp>
      <p:sp>
        <p:nvSpPr>
          <p:cNvPr id="16" name="Text 12"/>
          <p:cNvSpPr/>
          <p:nvPr/>
        </p:nvSpPr>
        <p:spPr>
          <a:xfrm>
            <a:off x="6661404" y="2651760"/>
            <a:ext cx="4722876" cy="320040"/>
          </a:xfrm>
          <a:prstGeom prst="rect">
            <a:avLst/>
          </a:prstGeom>
          <a:noFill/>
          <a:ln/>
        </p:spPr>
        <p:txBody>
          <a:bodyPr wrap="square" rtlCol="0" anchor="ctr"/>
          <a:lstStyle/>
          <a:p>
            <a:pPr indent="0" marL="0">
              <a:buNone/>
            </a:pPr>
            <a:r>
              <a:rPr lang="en-US" sz="1250" i="1" dirty="0">
                <a:solidFill>
                  <a:srgbClr val="2E2E2E"/>
                </a:solidFill>
                <a:latin typeface="Arial" pitchFamily="34" charset="0"/>
                <a:ea typeface="Arial" pitchFamily="34" charset="-122"/>
                <a:cs typeface="Arial" pitchFamily="34" charset="-120"/>
              </a:rPr>
              <a:t>A signed report on the data behind the code:</a:t>
            </a:r>
            <a:endParaRPr lang="en-US" sz="1250" dirty="0"/>
          </a:p>
        </p:txBody>
      </p:sp>
      <p:sp>
        <p:nvSpPr>
          <p:cNvPr id="17" name="Text 13"/>
          <p:cNvSpPr/>
          <p:nvPr/>
        </p:nvSpPr>
        <p:spPr>
          <a:xfrm>
            <a:off x="6688836" y="3017520"/>
            <a:ext cx="4631436" cy="1371600"/>
          </a:xfrm>
          <a:prstGeom prst="rect">
            <a:avLst/>
          </a:prstGeom>
          <a:noFill/>
          <a:ln/>
        </p:spPr>
        <p:txBody>
          <a:bodyPr wrap="square" rtlCol="0" anchor="ctr"/>
          <a:lstStyle/>
          <a:p>
            <a:pPr marL="342900" indent="-342900">
              <a:spcAft>
                <a:spcPts val="900"/>
              </a:spcAft>
              <a:buSzPct val="100000"/>
              <a:buChar char="•"/>
            </a:pPr>
            <a:r>
              <a:rPr lang="en-US" sz="1300" dirty="0">
                <a:solidFill>
                  <a:srgbClr val="2E2E2E"/>
                </a:solidFill>
                <a:latin typeface="Arial" pitchFamily="34" charset="0"/>
                <a:ea typeface="Arial" pitchFamily="34" charset="-122"/>
                <a:cs typeface="Arial" pitchFamily="34" charset="-120"/>
              </a:rPr>
              <a:t>Field-level data dictionary &amp; record layouts</a:t>
            </a:r>
            <a:endParaRPr lang="en-US" sz="1300" dirty="0"/>
          </a:p>
          <a:p>
            <a:pPr marL="342900" indent="-342900">
              <a:spcAft>
                <a:spcPts val="900"/>
              </a:spcAft>
              <a:buSzPct val="100000"/>
              <a:buChar char="•"/>
            </a:pPr>
            <a:r>
              <a:rPr lang="en-US" sz="1300" dirty="0">
                <a:solidFill>
                  <a:srgbClr val="2E2E2E"/>
                </a:solidFill>
                <a:latin typeface="Arial" pitchFamily="34" charset="0"/>
                <a:ea typeface="Arial" pitchFamily="34" charset="-122"/>
                <a:cs typeface="Arial" pitchFamily="34" charset="-120"/>
              </a:rPr>
              <a:t>File inventory &amp; program-to-data lineage</a:t>
            </a:r>
            <a:endParaRPr lang="en-US" sz="1300" dirty="0"/>
          </a:p>
          <a:p>
            <a:pPr marL="342900" indent="-342900">
              <a:spcAft>
                <a:spcPts val="900"/>
              </a:spcAft>
              <a:buSzPct val="100000"/>
              <a:buChar char="•"/>
            </a:pPr>
            <a:r>
              <a:rPr lang="en-US" sz="1300" dirty="0">
                <a:solidFill>
                  <a:srgbClr val="2E2E2E"/>
                </a:solidFill>
                <a:latin typeface="Arial" pitchFamily="34" charset="0"/>
                <a:ea typeface="Arial" pitchFamily="34" charset="-122"/>
                <a:cs typeface="Arial" pitchFamily="34" charset="-120"/>
              </a:rPr>
              <a:t>Draft relational target schema</a:t>
            </a:r>
            <a:endParaRPr lang="en-US" sz="1300" dirty="0"/>
          </a:p>
        </p:txBody>
      </p:sp>
      <p:sp>
        <p:nvSpPr>
          <p:cNvPr id="18" name="Shape 14"/>
          <p:cNvSpPr/>
          <p:nvPr/>
        </p:nvSpPr>
        <p:spPr>
          <a:xfrm>
            <a:off x="548640" y="4846320"/>
            <a:ext cx="11091672" cy="960120"/>
          </a:xfrm>
          <a:prstGeom prst="roundRect">
            <a:avLst>
              <a:gd name="adj" fmla="val 3810"/>
            </a:avLst>
          </a:prstGeom>
          <a:solidFill>
            <a:srgbClr val="232D5A"/>
          </a:solidFill>
          <a:ln/>
        </p:spPr>
        <p:txBody>
          <a:bodyPr/>
          <a:p/>
        </p:txBody>
      </p:sp>
      <p:sp>
        <p:nvSpPr>
          <p:cNvPr id="19" name="Text 15"/>
          <p:cNvSpPr/>
          <p:nvPr/>
        </p:nvSpPr>
        <p:spPr>
          <a:xfrm>
            <a:off x="868680" y="4846320"/>
            <a:ext cx="10451592" cy="9601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Prove the model on your real code before committing to a migration.  </a:t>
            </a:r>
            <a:pPr indent="0" marL="0">
              <a:buNone/>
            </a:pPr>
            <a:r>
              <a:rPr lang="en-US" sz="1300" dirty="0">
                <a:solidFill>
                  <a:srgbClr val="F5F5F0"/>
                </a:solidFill>
                <a:latin typeface="Arial" pitchFamily="34" charset="0"/>
                <a:ea typeface="Arial" pitchFamily="34" charset="-122"/>
                <a:cs typeface="Arial" pitchFamily="34" charset="-120"/>
              </a:rPr>
              <a:t>Public-sector buyers can purchase through the State of Montana MAPS cooperative vehicle (SPB26-0608GW) — cooperative purchasing extends to other states, local and tribal governments, and federal agencies.</a:t>
            </a:r>
            <a:endParaRPr lang="en-US" sz="1300" dirty="0"/>
          </a:p>
        </p:txBody>
      </p:sp>
      <p:sp>
        <p:nvSpPr>
          <p:cNvPr id="20" name="Shape 16"/>
          <p:cNvSpPr/>
          <p:nvPr/>
        </p:nvSpPr>
        <p:spPr>
          <a:xfrm>
            <a:off x="548640" y="6364224"/>
            <a:ext cx="11091672" cy="25603"/>
          </a:xfrm>
          <a:prstGeom prst="rect">
            <a:avLst/>
          </a:prstGeom>
          <a:solidFill>
            <a:srgbClr val="F7B801"/>
          </a:solidFill>
          <a:ln/>
        </p:spPr>
        <p:txBody>
          <a:bodyPr/>
          <a:p/>
        </p:txBody>
      </p:sp>
      <p:sp>
        <p:nvSpPr>
          <p:cNvPr id="27" name="Text 23"/>
          <p:cNvSpPr/>
          <p:nvPr/>
        </p:nvSpPr>
        <p:spPr>
          <a:xfrm>
            <a:off x="7982712" y="6455664"/>
            <a:ext cx="3108960" cy="292608"/>
          </a:xfrm>
          <a:prstGeom prst="rect">
            <a:avLst/>
          </a:prstGeom>
          <a:noFill/>
          <a:ln/>
        </p:spPr>
        <p:txBody>
          <a:bodyPr wrap="square" rtlCol="0" anchor="ctr"/>
          <a:lstStyle/>
          <a:p>
            <a:pPr algn="r" indent="0" marL="0">
              <a:buNone/>
            </a:pPr>
            <a:r>
              <a:rPr lang="en-US" sz="900" dirty="0">
                <a:solidFill>
                  <a:srgbClr val="8892A4"/>
                </a:solidFill>
                <a:latin typeface="Arial" pitchFamily="34" charset="0"/>
                <a:ea typeface="Arial" pitchFamily="34" charset="-122"/>
                <a:cs typeface="Arial" pitchFamily="34" charset="-120"/>
              </a:rPr>
              <a:t>Relian™  ·  Visionblox LLC</a:t>
            </a:r>
            <a:endParaRPr lang="en-US" sz="900" dirty="0"/>
          </a:p>
        </p:txBody>
      </p:sp>
      <p:sp>
        <p:nvSpPr>
          <p:cNvPr id="28" name="Text 24"/>
          <p:cNvSpPr/>
          <p:nvPr/>
        </p:nvSpPr>
        <p:spPr>
          <a:xfrm>
            <a:off x="11183112" y="6455664"/>
            <a:ext cx="457200" cy="292608"/>
          </a:xfrm>
          <a:prstGeom prst="rect">
            <a:avLst/>
          </a:prstGeom>
          <a:noFill/>
          <a:ln/>
        </p:spPr>
        <p:txBody>
          <a:bodyPr wrap="square" rtlCol="0" anchor="ctr"/>
          <a:lstStyle/>
          <a:p>
            <a:pPr algn="r" indent="0" marL="0">
              <a:buNone/>
            </a:pPr>
            <a:r>
              <a:rPr lang="en-US" sz="900" dirty="0">
                <a:solidFill>
                  <a:srgbClr val="8892A4"/>
                </a:solidFill>
                <a:latin typeface="Arial" pitchFamily="34" charset="0"/>
                <a:ea typeface="Arial" pitchFamily="34" charset="-122"/>
                <a:cs typeface="Arial" pitchFamily="34" charset="-120"/>
              </a:rPr>
              <a:t>11</a:t>
            </a:r>
            <a:endParaRPr lang="en-US" sz="900" dirty="0"/>
          </a:p>
        </p:txBody>
      </p:sp>
      <p:pic>
        <p:nvPicPr>
          <p:cNvPr id="29" name="Picture 28" descr="visionblox-logo.png"/>
          <p:cNvPicPr>
            <a:picLocks noChangeAspect="1"/>
          </p:cNvPicPr>
          <p:nvPr/>
        </p:nvPicPr>
        <p:blipFill>
          <a:blip r:embed="rId5"/>
          <a:stretch>
            <a:fillRect/>
          </a:stretch>
        </p:blipFill>
        <p:spPr>
          <a:xfrm>
            <a:off x="548640" y="6391656"/>
            <a:ext cx="914400" cy="38510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247"/>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347"/>
          </a:solidFill>
          <a:ln/>
        </p:spPr>
        <p:txBody>
          <a:bodyPr/>
          <a:p/>
        </p:txBody>
      </p:sp>
      <p:sp>
        <p:nvSpPr>
          <p:cNvPr id="9" name="Text 7"/>
          <p:cNvSpPr/>
          <p:nvPr/>
        </p:nvSpPr>
        <p:spPr>
          <a:xfrm>
            <a:off x="548640" y="1371600"/>
            <a:ext cx="11091672" cy="73152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Prove it. Don’t just promise it.</a:t>
            </a:r>
            <a:endParaRPr lang="en-US" sz="3000" dirty="0"/>
          </a:p>
        </p:txBody>
      </p:sp>
      <p:sp>
        <p:nvSpPr>
          <p:cNvPr id="10" name="Shape 8"/>
          <p:cNvSpPr/>
          <p:nvPr/>
        </p:nvSpPr>
        <p:spPr>
          <a:xfrm>
            <a:off x="548640" y="2286000"/>
            <a:ext cx="2532888" cy="1600200"/>
          </a:xfrm>
          <a:prstGeom prst="roundRect">
            <a:avLst>
              <a:gd name="adj" fmla="val 2286"/>
            </a:avLst>
          </a:prstGeom>
          <a:solidFill>
            <a:srgbClr val="2A3560"/>
          </a:solidFill>
          <a:ln/>
        </p:spPr>
        <p:txBody>
          <a:bodyPr/>
          <a:p/>
        </p:txBody>
      </p:sp>
      <p:sp>
        <p:nvSpPr>
          <p:cNvPr id="11" name="Shape 9"/>
          <p:cNvSpPr/>
          <p:nvPr/>
        </p:nvSpPr>
        <p:spPr>
          <a:xfrm>
            <a:off x="1531620" y="2514600"/>
            <a:ext cx="566928" cy="566928"/>
          </a:xfrm>
          <a:prstGeom prst="roundRect">
            <a:avLst>
              <a:gd name="adj" fmla="val 8065"/>
            </a:avLst>
          </a:prstGeom>
          <a:solidFill>
            <a:srgbClr val="2EA891"/>
          </a:solidFill>
          <a:ln/>
        </p:spPr>
        <p:txBody>
          <a:bodyPr/>
          <a:p/>
        </p:txBody>
      </p:sp>
      <p:pic>
        <p:nvPicPr>
          <p:cNvPr id="12" name="Image 0" descr="preencoded.png">    </p:cNvPr>
          <p:cNvPicPr>
            <a:picLocks noChangeAspect="1"/>
          </p:cNvPicPr>
          <p:nvPr/>
        </p:nvPicPr>
        <p:blipFill>
          <a:blip r:embed="rId1"/>
          <a:stretch>
            <a:fillRect/>
          </a:stretch>
        </p:blipFill>
        <p:spPr>
          <a:xfrm>
            <a:off x="1673352" y="2656332"/>
            <a:ext cx="283464" cy="283464"/>
          </a:xfrm>
          <a:prstGeom prst="rect">
            <a:avLst/>
          </a:prstGeom>
        </p:spPr>
      </p:pic>
      <p:sp>
        <p:nvSpPr>
          <p:cNvPr id="13" name="Text 10"/>
          <p:cNvSpPr/>
          <p:nvPr/>
        </p:nvSpPr>
        <p:spPr>
          <a:xfrm>
            <a:off x="548640" y="3200400"/>
            <a:ext cx="2532888" cy="320040"/>
          </a:xfrm>
          <a:prstGeom prst="rect">
            <a:avLst/>
          </a:prstGeom>
          <a:noFill/>
          <a:ln/>
        </p:spPr>
        <p:txBody>
          <a:bodyPr wrap="square" rtlCol="0" anchor="ctr"/>
          <a:lstStyle/>
          <a:p>
            <a:pPr algn="ctr" indent="0" marL="0">
              <a:buNone/>
            </a:pPr>
            <a:r>
              <a:rPr lang="en-US" sz="1500" b="1" dirty="0">
                <a:solidFill>
                  <a:srgbClr val="7FD4C1"/>
                </a:solidFill>
                <a:latin typeface="Arial" pitchFamily="34" charset="0"/>
                <a:ea typeface="Arial" pitchFamily="34" charset="-122"/>
                <a:cs typeface="Arial" pitchFamily="34" charset="-120"/>
              </a:rPr>
              <a:t>Provable</a:t>
            </a:r>
            <a:endParaRPr lang="en-US" sz="1500" dirty="0"/>
          </a:p>
        </p:txBody>
      </p:sp>
      <p:sp>
        <p:nvSpPr>
          <p:cNvPr id="14" name="Text 11"/>
          <p:cNvSpPr/>
          <p:nvPr/>
        </p:nvSpPr>
        <p:spPr>
          <a:xfrm>
            <a:off x="685800" y="3520440"/>
            <a:ext cx="2258568" cy="320040"/>
          </a:xfrm>
          <a:prstGeom prst="rect">
            <a:avLst/>
          </a:prstGeom>
          <a:noFill/>
          <a:ln/>
        </p:spPr>
        <p:txBody>
          <a:bodyPr wrap="square" rtlCol="0" anchor="ctr"/>
          <a:lstStyle/>
          <a:p>
            <a:pPr algn="ctr" indent="0" marL="0">
              <a:buNone/>
            </a:pPr>
            <a:r>
              <a:rPr lang="en-US" sz="1100" dirty="0">
                <a:solidFill>
                  <a:srgbClr val="F5F5F0"/>
                </a:solidFill>
                <a:latin typeface="Arial" pitchFamily="34" charset="0"/>
                <a:ea typeface="Arial" pitchFamily="34" charset="-122"/>
                <a:cs typeface="Arial" pitchFamily="34" charset="-120"/>
              </a:rPr>
              <a:t>signed equivalence proof</a:t>
            </a:r>
            <a:endParaRPr lang="en-US" sz="1100" dirty="0"/>
          </a:p>
        </p:txBody>
      </p:sp>
      <p:sp>
        <p:nvSpPr>
          <p:cNvPr id="15" name="Shape 12"/>
          <p:cNvSpPr/>
          <p:nvPr/>
        </p:nvSpPr>
        <p:spPr>
          <a:xfrm>
            <a:off x="3401568" y="2286000"/>
            <a:ext cx="2532888" cy="1600200"/>
          </a:xfrm>
          <a:prstGeom prst="roundRect">
            <a:avLst>
              <a:gd name="adj" fmla="val 2286"/>
            </a:avLst>
          </a:prstGeom>
          <a:solidFill>
            <a:srgbClr val="2A3560"/>
          </a:solidFill>
          <a:ln/>
        </p:spPr>
        <p:txBody>
          <a:bodyPr/>
          <a:p/>
        </p:txBody>
      </p:sp>
      <p:sp>
        <p:nvSpPr>
          <p:cNvPr id="16" name="Shape 13"/>
          <p:cNvSpPr/>
          <p:nvPr/>
        </p:nvSpPr>
        <p:spPr>
          <a:xfrm>
            <a:off x="4384548" y="2514600"/>
            <a:ext cx="566928" cy="566928"/>
          </a:xfrm>
          <a:prstGeom prst="roundRect">
            <a:avLst>
              <a:gd name="adj" fmla="val 8065"/>
            </a:avLst>
          </a:prstGeom>
          <a:solidFill>
            <a:srgbClr val="2EA891"/>
          </a:solidFill>
          <a:ln/>
        </p:spPr>
        <p:txBody>
          <a:bodyPr/>
          <a:p/>
        </p:txBody>
      </p:sp>
      <p:pic>
        <p:nvPicPr>
          <p:cNvPr id="17" name="Image 1" descr="preencoded.png">    </p:cNvPr>
          <p:cNvPicPr>
            <a:picLocks noChangeAspect="1"/>
          </p:cNvPicPr>
          <p:nvPr/>
        </p:nvPicPr>
        <p:blipFill>
          <a:blip r:embed="rId2"/>
          <a:stretch>
            <a:fillRect/>
          </a:stretch>
        </p:blipFill>
        <p:spPr>
          <a:xfrm>
            <a:off x="4526280" y="2656332"/>
            <a:ext cx="283464" cy="283464"/>
          </a:xfrm>
          <a:prstGeom prst="rect">
            <a:avLst/>
          </a:prstGeom>
        </p:spPr>
      </p:pic>
      <p:sp>
        <p:nvSpPr>
          <p:cNvPr id="18" name="Text 14"/>
          <p:cNvSpPr/>
          <p:nvPr/>
        </p:nvSpPr>
        <p:spPr>
          <a:xfrm>
            <a:off x="3401568" y="3200400"/>
            <a:ext cx="2532888" cy="320040"/>
          </a:xfrm>
          <a:prstGeom prst="rect">
            <a:avLst/>
          </a:prstGeom>
          <a:noFill/>
          <a:ln/>
        </p:spPr>
        <p:txBody>
          <a:bodyPr wrap="square" rtlCol="0" anchor="ctr"/>
          <a:lstStyle/>
          <a:p>
            <a:pPr algn="ctr" indent="0" marL="0">
              <a:buNone/>
            </a:pPr>
            <a:r>
              <a:rPr lang="en-US" sz="1500" b="1" dirty="0">
                <a:solidFill>
                  <a:srgbClr val="7FD4C1"/>
                </a:solidFill>
                <a:latin typeface="Arial" pitchFamily="34" charset="0"/>
                <a:ea typeface="Arial" pitchFamily="34" charset="-122"/>
                <a:cs typeface="Arial" pitchFamily="34" charset="-120"/>
              </a:rPr>
              <a:t>Portable</a:t>
            </a:r>
            <a:endParaRPr lang="en-US" sz="1500" dirty="0"/>
          </a:p>
        </p:txBody>
      </p:sp>
      <p:sp>
        <p:nvSpPr>
          <p:cNvPr id="19" name="Text 15"/>
          <p:cNvSpPr/>
          <p:nvPr/>
        </p:nvSpPr>
        <p:spPr>
          <a:xfrm>
            <a:off x="3538728" y="3520440"/>
            <a:ext cx="2258568" cy="320040"/>
          </a:xfrm>
          <a:prstGeom prst="rect">
            <a:avLst/>
          </a:prstGeom>
          <a:noFill/>
          <a:ln/>
        </p:spPr>
        <p:txBody>
          <a:bodyPr wrap="square" rtlCol="0" anchor="ctr"/>
          <a:lstStyle/>
          <a:p>
            <a:pPr algn="ctr" indent="0" marL="0">
              <a:buNone/>
            </a:pPr>
            <a:r>
              <a:rPr lang="en-US" sz="1100" dirty="0">
                <a:solidFill>
                  <a:srgbClr val="F5F5F0"/>
                </a:solidFill>
                <a:latin typeface="Arial" pitchFamily="34" charset="0"/>
                <a:ea typeface="Arial" pitchFamily="34" charset="-122"/>
                <a:cs typeface="Arial" pitchFamily="34" charset="-120"/>
              </a:rPr>
              <a:t>the evidence outlives us</a:t>
            </a:r>
            <a:endParaRPr lang="en-US" sz="1100" dirty="0"/>
          </a:p>
        </p:txBody>
      </p:sp>
      <p:sp>
        <p:nvSpPr>
          <p:cNvPr id="20" name="Shape 16"/>
          <p:cNvSpPr/>
          <p:nvPr/>
        </p:nvSpPr>
        <p:spPr>
          <a:xfrm>
            <a:off x="6254496" y="2286000"/>
            <a:ext cx="2532888" cy="1600200"/>
          </a:xfrm>
          <a:prstGeom prst="roundRect">
            <a:avLst>
              <a:gd name="adj" fmla="val 2286"/>
            </a:avLst>
          </a:prstGeom>
          <a:solidFill>
            <a:srgbClr val="2A3560"/>
          </a:solidFill>
          <a:ln/>
        </p:spPr>
        <p:txBody>
          <a:bodyPr/>
          <a:p/>
        </p:txBody>
      </p:sp>
      <p:sp>
        <p:nvSpPr>
          <p:cNvPr id="21" name="Shape 17"/>
          <p:cNvSpPr/>
          <p:nvPr/>
        </p:nvSpPr>
        <p:spPr>
          <a:xfrm>
            <a:off x="7237476" y="2514600"/>
            <a:ext cx="566928" cy="566928"/>
          </a:xfrm>
          <a:prstGeom prst="roundRect">
            <a:avLst>
              <a:gd name="adj" fmla="val 8065"/>
            </a:avLst>
          </a:prstGeom>
          <a:solidFill>
            <a:srgbClr val="2EA891"/>
          </a:solidFill>
          <a:ln/>
        </p:spPr>
        <p:txBody>
          <a:bodyPr/>
          <a:p/>
        </p:txBody>
      </p:sp>
      <p:pic>
        <p:nvPicPr>
          <p:cNvPr id="22" name="Image 2" descr="preencoded.png">    </p:cNvPr>
          <p:cNvPicPr>
            <a:picLocks noChangeAspect="1"/>
          </p:cNvPicPr>
          <p:nvPr/>
        </p:nvPicPr>
        <p:blipFill>
          <a:blip r:embed="rId3"/>
          <a:stretch>
            <a:fillRect/>
          </a:stretch>
        </p:blipFill>
        <p:spPr>
          <a:xfrm>
            <a:off x="7379208" y="2656332"/>
            <a:ext cx="283464" cy="283464"/>
          </a:xfrm>
          <a:prstGeom prst="rect">
            <a:avLst/>
          </a:prstGeom>
        </p:spPr>
      </p:pic>
      <p:sp>
        <p:nvSpPr>
          <p:cNvPr id="23" name="Text 18"/>
          <p:cNvSpPr/>
          <p:nvPr/>
        </p:nvSpPr>
        <p:spPr>
          <a:xfrm>
            <a:off x="6254496" y="3200400"/>
            <a:ext cx="2532888" cy="320040"/>
          </a:xfrm>
          <a:prstGeom prst="rect">
            <a:avLst/>
          </a:prstGeom>
          <a:noFill/>
          <a:ln/>
        </p:spPr>
        <p:txBody>
          <a:bodyPr wrap="square" rtlCol="0" anchor="ctr"/>
          <a:lstStyle/>
          <a:p>
            <a:pPr algn="ctr" indent="0" marL="0">
              <a:buNone/>
            </a:pPr>
            <a:r>
              <a:rPr lang="en-US" sz="1500" b="1" dirty="0">
                <a:solidFill>
                  <a:srgbClr val="7FD4C1"/>
                </a:solidFill>
                <a:latin typeface="Arial" pitchFamily="34" charset="0"/>
                <a:ea typeface="Arial" pitchFamily="34" charset="-122"/>
                <a:cs typeface="Arial" pitchFamily="34" charset="-120"/>
              </a:rPr>
              <a:t>Private</a:t>
            </a:r>
            <a:endParaRPr lang="en-US" sz="1500" dirty="0"/>
          </a:p>
        </p:txBody>
      </p:sp>
      <p:sp>
        <p:nvSpPr>
          <p:cNvPr id="24" name="Text 19"/>
          <p:cNvSpPr/>
          <p:nvPr/>
        </p:nvSpPr>
        <p:spPr>
          <a:xfrm>
            <a:off x="6391656" y="3520440"/>
            <a:ext cx="2258568" cy="320040"/>
          </a:xfrm>
          <a:prstGeom prst="rect">
            <a:avLst/>
          </a:prstGeom>
          <a:noFill/>
          <a:ln/>
        </p:spPr>
        <p:txBody>
          <a:bodyPr wrap="square" rtlCol="0" anchor="ctr"/>
          <a:lstStyle/>
          <a:p>
            <a:pPr algn="ctr" indent="0" marL="0">
              <a:buNone/>
            </a:pPr>
            <a:r>
              <a:rPr lang="en-US" sz="1100" dirty="0">
                <a:solidFill>
                  <a:srgbClr val="F5F5F0"/>
                </a:solidFill>
                <a:latin typeface="Arial" pitchFamily="34" charset="0"/>
                <a:ea typeface="Arial" pitchFamily="34" charset="-122"/>
                <a:cs typeface="Arial" pitchFamily="34" charset="-120"/>
              </a:rPr>
              <a:t>source never leaves you</a:t>
            </a:r>
            <a:endParaRPr lang="en-US" sz="1100" dirty="0"/>
          </a:p>
        </p:txBody>
      </p:sp>
      <p:sp>
        <p:nvSpPr>
          <p:cNvPr id="25" name="Shape 20"/>
          <p:cNvSpPr/>
          <p:nvPr/>
        </p:nvSpPr>
        <p:spPr>
          <a:xfrm>
            <a:off x="9107424" y="2286000"/>
            <a:ext cx="2532888" cy="1600200"/>
          </a:xfrm>
          <a:prstGeom prst="roundRect">
            <a:avLst>
              <a:gd name="adj" fmla="val 2286"/>
            </a:avLst>
          </a:prstGeom>
          <a:solidFill>
            <a:srgbClr val="2A3560"/>
          </a:solidFill>
          <a:ln/>
        </p:spPr>
        <p:txBody>
          <a:bodyPr/>
          <a:p/>
        </p:txBody>
      </p:sp>
      <p:sp>
        <p:nvSpPr>
          <p:cNvPr id="26" name="Shape 21"/>
          <p:cNvSpPr/>
          <p:nvPr/>
        </p:nvSpPr>
        <p:spPr>
          <a:xfrm>
            <a:off x="10090404" y="2514600"/>
            <a:ext cx="566928" cy="566928"/>
          </a:xfrm>
          <a:prstGeom prst="roundRect">
            <a:avLst>
              <a:gd name="adj" fmla="val 8065"/>
            </a:avLst>
          </a:prstGeom>
          <a:solidFill>
            <a:srgbClr val="2EA891"/>
          </a:solidFill>
          <a:ln/>
        </p:spPr>
        <p:txBody>
          <a:bodyPr/>
          <a:p/>
        </p:txBody>
      </p:sp>
      <p:pic>
        <p:nvPicPr>
          <p:cNvPr id="27" name="Image 3" descr="preencoded.png">    </p:cNvPr>
          <p:cNvPicPr>
            <a:picLocks noChangeAspect="1"/>
          </p:cNvPicPr>
          <p:nvPr/>
        </p:nvPicPr>
        <p:blipFill>
          <a:blip r:embed="rId4"/>
          <a:stretch>
            <a:fillRect/>
          </a:stretch>
        </p:blipFill>
        <p:spPr>
          <a:xfrm>
            <a:off x="10232136" y="2656332"/>
            <a:ext cx="283464" cy="283464"/>
          </a:xfrm>
          <a:prstGeom prst="rect">
            <a:avLst/>
          </a:prstGeom>
        </p:spPr>
      </p:pic>
      <p:sp>
        <p:nvSpPr>
          <p:cNvPr id="28" name="Text 22"/>
          <p:cNvSpPr/>
          <p:nvPr/>
        </p:nvSpPr>
        <p:spPr>
          <a:xfrm>
            <a:off x="9107424" y="3200400"/>
            <a:ext cx="2532888" cy="320040"/>
          </a:xfrm>
          <a:prstGeom prst="rect">
            <a:avLst/>
          </a:prstGeom>
          <a:noFill/>
          <a:ln/>
        </p:spPr>
        <p:txBody>
          <a:bodyPr wrap="square" rtlCol="0" anchor="ctr"/>
          <a:lstStyle/>
          <a:p>
            <a:pPr algn="ctr" indent="0" marL="0">
              <a:buNone/>
            </a:pPr>
            <a:r>
              <a:rPr lang="en-US" sz="1500" b="1" dirty="0">
                <a:solidFill>
                  <a:srgbClr val="7FD4C1"/>
                </a:solidFill>
                <a:latin typeface="Arial" pitchFamily="34" charset="0"/>
                <a:ea typeface="Arial" pitchFamily="34" charset="-122"/>
                <a:cs typeface="Arial" pitchFamily="34" charset="-120"/>
              </a:rPr>
              <a:t>Independent</a:t>
            </a:r>
            <a:endParaRPr lang="en-US" sz="1500" dirty="0"/>
          </a:p>
        </p:txBody>
      </p:sp>
      <p:sp>
        <p:nvSpPr>
          <p:cNvPr id="29" name="Text 23"/>
          <p:cNvSpPr/>
          <p:nvPr/>
        </p:nvSpPr>
        <p:spPr>
          <a:xfrm>
            <a:off x="9244584" y="3520440"/>
            <a:ext cx="2258568" cy="320040"/>
          </a:xfrm>
          <a:prstGeom prst="rect">
            <a:avLst/>
          </a:prstGeom>
          <a:noFill/>
          <a:ln/>
        </p:spPr>
        <p:txBody>
          <a:bodyPr wrap="square" rtlCol="0" anchor="ctr"/>
          <a:lstStyle/>
          <a:p>
            <a:pPr algn="ctr" indent="0" marL="0">
              <a:buNone/>
            </a:pPr>
            <a:r>
              <a:rPr lang="en-US" sz="1100" dirty="0">
                <a:solidFill>
                  <a:srgbClr val="F5F5F0"/>
                </a:solidFill>
                <a:latin typeface="Arial" pitchFamily="34" charset="0"/>
                <a:ea typeface="Arial" pitchFamily="34" charset="-122"/>
                <a:cs typeface="Arial" pitchFamily="34" charset="-120"/>
              </a:rPr>
              <a:t>a neutral referee</a:t>
            </a:r>
            <a:endParaRPr lang="en-US" sz="1100" dirty="0"/>
          </a:p>
        </p:txBody>
      </p:sp>
      <p:sp>
        <p:nvSpPr>
          <p:cNvPr id="30" name="Shape 24"/>
          <p:cNvSpPr/>
          <p:nvPr/>
        </p:nvSpPr>
        <p:spPr>
          <a:xfrm>
            <a:off x="548640" y="4160520"/>
            <a:ext cx="11091672" cy="1600200"/>
          </a:xfrm>
          <a:prstGeom prst="roundRect">
            <a:avLst>
              <a:gd name="adj" fmla="val 2286"/>
            </a:avLst>
          </a:prstGeom>
          <a:solidFill>
            <a:srgbClr val="2A3560"/>
          </a:solidFill>
          <a:ln w="12700">
            <a:solidFill>
              <a:srgbClr val="2EA891"/>
            </a:solidFill>
            <a:prstDash val="solid"/>
          </a:ln>
        </p:spPr>
        <p:txBody>
          <a:bodyPr/>
          <a:p/>
        </p:txBody>
      </p:sp>
      <p:sp>
        <p:nvSpPr>
          <p:cNvPr id="31" name="Text 25"/>
          <p:cNvSpPr/>
          <p:nvPr/>
        </p:nvSpPr>
        <p:spPr>
          <a:xfrm>
            <a:off x="914400" y="4343400"/>
            <a:ext cx="10360152" cy="457200"/>
          </a:xfrm>
          <a:prstGeom prst="rect">
            <a:avLst/>
          </a:prstGeom>
          <a:noFill/>
          <a:ln/>
        </p:spPr>
        <p:txBody>
          <a:bodyPr wrap="square" rtlCol="0" anchor="ctr"/>
          <a:lstStyle/>
          <a:p>
            <a:pPr indent="0" marL="0">
              <a:buNone/>
            </a:pPr>
            <a:r>
              <a:rPr lang="en-US" sz="1800" b="1" dirty="0">
                <a:solidFill>
                  <a:srgbClr val="F7B801"/>
                </a:solidFill>
                <a:latin typeface="Arial" pitchFamily="34" charset="0"/>
                <a:ea typeface="Arial" pitchFamily="34" charset="-122"/>
                <a:cs typeface="Arial" pitchFamily="34" charset="-120"/>
              </a:rPr>
              <a:t>Start with an assessment.</a:t>
            </a:r>
            <a:endParaRPr lang="en-US" sz="1800" dirty="0"/>
          </a:p>
        </p:txBody>
      </p:sp>
      <p:sp>
        <p:nvSpPr>
          <p:cNvPr id="32" name="Text 26"/>
          <p:cNvSpPr/>
          <p:nvPr/>
        </p:nvSpPr>
        <p:spPr>
          <a:xfrm>
            <a:off x="914400" y="4800600"/>
            <a:ext cx="10360152"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A. Khaalis Wooden, Sr.</a:t>
            </a:r>
            <a:pPr indent="0" marL="0">
              <a:buNone/>
            </a:pPr>
            <a:r>
              <a:rPr lang="en-US" sz="1300" dirty="0">
                <a:solidFill>
                  <a:srgbClr val="F5F5F0"/>
                </a:solidFill>
                <a:latin typeface="Arial" pitchFamily="34" charset="0"/>
                <a:ea typeface="Arial" pitchFamily="34" charset="-122"/>
                <a:cs typeface="Arial" pitchFamily="34" charset="-120"/>
              </a:rPr>
              <a:t>  ·  Director, Enterprise Capture &amp; Compliance  ·  Visionblox LLC</a:t>
            </a:r>
            <a:endParaRPr lang="en-US" sz="1300" dirty="0"/>
          </a:p>
        </p:txBody>
      </p:sp>
      <p:sp>
        <p:nvSpPr>
          <p:cNvPr id="33" name="Shape 27"/>
          <p:cNvSpPr/>
          <p:nvPr/>
        </p:nvSpPr>
        <p:spPr>
          <a:xfrm>
            <a:off x="914400" y="5193792"/>
            <a:ext cx="310896" cy="310896"/>
          </a:xfrm>
          <a:prstGeom prst="roundRect">
            <a:avLst>
              <a:gd name="adj" fmla="val 14706"/>
            </a:avLst>
          </a:prstGeom>
          <a:solidFill>
            <a:srgbClr val="2EA891"/>
          </a:solidFill>
          <a:ln/>
        </p:spPr>
        <p:txBody>
          <a:bodyPr/>
          <a:p/>
        </p:txBody>
      </p:sp>
      <p:pic>
        <p:nvPicPr>
          <p:cNvPr id="34" name="Image 4" descr="preencoded.png">    </p:cNvPr>
          <p:cNvPicPr>
            <a:picLocks noChangeAspect="1"/>
          </p:cNvPicPr>
          <p:nvPr/>
        </p:nvPicPr>
        <p:blipFill>
          <a:blip r:embed="rId5"/>
          <a:stretch>
            <a:fillRect/>
          </a:stretch>
        </p:blipFill>
        <p:spPr>
          <a:xfrm>
            <a:off x="992124" y="5271516"/>
            <a:ext cx="155448" cy="155448"/>
          </a:xfrm>
          <a:prstGeom prst="rect">
            <a:avLst/>
          </a:prstGeom>
        </p:spPr>
      </p:pic>
      <p:sp>
        <p:nvSpPr>
          <p:cNvPr id="35" name="Text 28"/>
          <p:cNvSpPr/>
          <p:nvPr/>
        </p:nvSpPr>
        <p:spPr>
          <a:xfrm>
            <a:off x="1325880" y="5175504"/>
            <a:ext cx="9994392" cy="32004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(256) 988-1130   ·   kwooden@visionblox.com   ·   San Jose, CA / Huntsville, AL</a:t>
            </a:r>
            <a:endParaRPr lang="en-US" sz="1300" dirty="0"/>
          </a:p>
        </p:txBody>
      </p:sp>
      <p:sp>
        <p:nvSpPr>
          <p:cNvPr id="36" name="Text 29"/>
          <p:cNvSpPr/>
          <p:nvPr/>
        </p:nvSpPr>
        <p:spPr>
          <a:xfrm>
            <a:off x="548640" y="6080760"/>
            <a:ext cx="11091672" cy="320040"/>
          </a:xfrm>
          <a:prstGeom prst="rect">
            <a:avLst/>
          </a:prstGeom>
          <a:noFill/>
          <a:ln/>
        </p:spPr>
        <p:txBody>
          <a:bodyPr wrap="square" rtlCol="0" anchor="ctr"/>
          <a:lstStyle/>
          <a:p>
            <a:pPr algn="ctr" indent="0" marL="0">
              <a:buNone/>
            </a:pPr>
            <a:r>
              <a:rPr lang="en-US" sz="1050" dirty="0">
                <a:solidFill>
                  <a:srgbClr val="8892A4"/>
                </a:solidFill>
                <a:latin typeface="Arial" pitchFamily="34" charset="0"/>
                <a:ea typeface="Arial" pitchFamily="34" charset="-122"/>
                <a:cs typeface="Arial" pitchFamily="34" charset="-120"/>
              </a:rPr>
              <a:t>CAGE 9Z4X2   ·   UEI H4X2Z7R9E3E3   ·   NAICS 541511 · 541512 · 541519 · 518210 · 541611 · 541330   ·   Veteran-owned small business</a:t>
            </a:r>
            <a:endParaRPr lang="en-US" sz="1050" dirty="0"/>
          </a:p>
        </p:txBody>
      </p:sp>
      <p:pic>
        <p:nvPicPr>
          <p:cNvPr id="37" name="Picture 36" descr="visionblox-logo-knockout.png"/>
          <p:cNvPicPr>
            <a:picLocks noChangeAspect="1"/>
          </p:cNvPicPr>
          <p:nvPr/>
        </p:nvPicPr>
        <p:blipFill>
          <a:blip r:embed="rId8"/>
          <a:stretch>
            <a:fillRect/>
          </a:stretch>
        </p:blipFill>
        <p:spPr>
          <a:xfrm>
            <a:off x="548640" y="457200"/>
            <a:ext cx="2011680" cy="847234"/>
          </a:xfrm>
          <a:prstGeom prst="rect">
            <a:avLst/>
          </a:prstGeom>
        </p:spPr>
      </p:pic>
      <p:sp>
        <p:nvSpPr>
          <p:cNvPr id="38" name="TextBox 37"/>
          <p:cNvSpPr txBox="1"/>
          <p:nvPr/>
        </p:nvSpPr>
        <p:spPr>
          <a:xfrm>
            <a:off x="7592568" y="658368"/>
            <a:ext cx="4050791" cy="274320"/>
          </a:xfrm>
          <a:prstGeom prst="rect">
            <a:avLst/>
          </a:prstGeom>
          <a:noFill/>
        </p:spPr>
        <p:txBody>
          <a:bodyPr wrap="square">
            <a:spAutoFit/>
          </a:bodyPr>
          <a:lstStyle/>
          <a:p>
            <a:pPr algn="r"/>
            <a:r>
              <a:rPr sz="1100" b="1" spc="300">
                <a:solidFill>
                  <a:srgbClr val="2EA891"/>
                </a:solidFill>
                <a:latin typeface="Arial"/>
              </a:rPr>
              <a:t>BUILD WHAT DOESN’T EXIST YET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F0F0F0"/>
          </a:solidFill>
          <a:ln/>
        </p:spPr>
        <p:txBody>
          <a:bodyPr/>
          <a:p/>
        </p:txBody>
      </p:sp>
      <p:sp>
        <p:nvSpPr>
          <p:cNvPr id="3" name="Text 1"/>
          <p:cNvSpPr/>
          <p:nvPr/>
        </p:nvSpPr>
        <p:spPr>
          <a:xfrm>
            <a:off x="548640" y="274320"/>
            <a:ext cx="11091672" cy="502920"/>
          </a:xfrm>
          <a:prstGeom prst="rect">
            <a:avLst/>
          </a:prstGeom>
          <a:noFill/>
          <a:ln/>
        </p:spPr>
        <p:txBody>
          <a:bodyPr wrap="square" rtlCol="0" anchor="ctr"/>
          <a:lstStyle/>
          <a:p>
            <a:pPr indent="0" marL="0">
              <a:buNone/>
            </a:pPr>
            <a:r>
              <a:rPr lang="en-US" sz="2400" b="1" dirty="0">
                <a:solidFill>
                  <a:srgbClr val="232D5A"/>
                </a:solidFill>
                <a:latin typeface="Arial" pitchFamily="34" charset="0"/>
                <a:ea typeface="Arial" pitchFamily="34" charset="-122"/>
                <a:cs typeface="Arial" pitchFamily="34" charset="-120"/>
              </a:rPr>
              <a:t>References  (APA 7th ed.)</a:t>
            </a:r>
            <a:endParaRPr lang="en-US" sz="2400" dirty="0"/>
          </a:p>
        </p:txBody>
      </p:sp>
      <p:sp>
        <p:nvSpPr>
          <p:cNvPr id="4" name="Text 2"/>
          <p:cNvSpPr/>
          <p:nvPr/>
        </p:nvSpPr>
        <p:spPr>
          <a:xfrm>
            <a:off x="548640" y="1371600"/>
            <a:ext cx="11091672" cy="4754880"/>
          </a:xfrm>
          <a:prstGeom prst="rect">
            <a:avLst/>
          </a:prstGeom>
          <a:noFill/>
          <a:ln/>
        </p:spPr>
        <p:txBody>
          <a:bodyPr wrap="square" rtlCol="0" anchor="t"/>
          <a:lstStyle/>
          <a:p>
            <a:pPr indent="0" marL="0">
              <a:spcAft>
                <a:spcPts val="1200"/>
              </a:spcAft>
              <a:buNone/>
            </a:pPr>
            <a:r>
              <a:rPr lang="en-US" sz="1250" dirty="0">
                <a:solidFill>
                  <a:srgbClr val="2E2E2E"/>
                </a:solidFill>
                <a:latin typeface="Arial" pitchFamily="34" charset="0"/>
                <a:ea typeface="Arial" pitchFamily="34" charset="-122"/>
                <a:cs typeface="Arial" pitchFamily="34" charset="-120"/>
              </a:rPr>
              <a:t>Bernstein, D. J., Duif, N., Lange, T., Schwabe, P., &amp; Yang, B.-Y. (2012). High-speed high-security signatures. Journal of Cryptographic Engineering, 2(2), 77–89.</a:t>
            </a:r>
            <a:endParaRPr lang="en-US" sz="1250" dirty="0"/>
          </a:p>
          <a:p>
            <a:pPr indent="0" marL="0">
              <a:spcAft>
                <a:spcPts val="1200"/>
              </a:spcAft>
              <a:buNone/>
            </a:pPr>
            <a:r>
              <a:rPr lang="en-US" sz="1250" dirty="0">
                <a:solidFill>
                  <a:srgbClr val="2E2E2E"/>
                </a:solidFill>
                <a:latin typeface="Arial" pitchFamily="34" charset="0"/>
                <a:ea typeface="Arial" pitchFamily="34" charset="-122"/>
                <a:cs typeface="Arial" pitchFamily="34" charset="-120"/>
              </a:rPr>
              <a:t>Lamb, C., &amp; Zacchiroli, S. (2022). Reproducible builds: Increasing the integrity of software supply chains. IEEE Software, 39(2), 62–70. https://doi.org/10.1109/MS.2021.3073045</a:t>
            </a:r>
            <a:endParaRPr lang="en-US" sz="1250" dirty="0"/>
          </a:p>
          <a:p>
            <a:pPr indent="0" marL="0">
              <a:spcAft>
                <a:spcPts val="1200"/>
              </a:spcAft>
              <a:buNone/>
            </a:pPr>
            <a:r>
              <a:rPr lang="en-US" sz="1250" dirty="0">
                <a:solidFill>
                  <a:srgbClr val="2E2E2E"/>
                </a:solidFill>
                <a:latin typeface="Arial" pitchFamily="34" charset="0"/>
                <a:ea typeface="Arial" pitchFamily="34" charset="-122"/>
                <a:cs typeface="Arial" pitchFamily="34" charset="-120"/>
              </a:rPr>
              <a:t>Merkle, R. C. (1988). A digital signature based on a conventional encryption function. In C. Pomerance (Ed.), Advances in cryptology — CRYPTO ’87 (Lecture Notes in Computer Science, Vol. 293, pp. 369–378). Springer.</a:t>
            </a:r>
            <a:endParaRPr lang="en-US" sz="1250" dirty="0"/>
          </a:p>
          <a:p>
            <a:pPr indent="0" marL="0">
              <a:spcAft>
                <a:spcPts val="1200"/>
              </a:spcAft>
              <a:buNone/>
            </a:pPr>
            <a:r>
              <a:rPr lang="en-US" sz="1250" dirty="0">
                <a:solidFill>
                  <a:srgbClr val="2E2E2E"/>
                </a:solidFill>
                <a:latin typeface="Arial" pitchFamily="34" charset="0"/>
                <a:ea typeface="Arial" pitchFamily="34" charset="-122"/>
                <a:cs typeface="Arial" pitchFamily="34" charset="-120"/>
              </a:rPr>
              <a:t>National Institute of Standards and Technology. (2023). Digital signature standard (DSS) (FIPS PUB 186-5). U.S. Department of Commerce. https://doi.org/10.6028/NIST.FIPS.186-5</a:t>
            </a:r>
            <a:endParaRPr lang="en-US" sz="1250" dirty="0"/>
          </a:p>
          <a:p>
            <a:pPr indent="0" marL="0">
              <a:spcAft>
                <a:spcPts val="1200"/>
              </a:spcAft>
              <a:buNone/>
            </a:pPr>
            <a:r>
              <a:rPr lang="en-US" sz="1250" dirty="0">
                <a:solidFill>
                  <a:srgbClr val="2E2E2E"/>
                </a:solidFill>
                <a:latin typeface="Arial" pitchFamily="34" charset="0"/>
                <a:ea typeface="Arial" pitchFamily="34" charset="-122"/>
                <a:cs typeface="Arial" pitchFamily="34" charset="-120"/>
              </a:rPr>
              <a:t>U.S. Government Accountability Office. (2016). Information technology: Federal agencies need to address aging legacy systems (GAO-16-468). https://www.gao.gov/products/gao-16-468</a:t>
            </a:r>
            <a:endParaRPr lang="en-US" sz="1250" dirty="0"/>
          </a:p>
          <a:p>
            <a:pPr indent="0" marL="0">
              <a:spcAft>
                <a:spcPts val="1200"/>
              </a:spcAft>
              <a:buNone/>
            </a:pPr>
            <a:r>
              <a:rPr lang="en-US" sz="1250" dirty="0">
                <a:solidFill>
                  <a:srgbClr val="2E2E2E"/>
                </a:solidFill>
                <a:latin typeface="Arial" pitchFamily="34" charset="0"/>
                <a:ea typeface="Arial" pitchFamily="34" charset="-122"/>
                <a:cs typeface="Arial" pitchFamily="34" charset="-120"/>
              </a:rPr>
              <a:t>U.S. Government Accountability Office. (2019). Information technology: Agencies need to develop modernization plans for critical legacy systems (GAO-19-471). https://www.gao.gov/products/gao-19-471</a:t>
            </a:r>
            <a:endParaRPr lang="en-US" sz="1250" dirty="0"/>
          </a:p>
          <a:p>
            <a:pPr indent="0" marL="0">
              <a:spcAft>
                <a:spcPts val="1200"/>
              </a:spcAft>
              <a:buNone/>
            </a:pPr>
            <a:r>
              <a:rPr lang="en-US" sz="1250" dirty="0">
                <a:solidFill>
                  <a:srgbClr val="2E2E2E"/>
                </a:solidFill>
                <a:latin typeface="Arial" pitchFamily="34" charset="0"/>
                <a:ea typeface="Arial" pitchFamily="34" charset="-122"/>
                <a:cs typeface="Arial" pitchFamily="34" charset="-120"/>
              </a:rPr>
              <a:t>Montana State Procurement Services Division. (2026). Master AI products &amp; services contract (SPB26-0608GW-VSNBLX) [Government contract]. State of Montana.</a:t>
            </a:r>
            <a:endParaRPr lang="en-US" sz="1250" dirty="0"/>
          </a:p>
        </p:txBody>
      </p:sp>
      <p:sp>
        <p:nvSpPr>
          <p:cNvPr id="5" name="Text 3"/>
          <p:cNvSpPr/>
          <p:nvPr/>
        </p:nvSpPr>
        <p:spPr>
          <a:xfrm>
            <a:off x="548640" y="6446520"/>
            <a:ext cx="11091672" cy="274320"/>
          </a:xfrm>
          <a:prstGeom prst="rect">
            <a:avLst/>
          </a:prstGeom>
          <a:noFill/>
          <a:ln/>
        </p:spPr>
        <p:txBody>
          <a:bodyPr wrap="square" rtlCol="0" anchor="ctr"/>
          <a:lstStyle/>
          <a:p>
            <a:pPr algn="ctr" indent="0" marL="0">
              <a:buNone/>
            </a:pPr>
            <a:r>
              <a:rPr lang="en-US" sz="950" i="1" dirty="0">
                <a:solidFill>
                  <a:srgbClr val="8892A4"/>
                </a:solidFill>
                <a:latin typeface="Arial" pitchFamily="34" charset="0"/>
                <a:ea typeface="Arial" pitchFamily="34" charset="-122"/>
                <a:cs typeface="Arial" pitchFamily="34" charset="-120"/>
              </a:rPr>
              <a:t>© 2026 Visionblox LLC  ·  Relian™  ·  Prepared for external distribution</a:t>
            </a:r>
            <a:endParaRPr lang="en-US" sz="950" dirty="0"/>
          </a:p>
        </p:txBody>
      </p:sp>
      <p:sp>
        <p:nvSpPr>
          <p:cNvPr id="6" name="Rectangle 5"/>
          <p:cNvSpPr/>
          <p:nvPr/>
        </p:nvSpPr>
        <p:spPr>
          <a:xfrm>
            <a:off x="548640" y="6364224"/>
            <a:ext cx="11094720" cy="25603"/>
          </a:xfrm>
          <a:prstGeom prst="rect">
            <a:avLst/>
          </a:prstGeom>
          <a:solidFill>
            <a:srgbClr val="F7B8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isionblox-logo.png"/>
          <p:cNvPicPr>
            <a:picLocks noChangeAspect="1"/>
          </p:cNvPicPr>
          <p:nvPr/>
        </p:nvPicPr>
        <p:blipFill>
          <a:blip r:embed="rId3"/>
          <a:stretch>
            <a:fillRect/>
          </a:stretch>
        </p:blipFill>
        <p:spPr>
          <a:xfrm>
            <a:off x="548640" y="6391656"/>
            <a:ext cx="914400" cy="38510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2026-08-17T11:57:38Z</dcterms:created>
  <dcterms:modified xsi:type="dcterms:W3CDTF">2026-08-17T11:57:38Z</dcterms:modified>
</cp:coreProperties>
</file>