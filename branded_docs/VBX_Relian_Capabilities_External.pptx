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6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6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Relationship Id="rId8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6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Relationship Id="rId7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6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Relationship Id="rId8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34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592568" y="658368"/>
            <a:ext cx="405079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r">
              <a:buNone/>
            </a:pPr>
            <a:r>
              <a:rPr lang="en-US" sz="1100" b="1" spc="3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WHAT DOESN’T EXIST YET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874520"/>
            <a:ext cx="914400" cy="914400"/>
          </a:xfrm>
          <a:prstGeom prst="roundRect">
            <a:avLst>
              <a:gd name="adj" fmla="val 5000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03120"/>
            <a:ext cx="457200" cy="457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292608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FD4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Relian™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548640" y="352044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Verifiable Software Modernization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548640" y="4434840"/>
            <a:ext cx="9262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just migrate legacy code — prove it behaves identically, with cryptographic evidence anyone can verify.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548640" y="5257800"/>
            <a:ext cx="1444752" cy="457200"/>
          </a:xfrm>
          <a:prstGeom prst="roundRect">
            <a:avLst>
              <a:gd name="adj" fmla="val 8000"/>
            </a:avLst>
          </a:prstGeom>
          <a:solidFill>
            <a:srgbClr val="2A3560"/>
          </a:solidFill>
          <a:ln w="12700">
            <a:solidFill>
              <a:srgbClr val="2EA89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48640" y="525780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2221992" y="5257800"/>
            <a:ext cx="2926080" cy="457200"/>
          </a:xfrm>
          <a:prstGeom prst="roundRect">
            <a:avLst>
              <a:gd name="adj" fmla="val 8000"/>
            </a:avLst>
          </a:prstGeom>
          <a:solidFill>
            <a:srgbClr val="2A3560"/>
          </a:solidFill>
          <a:ln w="12700">
            <a:solidFill>
              <a:srgbClr val="2EA891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2221992" y="5257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· Local · Education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376672" y="5257800"/>
            <a:ext cx="1148486" cy="457200"/>
          </a:xfrm>
          <a:prstGeom prst="roundRect">
            <a:avLst>
              <a:gd name="adj" fmla="val 8000"/>
            </a:avLst>
          </a:prstGeom>
          <a:solidFill>
            <a:srgbClr val="2A3560"/>
          </a:solidFill>
          <a:ln w="12700">
            <a:solidFill>
              <a:srgbClr val="2EA891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5376672" y="5257800"/>
            <a:ext cx="11484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48640" y="626364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Visionblox LLC  ·  Veteran-owned small business  ·  San Jose, CA / Huntsville, AL</a:t>
            </a:r>
            <a:endParaRPr lang="en-US" sz="1100" dirty="0"/>
          </a:p>
        </p:txBody>
      </p:sp>
      <p:pic>
        <p:nvPicPr>
          <p:cNvPr id="22" name="Picture 21" descr="visionblox-logo-knock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57200"/>
            <a:ext cx="2011680" cy="8472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Modernization is a trust problem — not just a code problem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systems still run benefits, banking, courts, and records. The hard part isn’t writing new code — it’s proving the new code behaves exactly like the old. Traditional tools ask you to trust a black box.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3453384" cy="2468880"/>
          </a:xfrm>
          <a:prstGeom prst="roundRect">
            <a:avLst>
              <a:gd name="adj" fmla="val 1481"/>
            </a:avLst>
          </a:prstGeom>
          <a:solidFill>
            <a:srgbClr val="F0F0F0"/>
          </a:solidFill>
          <a:ln/>
          <a:effectLst>
            <a:outerShdw sx="100000" sy="100000" kx="0" ky="0" algn="bl" rotWithShape="0" blurRad="76200" dist="25400" dir="5400000">
              <a:srgbClr val="B9C0CE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78892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9489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611880"/>
            <a:ext cx="2904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8–51 yrs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22960" y="4251960"/>
            <a:ext cx="2904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 of critical federal legacy systems still in service (GAO)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67784" y="2514600"/>
            <a:ext cx="3453384" cy="2468880"/>
          </a:xfrm>
          <a:prstGeom prst="roundRect">
            <a:avLst>
              <a:gd name="adj" fmla="val 1481"/>
            </a:avLst>
          </a:prstGeom>
          <a:solidFill>
            <a:srgbClr val="F0F0F0"/>
          </a:solidFill>
          <a:ln/>
          <a:effectLst>
            <a:outerShdw sx="100000" sy="100000" kx="0" ky="0" algn="bl" rotWithShape="0" blurRad="76200" dist="25400" dir="5400000">
              <a:srgbClr val="B9C0CE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42104" y="278892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2124" y="294894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42104" y="3611880"/>
            <a:ext cx="2904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COBOL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4642104" y="4251960"/>
            <a:ext cx="2904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runs core systems as the workforce that maintains it retires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86928" y="2514600"/>
            <a:ext cx="3453384" cy="2468880"/>
          </a:xfrm>
          <a:prstGeom prst="roundRect">
            <a:avLst>
              <a:gd name="adj" fmla="val 1481"/>
            </a:avLst>
          </a:prstGeom>
          <a:solidFill>
            <a:srgbClr val="F0F0F0"/>
          </a:solidFill>
          <a:ln/>
          <a:effectLst>
            <a:outerShdw sx="100000" sy="100000" kx="0" ky="0" algn="bl" rotWithShape="0" blurRad="76200" dist="25400" dir="5400000">
              <a:srgbClr val="B9C0CE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61248" y="278892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1268" y="294894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61248" y="3611880"/>
            <a:ext cx="2904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</a:t>
            </a:r>
            <a:endParaRPr lang="en-US" sz="3000" dirty="0"/>
          </a:p>
        </p:txBody>
      </p:sp>
      <p:sp>
        <p:nvSpPr>
          <p:cNvPr id="19" name="Text 14"/>
          <p:cNvSpPr/>
          <p:nvPr/>
        </p:nvSpPr>
        <p:spPr>
          <a:xfrm>
            <a:off x="8461248" y="4251960"/>
            <a:ext cx="2904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federal IT spend goes to operating &amp; maintaining existing systems (GAO)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every board, examiner, and auditor asks: “how do you know the new system does the same thing?”  Relian answers it with proof.</a:t>
            </a:r>
            <a:endParaRPr lang="en-US" sz="1350" dirty="0"/>
          </a:p>
        </p:txBody>
      </p:sp>
      <p:sp>
        <p:nvSpPr>
          <p:cNvPr id="21" name="Shape 16"/>
          <p:cNvSpPr/>
          <p:nvPr/>
        </p:nvSpPr>
        <p:spPr>
          <a:xfrm>
            <a:off x="548640" y="6364224"/>
            <a:ext cx="11091672" cy="25603"/>
          </a:xfrm>
          <a:prstGeom prst="rect">
            <a:avLst/>
          </a:prstGeom>
          <a:solidFill>
            <a:srgbClr val="F7B801"/>
          </a:solidFill>
          <a:ln/>
        </p:spPr>
        <p:txBody>
          <a:bodyPr/>
          <a:p/>
        </p:txBody>
      </p:sp>
      <p:sp>
        <p:nvSpPr>
          <p:cNvPr id="28" name="Text 23"/>
          <p:cNvSpPr/>
          <p:nvPr/>
        </p:nvSpPr>
        <p:spPr>
          <a:xfrm>
            <a:off x="7982712" y="6455664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Relian™  ·  Visionblox LLC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11183112" y="64556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pic>
        <p:nvPicPr>
          <p:cNvPr id="30" name="Picture 29" descr="visionblox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391656"/>
            <a:ext cx="914400" cy="3851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2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34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D4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RELIAN 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independent transformation-attestation substrate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1672" cy="777240"/>
          </a:xfrm>
          <a:prstGeom prst="roundRect">
            <a:avLst>
              <a:gd name="adj" fmla="val 4706"/>
            </a:avLst>
          </a:prstGeom>
          <a:solidFill>
            <a:srgbClr val="2A3560"/>
          </a:solidFill>
          <a:ln w="12700">
            <a:solidFill>
              <a:srgbClr val="2EA89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554480"/>
            <a:ext cx="105430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Relian does one thing no migration vendor can do for itself: </a:t>
            </a:r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independently prove that modernized code behaves identically to the original.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3453384" cy="2697480"/>
          </a:xfrm>
          <a:prstGeom prst="roundRect">
            <a:avLst>
              <a:gd name="adj" fmla="val 1356"/>
            </a:avLst>
          </a:prstGeom>
          <a:solidFill>
            <a:srgbClr val="2A356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880360"/>
            <a:ext cx="658368" cy="658368"/>
          </a:xfrm>
          <a:prstGeom prst="roundRect">
            <a:avLst>
              <a:gd name="adj" fmla="val 6944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304495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24784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3B4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841248" y="3703320"/>
            <a:ext cx="29047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transformation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" y="4251960"/>
            <a:ext cx="29047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reproducible, rule-based engine converts legacy code — the same input always yields the same output, with no black-box AI in the transform path.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67784" y="2606040"/>
            <a:ext cx="3453384" cy="2697480"/>
          </a:xfrm>
          <a:prstGeom prst="roundRect">
            <a:avLst>
              <a:gd name="adj" fmla="val 1356"/>
            </a:avLst>
          </a:prstGeom>
          <a:solidFill>
            <a:srgbClr val="2A3560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4660392" y="2880360"/>
            <a:ext cx="658368" cy="658368"/>
          </a:xfrm>
          <a:prstGeom prst="roundRect">
            <a:avLst>
              <a:gd name="adj" fmla="val 6944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984" y="3044952"/>
            <a:ext cx="329184" cy="3291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043928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3B4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00" dirty="0"/>
          </a:p>
        </p:txBody>
      </p:sp>
      <p:sp>
        <p:nvSpPr>
          <p:cNvPr id="17" name="Text 13"/>
          <p:cNvSpPr/>
          <p:nvPr/>
        </p:nvSpPr>
        <p:spPr>
          <a:xfrm>
            <a:off x="4660392" y="3703320"/>
            <a:ext cx="29047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Committed benchmarking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660392" y="4251960"/>
            <a:ext cx="29047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equivalence is measured against a test suite cryptographically committed before the solution existed — so the results can’t be gamed.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86928" y="2606040"/>
            <a:ext cx="3453384" cy="2697480"/>
          </a:xfrm>
          <a:prstGeom prst="roundRect">
            <a:avLst>
              <a:gd name="adj" fmla="val 1356"/>
            </a:avLst>
          </a:prstGeom>
          <a:solidFill>
            <a:srgbClr val="2A3560"/>
          </a:solidFill>
          <a:ln/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8479536" y="2880360"/>
            <a:ext cx="658368" cy="658368"/>
          </a:xfrm>
          <a:prstGeom prst="roundRect">
            <a:avLst>
              <a:gd name="adj" fmla="val 6944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4128" y="3044952"/>
            <a:ext cx="329184" cy="3291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0863072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3B4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00" dirty="0"/>
          </a:p>
        </p:txBody>
      </p:sp>
      <p:sp>
        <p:nvSpPr>
          <p:cNvPr id="23" name="Text 18"/>
          <p:cNvSpPr/>
          <p:nvPr/>
        </p:nvSpPr>
        <p:spPr>
          <a:xfrm>
            <a:off x="8479536" y="3703320"/>
            <a:ext cx="29047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attestation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8479536" y="4251960"/>
            <a:ext cx="29047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transformation yields a signed, hash-chained proof of equivalence that anyone can independently re-derive and verify.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548640" y="55321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 is the proof — not the pipeline.</a:t>
            </a:r>
            <a:endParaRPr lang="en-US" sz="1500" dirty="0"/>
          </a:p>
        </p:txBody>
      </p:sp>
      <p:sp>
        <p:nvSpPr>
          <p:cNvPr id="26" name="Rectangle 25"/>
          <p:cNvSpPr/>
          <p:nvPr/>
        </p:nvSpPr>
        <p:spPr>
          <a:xfrm>
            <a:off x="548640" y="6364224"/>
            <a:ext cx="11094720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visionblox-logo-knocko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391656"/>
            <a:ext cx="914400" cy="3851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source stays home — only the proof travels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669694" cy="2286000"/>
          </a:xfrm>
          <a:prstGeom prst="roundRect">
            <a:avLst>
              <a:gd name="adj" fmla="val 2191"/>
            </a:avLst>
          </a:prstGeom>
          <a:solidFill>
            <a:srgbClr val="F0F0F0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0CE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63447" y="224028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3467" y="24003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3063240"/>
            <a:ext cx="14502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legacy source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58368" y="3566160"/>
            <a:ext cx="14502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stays inside your perimeter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236622" y="2651760"/>
            <a:ext cx="320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2904134" y="1965960"/>
            <a:ext cx="1669694" cy="2286000"/>
          </a:xfrm>
          <a:prstGeom prst="roundRect">
            <a:avLst>
              <a:gd name="adj" fmla="val 2191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0CE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418942" y="224028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962" y="240030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013862" y="3063240"/>
            <a:ext cx="14502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transform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3013862" y="3566160"/>
            <a:ext cx="14502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reproducible conversion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592117" y="2651760"/>
            <a:ext cx="320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5259629" y="1965960"/>
            <a:ext cx="1669694" cy="2286000"/>
          </a:xfrm>
          <a:prstGeom prst="roundRect">
            <a:avLst>
              <a:gd name="adj" fmla="val 2191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0CE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5774436" y="224028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240030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369357" y="3063240"/>
            <a:ext cx="14502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Equivalence measured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369357" y="3566160"/>
            <a:ext cx="14502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the committed benchmark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947611" y="2651760"/>
            <a:ext cx="320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17"/>
          <p:cNvSpPr/>
          <p:nvPr/>
        </p:nvSpPr>
        <p:spPr>
          <a:xfrm>
            <a:off x="7615123" y="1965960"/>
            <a:ext cx="1669694" cy="2286000"/>
          </a:xfrm>
          <a:prstGeom prst="roundRect">
            <a:avLst>
              <a:gd name="adj" fmla="val 2191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0CE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8129930" y="224028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950" y="2400300"/>
            <a:ext cx="320040" cy="32004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24851" y="3063240"/>
            <a:ext cx="14502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attestation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7724851" y="3566160"/>
            <a:ext cx="14502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hash-chained, Ed25519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303106" y="2651760"/>
            <a:ext cx="320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2"/>
          <p:cNvSpPr/>
          <p:nvPr/>
        </p:nvSpPr>
        <p:spPr>
          <a:xfrm>
            <a:off x="9970618" y="1965960"/>
            <a:ext cx="1669694" cy="2286000"/>
          </a:xfrm>
          <a:prstGeom prst="roundRect">
            <a:avLst>
              <a:gd name="adj" fmla="val 2191"/>
            </a:avLst>
          </a:prstGeom>
          <a:solidFill>
            <a:srgbClr val="E7F5F1"/>
          </a:solidFill>
          <a:ln w="15875">
            <a:solidFill>
              <a:srgbClr val="2EA891"/>
            </a:solidFill>
            <a:prstDash val="solid"/>
          </a:ln>
          <a:effectLst>
            <a:outerShdw sx="100000" sy="100000" kx="0" ky="0" algn="bl" rotWithShape="0" blurRad="76200" dist="25400" dir="5400000">
              <a:srgbClr val="B9C0CE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9" name="Shape 23"/>
          <p:cNvSpPr/>
          <p:nvPr/>
        </p:nvSpPr>
        <p:spPr>
          <a:xfrm>
            <a:off x="10485425" y="224028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45445" y="2400300"/>
            <a:ext cx="320040" cy="32004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0080346" y="3063240"/>
            <a:ext cx="14502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 proof</a:t>
            </a:r>
            <a:endParaRPr lang="en-US" sz="1250" dirty="0"/>
          </a:p>
        </p:txBody>
      </p:sp>
      <p:sp>
        <p:nvSpPr>
          <p:cNvPr id="32" name="Text 25"/>
          <p:cNvSpPr/>
          <p:nvPr/>
        </p:nvSpPr>
        <p:spPr>
          <a:xfrm>
            <a:off x="10080346" y="3566160"/>
            <a:ext cx="14502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verify it independently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548640" y="4617720"/>
            <a:ext cx="11091672" cy="1005840"/>
          </a:xfrm>
          <a:prstGeom prst="roundRect">
            <a:avLst>
              <a:gd name="adj" fmla="val 3636"/>
            </a:avLst>
          </a:prstGeom>
          <a:solidFill>
            <a:srgbClr val="232D5A"/>
          </a:solidFill>
          <a:ln/>
        </p:spPr>
        <p:txBody>
          <a:bodyPr/>
          <a:p/>
        </p:txBody>
      </p:sp>
      <p:sp>
        <p:nvSpPr>
          <p:cNvPr id="34" name="Text 27"/>
          <p:cNvSpPr/>
          <p:nvPr/>
        </p:nvSpPr>
        <p:spPr>
          <a:xfrm>
            <a:off x="868680" y="4617720"/>
            <a:ext cx="1045159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crosses the line is a portable artifact, not your code:  </a:t>
            </a:r>
            <a:pPr indent="0" marL="0">
              <a:buNone/>
            </a:pPr>
            <a:r>
              <a:rPr lang="en-US" sz="135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equivalence proof, the measured metrics, and the inventory of exactly what was — and was not — transformed. It stays verifiable even if we’re not in the room.</a:t>
            </a:r>
            <a:endParaRPr lang="en-US" sz="1350" dirty="0"/>
          </a:p>
        </p:txBody>
      </p:sp>
      <p:sp>
        <p:nvSpPr>
          <p:cNvPr id="35" name="Shape 28"/>
          <p:cNvSpPr/>
          <p:nvPr/>
        </p:nvSpPr>
        <p:spPr>
          <a:xfrm>
            <a:off x="548640" y="6364224"/>
            <a:ext cx="11091672" cy="25603"/>
          </a:xfrm>
          <a:prstGeom prst="rect">
            <a:avLst/>
          </a:prstGeom>
          <a:solidFill>
            <a:srgbClr val="F7B801"/>
          </a:solidFill>
          <a:ln/>
        </p:spPr>
        <p:txBody>
          <a:bodyPr/>
          <a:p/>
        </p:txBody>
      </p:sp>
      <p:sp>
        <p:nvSpPr>
          <p:cNvPr id="42" name="Text 35"/>
          <p:cNvSpPr/>
          <p:nvPr/>
        </p:nvSpPr>
        <p:spPr>
          <a:xfrm>
            <a:off x="7982712" y="6455664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Relian™  ·  Visionblox LLC</a:t>
            </a:r>
            <a:endParaRPr lang="en-US" sz="900" dirty="0"/>
          </a:p>
        </p:txBody>
      </p:sp>
      <p:sp>
        <p:nvSpPr>
          <p:cNvPr id="43" name="Text 36"/>
          <p:cNvSpPr/>
          <p:nvPr/>
        </p:nvSpPr>
        <p:spPr>
          <a:xfrm>
            <a:off x="11183112" y="64556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pic>
        <p:nvPicPr>
          <p:cNvPr id="44" name="Picture 43" descr="visionblox-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6391656"/>
            <a:ext cx="914400" cy="3851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SUBSTRATE, NOT A SAAS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rent a SaaS. You own a substrate’s proof.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97680"/>
                <a:gridCol w="4325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D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SaaS migration tool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D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Relian — verifiable substrate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D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5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892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the vendor’s black box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32D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 the proof yourself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5F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5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Transformation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892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Non-deterministic AI; hard to reproduce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32D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Deterministic &amp; reproducible — no black-box AI in the path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5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5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source code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892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Uploaded to the vendor’s cloud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32D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leaves your perimeter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5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5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 vendor exits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892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&amp; assurance evaporate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32D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signed proof persists &amp; stays verifiable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5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5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Auditability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892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 output plus an SLA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32D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Non-repudiable evidence for auditors, IG &amp; boards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5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5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it can vouch for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892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its own output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32D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 vendor’s migration — the independent referee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5F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80644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difference isn’t hosting — it’s where trust comes from, and what you’re left holding.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6364224"/>
            <a:ext cx="11091672" cy="25603"/>
          </a:xfrm>
          <a:prstGeom prst="rect">
            <a:avLst/>
          </a:prstGeom>
          <a:solidFill>
            <a:srgbClr val="F7B801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982712" y="6455664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Relian™  ·  Visionblox LLC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183112" y="64556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pic>
        <p:nvPicPr>
          <p:cNvPr id="15" name="Picture 14" descr="visionblox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91656"/>
            <a:ext cx="914400" cy="3851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2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34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D4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REFEREE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Relian can verify anyone’s migration — even one we didn’t run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attestation is independent of the transform, Relian can act as the neutral referee for modernization: point it at any vendor’s output plus a committed benchmark, and it returns a signed equivalence verdict. That makes Relian an assurance layer, not just a tool.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3453384" cy="2377440"/>
          </a:xfrm>
          <a:prstGeom prst="roundRect">
            <a:avLst>
              <a:gd name="adj" fmla="val 1538"/>
            </a:avLst>
          </a:prstGeom>
          <a:solidFill>
            <a:srgbClr val="2A3560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41248" y="301752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" y="317754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3794760"/>
            <a:ext cx="2904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D4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" y="4251960"/>
            <a:ext cx="29047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is decoupled from the party doing the work — the referee doesn’t play for either side.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67784" y="2743200"/>
            <a:ext cx="3453384" cy="2377440"/>
          </a:xfrm>
          <a:prstGeom prst="roundRect">
            <a:avLst>
              <a:gd name="adj" fmla="val 1538"/>
            </a:avLst>
          </a:prstGeom>
          <a:solidFill>
            <a:srgbClr val="2A3560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60392" y="301752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0412" y="317754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60392" y="3794760"/>
            <a:ext cx="2904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D4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660392" y="4251960"/>
            <a:ext cx="29047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 travels with the code and outlives any single vendor, tool, or contract.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86928" y="2743200"/>
            <a:ext cx="3453384" cy="2377440"/>
          </a:xfrm>
          <a:prstGeom prst="roundRect">
            <a:avLst>
              <a:gd name="adj" fmla="val 1538"/>
            </a:avLst>
          </a:prstGeom>
          <a:solidFill>
            <a:srgbClr val="2A3560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479536" y="301752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9556" y="31775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79536" y="3794760"/>
            <a:ext cx="2904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D4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479536" y="4251960"/>
            <a:ext cx="29047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assurance layer across tools and vendors — extended to each new language pair benchmark-first.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48640" y="53949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a migration tool — an assurance layer for modernization.</a:t>
            </a:r>
            <a:endParaRPr lang="en-US" sz="1500" dirty="0"/>
          </a:p>
        </p:txBody>
      </p:sp>
      <p:sp>
        <p:nvSpPr>
          <p:cNvPr id="22" name="Rectangle 21"/>
          <p:cNvSpPr/>
          <p:nvPr/>
        </p:nvSpPr>
        <p:spPr>
          <a:xfrm>
            <a:off x="548640" y="6364224"/>
            <a:ext cx="11094720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visionblox-logo-knocko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391656"/>
            <a:ext cx="914400" cy="3851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DISCIPLINE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measured — not asserted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71516" cy="1874520"/>
          </a:xfrm>
          <a:prstGeom prst="roundRect">
            <a:avLst>
              <a:gd name="adj" fmla="val 1951"/>
            </a:avLst>
          </a:prstGeom>
          <a:solidFill>
            <a:srgbClr val="F0F0F0"/>
          </a:solidFill>
          <a:ln/>
          <a:effectLst>
            <a:outerShdw sx="100000" sy="100000" kx="0" ky="0" algn="bl" rotWithShape="0" blurRad="76200" dist="25400" dir="5400000">
              <a:srgbClr val="B9C0CE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892808"/>
            <a:ext cx="658368" cy="658368"/>
          </a:xfrm>
          <a:prstGeom prst="roundRect">
            <a:avLst>
              <a:gd name="adj" fmla="val 6944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057400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74520"/>
            <a:ext cx="38999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 1.0000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41248" y="2651760"/>
            <a:ext cx="47228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behavioral equivalence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41248" y="2953512"/>
            <a:ext cx="47228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sealed RELIAN-BENCH held-out suite, across supported COBOL constructs.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368796" y="1600200"/>
            <a:ext cx="5271516" cy="1874520"/>
          </a:xfrm>
          <a:prstGeom prst="roundRect">
            <a:avLst>
              <a:gd name="adj" fmla="val 1951"/>
            </a:avLst>
          </a:prstGeom>
          <a:solidFill>
            <a:srgbClr val="F0F0F0"/>
          </a:solidFill>
          <a:ln/>
          <a:effectLst>
            <a:outerShdw sx="100000" sy="100000" kx="0" ky="0" algn="bl" rotWithShape="0" blurRad="76200" dist="25400" dir="5400000">
              <a:srgbClr val="B9C0CE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61404" y="1892808"/>
            <a:ext cx="658368" cy="658368"/>
          </a:xfrm>
          <a:prstGeom prst="roundRect">
            <a:avLst>
              <a:gd name="adj" fmla="val 6944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996" y="2057400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11796" y="1874520"/>
            <a:ext cx="38999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Reproducible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661404" y="2651760"/>
            <a:ext cx="47228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output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661404" y="2953512"/>
            <a:ext cx="47228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legacy input produces byte-for-byte identical modernized code, every run.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3657600"/>
            <a:ext cx="5271516" cy="1874520"/>
          </a:xfrm>
          <a:prstGeom prst="roundRect">
            <a:avLst>
              <a:gd name="adj" fmla="val 1951"/>
            </a:avLst>
          </a:prstGeom>
          <a:solidFill>
            <a:srgbClr val="F0F0F0"/>
          </a:solidFill>
          <a:ln/>
          <a:effectLst>
            <a:outerShdw sx="100000" sy="100000" kx="0" ky="0" algn="bl" rotWithShape="0" blurRad="76200" dist="25400" dir="5400000">
              <a:srgbClr val="B9C0CE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41248" y="3950208"/>
            <a:ext cx="658368" cy="658368"/>
          </a:xfrm>
          <a:prstGeom prst="roundRect">
            <a:avLst>
              <a:gd name="adj" fmla="val 6944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114800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91640" y="3931920"/>
            <a:ext cx="38999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Ed25519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41248" y="4709160"/>
            <a:ext cx="47228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Signed, re-derivable ledger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1248" y="5010912"/>
            <a:ext cx="47228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hash-chained attestation any third party can independently reconstruct and check.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368796" y="3657600"/>
            <a:ext cx="5271516" cy="1874520"/>
          </a:xfrm>
          <a:prstGeom prst="roundRect">
            <a:avLst>
              <a:gd name="adj" fmla="val 1951"/>
            </a:avLst>
          </a:prstGeom>
          <a:solidFill>
            <a:srgbClr val="F0F0F0"/>
          </a:solidFill>
          <a:ln/>
          <a:effectLst>
            <a:outerShdw sx="100000" sy="100000" kx="0" ky="0" algn="bl" rotWithShape="0" blurRad="76200" dist="25400" dir="5400000">
              <a:srgbClr val="B9C0CE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6661404" y="3950208"/>
            <a:ext cx="658368" cy="658368"/>
          </a:xfrm>
          <a:prstGeom prst="roundRect">
            <a:avLst>
              <a:gd name="adj" fmla="val 6944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4114800"/>
            <a:ext cx="329184" cy="32918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511796" y="3931920"/>
            <a:ext cx="38999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or withheld</a:t>
            </a:r>
            <a:endParaRPr lang="en-US" sz="2000" dirty="0"/>
          </a:p>
        </p:txBody>
      </p:sp>
      <p:sp>
        <p:nvSpPr>
          <p:cNvPr id="26" name="Text 20"/>
          <p:cNvSpPr/>
          <p:nvPr/>
        </p:nvSpPr>
        <p:spPr>
          <a:xfrm>
            <a:off x="6661404" y="4709160"/>
            <a:ext cx="47228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estimated numbers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6661404" y="5010912"/>
            <a:ext cx="47228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 in a Relian report is measured or omitted — never guessed or padded.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548640" y="56692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discipline is the compliance program — the same records satisfy an auditor, an IG, and a board.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>
            <a:off x="548640" y="6364224"/>
            <a:ext cx="11091672" cy="25603"/>
          </a:xfrm>
          <a:prstGeom prst="rect">
            <a:avLst/>
          </a:prstGeom>
          <a:solidFill>
            <a:srgbClr val="F7B801"/>
          </a:solidFill>
          <a:ln/>
        </p:spPr>
        <p:txBody>
          <a:bodyPr/>
          <a:p/>
        </p:txBody>
      </p:sp>
      <p:sp>
        <p:nvSpPr>
          <p:cNvPr id="36" name="Text 30"/>
          <p:cNvSpPr/>
          <p:nvPr/>
        </p:nvSpPr>
        <p:spPr>
          <a:xfrm>
            <a:off x="7982712" y="6455664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Relian™  ·  Visionblox LLC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11183112" y="64556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pic>
        <p:nvPicPr>
          <p:cNvPr id="38" name="Picture 37" descr="visionblox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391656"/>
            <a:ext cx="914400" cy="38510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enterprises carrying legacy risk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Banks, insurers, healthcare payers, manufacturers, and software vendors modernizing mainframe or aging code.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91672" cy="960120"/>
          </a:xfrm>
          <a:prstGeom prst="roundRect">
            <a:avLst>
              <a:gd name="adj" fmla="val 3810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4672" y="23088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46888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295144"/>
            <a:ext cx="9720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Mainframe &amp; COBOL modernization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624328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 legacy risk with board- and auditor-ready proof that the new system behaves identically.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3273552"/>
            <a:ext cx="11091672" cy="960120"/>
          </a:xfrm>
          <a:prstGeom prst="roundRect">
            <a:avLst>
              <a:gd name="adj" fmla="val 3810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804672" y="3433572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" y="359359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3419856"/>
            <a:ext cx="9720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M&amp;A &amp; technology due diligence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691640" y="3749040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Attest that an acquired codebase’s modernization preserved behavior — evidence for the deal file.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4398264"/>
            <a:ext cx="11091672" cy="960120"/>
          </a:xfrm>
          <a:prstGeom prst="roundRect">
            <a:avLst>
              <a:gd name="adj" fmla="val 3810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04672" y="4558284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4718304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91640" y="4544568"/>
            <a:ext cx="9720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&amp; audit assurance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1691640" y="4873752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examiners a signed equivalence record instead of a vendor’s assertion.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5541264"/>
            <a:ext cx="11091672" cy="566928"/>
          </a:xfrm>
          <a:prstGeom prst="roundRect">
            <a:avLst>
              <a:gd name="adj" fmla="val 6452"/>
            </a:avLst>
          </a:prstGeom>
          <a:solidFill>
            <a:srgbClr val="E7F5F1"/>
          </a:solidFill>
          <a:ln w="12700">
            <a:solidFill>
              <a:srgbClr val="2EA891"/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822960" y="5541264"/>
            <a:ext cx="10543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  </a:t>
            </a:r>
            <a:pPr indent="0" marL="0">
              <a:buNone/>
            </a:pPr>
            <a:r>
              <a:rPr lang="en-US" sz="125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your source and IP in-house. Replace “trust the vendor” with evidence you own.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6364224"/>
            <a:ext cx="11091672" cy="25603"/>
          </a:xfrm>
          <a:prstGeom prst="rect">
            <a:avLst/>
          </a:prstGeom>
          <a:solidFill>
            <a:srgbClr val="F7B801"/>
          </a:solidFill>
          <a:ln/>
        </p:spPr>
        <p:txBody>
          <a:bodyPr/>
          <a:p/>
        </p:txBody>
      </p:sp>
      <p:sp>
        <p:nvSpPr>
          <p:cNvPr id="29" name="Text 24"/>
          <p:cNvSpPr/>
          <p:nvPr/>
        </p:nvSpPr>
        <p:spPr>
          <a:xfrm>
            <a:off x="7982712" y="6455664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Relian™  ·  Visionblox LLC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1183112" y="64556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pic>
        <p:nvPicPr>
          <p:cNvPr id="31" name="Picture 30" descr="visionblox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391656"/>
            <a:ext cx="914400" cy="3851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· LOCAL · EDUCATION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governments modernizing citizen systems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agencies, counties and cities, school districts, and tribal governments.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91672" cy="960120"/>
          </a:xfrm>
          <a:prstGeom prst="roundRect">
            <a:avLst>
              <a:gd name="adj" fmla="val 3810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4672" y="23088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46888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295144"/>
            <a:ext cx="9720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&amp; eligibility systems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624328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Modernize unemployment, Medicaid-eligibility, or tax systems with attestation for oversight.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3273552"/>
            <a:ext cx="11091672" cy="960120"/>
          </a:xfrm>
          <a:prstGeom prst="roundRect">
            <a:avLst>
              <a:gd name="adj" fmla="val 3810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804672" y="3433572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" y="359359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3419856"/>
            <a:ext cx="9720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Courts, DMV &amp; licensing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691640" y="3749040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Modernize case, licensing, and records systems with data kept on-premise (CJIS / PII).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4398264"/>
            <a:ext cx="11091672" cy="960120"/>
          </a:xfrm>
          <a:prstGeom prst="roundRect">
            <a:avLst>
              <a:gd name="adj" fmla="val 3810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04672" y="4558284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4718304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91640" y="4544568"/>
            <a:ext cx="9720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School-district SIS &amp; payroll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1691640" y="4873752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Modernize student-information and payroll systems with FERPA-safe data handling.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5541264"/>
            <a:ext cx="11091672" cy="566928"/>
          </a:xfrm>
          <a:prstGeom prst="roundRect">
            <a:avLst>
              <a:gd name="adj" fmla="val 6452"/>
            </a:avLst>
          </a:prstGeom>
          <a:solidFill>
            <a:srgbClr val="E7F5F1"/>
          </a:solidFill>
          <a:ln w="12700">
            <a:solidFill>
              <a:srgbClr val="2EA891"/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822960" y="5541264"/>
            <a:ext cx="10543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  </a:t>
            </a:r>
            <a:pPr indent="0" marL="0">
              <a:buNone/>
            </a:pPr>
            <a:r>
              <a:rPr lang="en-US" sz="125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fast through cooperative purchasing. US-only, on-premise data residency. Board- and audit-ready evidence.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6364224"/>
            <a:ext cx="11091672" cy="25603"/>
          </a:xfrm>
          <a:prstGeom prst="rect">
            <a:avLst/>
          </a:prstGeom>
          <a:solidFill>
            <a:srgbClr val="F7B801"/>
          </a:solidFill>
          <a:ln/>
        </p:spPr>
        <p:txBody>
          <a:bodyPr/>
          <a:p/>
        </p:txBody>
      </p:sp>
      <p:sp>
        <p:nvSpPr>
          <p:cNvPr id="29" name="Text 24"/>
          <p:cNvSpPr/>
          <p:nvPr/>
        </p:nvSpPr>
        <p:spPr>
          <a:xfrm>
            <a:off x="7982712" y="6455664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Relian™  ·  Visionblox LLC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1183112" y="64556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pic>
        <p:nvPicPr>
          <p:cNvPr id="31" name="Picture 30" descr="visionblox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391656"/>
            <a:ext cx="914400" cy="3851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agencies under modernization &amp; oversight mandates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departments and agencies with legacy IT — and the systems integrators and primes that serve them.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91672" cy="960120"/>
          </a:xfrm>
          <a:prstGeom prst="roundRect">
            <a:avLst>
              <a:gd name="adj" fmla="val 3810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4672" y="23088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46888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295144"/>
            <a:ext cx="9720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legacy-system modernization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624328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 non-repudiable equivalence evidence that satisfies IG and GAO oversight.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3273552"/>
            <a:ext cx="11091672" cy="960120"/>
          </a:xfrm>
          <a:prstGeom prst="roundRect">
            <a:avLst>
              <a:gd name="adj" fmla="val 3810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804672" y="3433572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" y="359359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3419856"/>
            <a:ext cx="9720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/ on-premise transformation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691640" y="3749040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never leaves the enclave and never touches a generative-AI model.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4398264"/>
            <a:ext cx="11091672" cy="960120"/>
          </a:xfrm>
          <a:prstGeom prst="roundRect">
            <a:avLst>
              <a:gd name="adj" fmla="val 3810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04672" y="4558284"/>
            <a:ext cx="640080" cy="640080"/>
          </a:xfrm>
          <a:prstGeom prst="roundRect">
            <a:avLst>
              <a:gd name="adj" fmla="val 7143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4718304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91640" y="4544568"/>
            <a:ext cx="9720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supply-chain integrity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1691640" y="4873752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Reproducible transformation plus signed provenance, aligned to a zero-trust posture.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5541264"/>
            <a:ext cx="11091672" cy="566928"/>
          </a:xfrm>
          <a:prstGeom prst="roundRect">
            <a:avLst>
              <a:gd name="adj" fmla="val 6452"/>
            </a:avLst>
          </a:prstGeom>
          <a:solidFill>
            <a:srgbClr val="E7F5F1"/>
          </a:solidFill>
          <a:ln w="12700">
            <a:solidFill>
              <a:srgbClr val="2EA891"/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822960" y="5541264"/>
            <a:ext cx="10543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  </a:t>
            </a:r>
            <a:pPr indent="0" marL="0">
              <a:buNone/>
            </a:pPr>
            <a:r>
              <a:rPr lang="en-US" sz="125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Attestation as audit evidence. No offshore access. Evidence discipline that supports FISMA, CMMC &amp; FedRAMP programs.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6364224"/>
            <a:ext cx="11091672" cy="25603"/>
          </a:xfrm>
          <a:prstGeom prst="rect">
            <a:avLst/>
          </a:prstGeom>
          <a:solidFill>
            <a:srgbClr val="F7B801"/>
          </a:solidFill>
          <a:ln/>
        </p:spPr>
        <p:txBody>
          <a:bodyPr/>
          <a:p/>
        </p:txBody>
      </p:sp>
      <p:sp>
        <p:nvSpPr>
          <p:cNvPr id="29" name="Text 24"/>
          <p:cNvSpPr/>
          <p:nvPr/>
        </p:nvSpPr>
        <p:spPr>
          <a:xfrm>
            <a:off x="7982712" y="6455664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Relian™  ·  Visionblox LLC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1183112" y="64556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pic>
        <p:nvPicPr>
          <p:cNvPr id="31" name="Picture 30" descr="visionblox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391656"/>
            <a:ext cx="914400" cy="3851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HERE — LOW-RISK ENTRY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fixed-fee assessments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71516" cy="3063240"/>
          </a:xfrm>
          <a:prstGeom prst="roundRect">
            <a:avLst>
              <a:gd name="adj" fmla="val 1194"/>
            </a:avLst>
          </a:prstGeom>
          <a:solidFill>
            <a:srgbClr val="FFFFFF"/>
          </a:solidFill>
          <a:ln w="15875">
            <a:solidFill>
              <a:srgbClr val="2EA891"/>
            </a:solidFill>
            <a:prstDash val="solid"/>
          </a:ln>
          <a:effectLst>
            <a:outerShdw sx="100000" sy="100000" kx="0" ky="0" algn="bl" rotWithShape="0" blurRad="76200" dist="25400" dir="5400000">
              <a:srgbClr val="B9C0CE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847088"/>
            <a:ext cx="658368" cy="658368"/>
          </a:xfrm>
          <a:prstGeom prst="roundRect">
            <a:avLst>
              <a:gd name="adj" fmla="val 6944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011680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99916" y="1773936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$8K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645920" y="1901952"/>
            <a:ext cx="24368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Code Assessment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41248" y="2651760"/>
            <a:ext cx="47228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signed report you can act on: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68680" y="3017520"/>
            <a:ext cx="463143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inventory &amp; transformation-coverage map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 &amp; risk scoring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Migration-scope recommendation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68796" y="1554480"/>
            <a:ext cx="5271516" cy="3063240"/>
          </a:xfrm>
          <a:prstGeom prst="roundRect">
            <a:avLst>
              <a:gd name="adj" fmla="val 1194"/>
            </a:avLst>
          </a:prstGeom>
          <a:solidFill>
            <a:srgbClr val="FFFFFF"/>
          </a:solidFill>
          <a:ln w="15875">
            <a:solidFill>
              <a:srgbClr val="232D5A"/>
            </a:solidFill>
            <a:prstDash val="solid"/>
          </a:ln>
          <a:effectLst>
            <a:outerShdw sx="100000" sy="100000" kx="0" ky="0" algn="bl" rotWithShape="0" blurRad="76200" dist="25400" dir="5400000">
              <a:srgbClr val="B9C0CE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661404" y="1847088"/>
            <a:ext cx="658368" cy="658368"/>
          </a:xfrm>
          <a:prstGeom prst="roundRect">
            <a:avLst>
              <a:gd name="adj" fmla="val 6944"/>
            </a:avLst>
          </a:prstGeom>
          <a:solidFill>
            <a:srgbClr val="232D5A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996" y="2011680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582912" y="1773936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$12K</a:t>
            </a:r>
            <a:endParaRPr lang="en-US" sz="3200" dirty="0"/>
          </a:p>
        </p:txBody>
      </p:sp>
      <p:sp>
        <p:nvSpPr>
          <p:cNvPr id="15" name="Text 11"/>
          <p:cNvSpPr/>
          <p:nvPr/>
        </p:nvSpPr>
        <p:spPr>
          <a:xfrm>
            <a:off x="7466076" y="1901952"/>
            <a:ext cx="22539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Discovery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661404" y="2651760"/>
            <a:ext cx="47228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signed report on the data behind the code: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6688836" y="3017520"/>
            <a:ext cx="463143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Field-level data dictionary &amp; record layouts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inventory &amp; program-to-data lineage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relational target schema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4846320"/>
            <a:ext cx="11091672" cy="960120"/>
          </a:xfrm>
          <a:prstGeom prst="roundRect">
            <a:avLst>
              <a:gd name="adj" fmla="val 3810"/>
            </a:avLst>
          </a:prstGeom>
          <a:solidFill>
            <a:srgbClr val="232D5A"/>
          </a:solidFill>
          <a:ln/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868680" y="4846320"/>
            <a:ext cx="1045159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the model on your real code before committing to a migration.  </a:t>
            </a:r>
            <a:pPr indent="0" marL="0">
              <a:buNone/>
            </a:pPr>
            <a:r>
              <a:rPr lang="en-US" sz="13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Public-sector buyers can purchase through the State of Montana MAPS cooperative vehicle (SPB26-0608GW) — cooperative purchasing extends to other states, local and tribal governments, and federal agencies.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548640" y="6364224"/>
            <a:ext cx="11091672" cy="25603"/>
          </a:xfrm>
          <a:prstGeom prst="rect">
            <a:avLst/>
          </a:prstGeom>
          <a:solidFill>
            <a:srgbClr val="F7B801"/>
          </a:solidFill>
          <a:ln/>
        </p:spPr>
        <p:txBody>
          <a:bodyPr/>
          <a:p/>
        </p:txBody>
      </p:sp>
      <p:sp>
        <p:nvSpPr>
          <p:cNvPr id="27" name="Text 23"/>
          <p:cNvSpPr/>
          <p:nvPr/>
        </p:nvSpPr>
        <p:spPr>
          <a:xfrm>
            <a:off x="7982712" y="6455664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Relian™  ·  Visionblox LLC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11183112" y="64556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pic>
        <p:nvPicPr>
          <p:cNvPr id="29" name="Picture 28" descr="visionblox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6391656"/>
            <a:ext cx="914400" cy="3851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2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34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37160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it. Don’t just promise it.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2532888" cy="1600200"/>
          </a:xfrm>
          <a:prstGeom prst="roundRect">
            <a:avLst>
              <a:gd name="adj" fmla="val 2286"/>
            </a:avLst>
          </a:prstGeom>
          <a:solidFill>
            <a:srgbClr val="2A3560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531620" y="251460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3352" y="2656332"/>
            <a:ext cx="283464" cy="28346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48640" y="3200400"/>
            <a:ext cx="2532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FD4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Provable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3520440"/>
            <a:ext cx="2258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equivalence proof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401568" y="2286000"/>
            <a:ext cx="2532888" cy="1600200"/>
          </a:xfrm>
          <a:prstGeom prst="roundRect">
            <a:avLst>
              <a:gd name="adj" fmla="val 2286"/>
            </a:avLst>
          </a:prstGeom>
          <a:solidFill>
            <a:srgbClr val="2A3560"/>
          </a:solidFill>
          <a:ln/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4384548" y="251460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656332"/>
            <a:ext cx="283464" cy="28346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401568" y="3200400"/>
            <a:ext cx="2532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FD4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3538728" y="3520440"/>
            <a:ext cx="2258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outlives us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254496" y="2286000"/>
            <a:ext cx="2532888" cy="1600200"/>
          </a:xfrm>
          <a:prstGeom prst="roundRect">
            <a:avLst>
              <a:gd name="adj" fmla="val 2286"/>
            </a:avLst>
          </a:prstGeom>
          <a:solidFill>
            <a:srgbClr val="2A3560"/>
          </a:solidFill>
          <a:ln/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7237476" y="251460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2656332"/>
            <a:ext cx="283464" cy="28346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54496" y="3200400"/>
            <a:ext cx="2532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FD4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391656" y="3520440"/>
            <a:ext cx="2258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never leaves you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9107424" y="2286000"/>
            <a:ext cx="2532888" cy="1600200"/>
          </a:xfrm>
          <a:prstGeom prst="roundRect">
            <a:avLst>
              <a:gd name="adj" fmla="val 2286"/>
            </a:avLst>
          </a:prstGeom>
          <a:solidFill>
            <a:srgbClr val="2A3560"/>
          </a:solidFill>
          <a:ln/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10090404" y="251460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2656332"/>
            <a:ext cx="283464" cy="28346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107424" y="3200400"/>
            <a:ext cx="2532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FD4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</a:t>
            </a:r>
            <a:endParaRPr lang="en-US" sz="1500" dirty="0"/>
          </a:p>
        </p:txBody>
      </p:sp>
      <p:sp>
        <p:nvSpPr>
          <p:cNvPr id="29" name="Text 23"/>
          <p:cNvSpPr/>
          <p:nvPr/>
        </p:nvSpPr>
        <p:spPr>
          <a:xfrm>
            <a:off x="9244584" y="3520440"/>
            <a:ext cx="2258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neutral referee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548640" y="4160520"/>
            <a:ext cx="11091672" cy="1600200"/>
          </a:xfrm>
          <a:prstGeom prst="roundRect">
            <a:avLst>
              <a:gd name="adj" fmla="val 2286"/>
            </a:avLst>
          </a:prstGeom>
          <a:solidFill>
            <a:srgbClr val="2A3560"/>
          </a:solidFill>
          <a:ln w="12700">
            <a:solidFill>
              <a:srgbClr val="2EA891"/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914400" y="43434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an assessment.</a:t>
            </a:r>
            <a:endParaRPr lang="en-US" sz="1800" dirty="0"/>
          </a:p>
        </p:txBody>
      </p:sp>
      <p:sp>
        <p:nvSpPr>
          <p:cNvPr id="32" name="Text 26"/>
          <p:cNvSpPr/>
          <p:nvPr/>
        </p:nvSpPr>
        <p:spPr>
          <a:xfrm>
            <a:off x="914400" y="4800600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Khaalis Wooden, Sr.</a:t>
            </a:r>
            <a:pPr indent="0" marL="0">
              <a:buNone/>
            </a:pPr>
            <a:r>
              <a:rPr lang="en-US" sz="13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Director, Enterprise Capture &amp; Compliance  ·  Visionblox LLC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914400" y="519379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A891"/>
          </a:solidFill>
          <a:ln/>
        </p:spPr>
        <p:txBody>
          <a:bodyPr/>
          <a:p/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5271516"/>
            <a:ext cx="155448" cy="15544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325880" y="5175504"/>
            <a:ext cx="9994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(256) 988-1130   ·   kwooden@visionblox.com   ·   San Jose, CA / Huntsville, AL</a:t>
            </a:r>
            <a:endParaRPr lang="en-US" sz="1300" dirty="0"/>
          </a:p>
        </p:txBody>
      </p:sp>
      <p:sp>
        <p:nvSpPr>
          <p:cNvPr id="36" name="Text 29"/>
          <p:cNvSpPr/>
          <p:nvPr/>
        </p:nvSpPr>
        <p:spPr>
          <a:xfrm>
            <a:off x="548640" y="608076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CAGE 9Z4X2   ·   UEI H4X2Z7R9E3E3   ·   NAICS 541511 · 541512 · 541519 · 518210 · 541611 · 541330   ·   Veteran-owned small business</a:t>
            </a:r>
            <a:endParaRPr lang="en-US" sz="1050" dirty="0"/>
          </a:p>
        </p:txBody>
      </p:sp>
      <p:pic>
        <p:nvPicPr>
          <p:cNvPr id="37" name="Picture 36" descr="visionblox-logo-knockou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57200"/>
            <a:ext cx="2011680" cy="84723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592568" y="658368"/>
            <a:ext cx="4050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spc="300">
                <a:solidFill>
                  <a:srgbClr val="2EA891"/>
                </a:solidFill>
                <a:latin typeface="Arial"/>
              </a:rPr>
              <a:t>BUILD WHAT DOESN’T EXIST YET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 (APA 7th ed.)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1672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Bernstein, D. J., Duif, N., Lange, T., Schwabe, P., &amp; Yang, B.-Y. (2012). High-speed high-security signatures. Journal of Cryptographic Engineering, 2(2), 77–89.</a:t>
            </a:r>
            <a:endParaRPr lang="en-US" sz="12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Lamb, C., &amp; Zacchiroli, S. (2022). Reproducible builds: Increasing the integrity of software supply chains. IEEE Software, 39(2), 62–70. https://doi.org/10.1109/MS.2021.3073045</a:t>
            </a:r>
            <a:endParaRPr lang="en-US" sz="12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Merkle, R. C. (1988). A digital signature based on a conventional encryption function. In C. Pomerance (Ed.), Advances in cryptology — CRYPTO ’87 (Lecture Notes in Computer Science, Vol. 293, pp. 369–378). Springer.</a:t>
            </a:r>
            <a:endParaRPr lang="en-US" sz="12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Institute of Standards and Technology. (2023). Digital signature standard (DSS) (FIPS PUB 186-5). U.S. Department of Commerce. https://doi.org/10.6028/NIST.FIPS.186-5</a:t>
            </a:r>
            <a:endParaRPr lang="en-US" sz="12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U.S. Government Accountability Office. (2016). Information technology: Federal agencies need to address aging legacy systems (GAO-16-468). https://www.gao.gov/products/gao-16-468</a:t>
            </a:r>
            <a:endParaRPr lang="en-US" sz="12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U.S. Government Accountability Office. (2019). Information technology: Agencies need to develop modernization plans for critical legacy systems (GAO-19-471). https://www.gao.gov/products/gao-19-471</a:t>
            </a:r>
            <a:endParaRPr lang="en-US" sz="12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Montana State Procurement Services Division. (2026). Master AI products &amp; services contract (SPB26-0608GW-VSNBLX) [Government contract]. State of Montana.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Visionblox LLC  ·  Relian™  ·  Prepared for external distribution</a:t>
            </a:r>
            <a:endParaRPr lang="en-US" sz="950" dirty="0"/>
          </a:p>
        </p:txBody>
      </p:sp>
      <p:sp>
        <p:nvSpPr>
          <p:cNvPr id="6" name="Rectangle 5"/>
          <p:cNvSpPr/>
          <p:nvPr/>
        </p:nvSpPr>
        <p:spPr>
          <a:xfrm>
            <a:off x="548640" y="6364224"/>
            <a:ext cx="11094720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sionblox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91656"/>
            <a:ext cx="914400" cy="3851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2026-08-17T11:57:38Z</dcterms:created>
  <dcterms:modified xsi:type="dcterms:W3CDTF">2026-08-17T11:57:38Z</dcterms:modified>
</cp:coreProperties>
</file>